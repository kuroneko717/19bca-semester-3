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22.xml" ContentType="application/vnd.openxmlformats-officedocument.presentationml.slide+xml"/>
  <Override PartName="/ppt/slides/slide12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0.xml" ContentType="application/vnd.openxmlformats-officedocument.presentationml.slide+xml"/>
  <Override PartName="/ppt/slides/slide19.xml" ContentType="application/vnd.openxmlformats-officedocument.presentationml.slide+xml"/>
  <Override PartName="/ppt/slides/slide18.xml" ContentType="application/vnd.openxmlformats-officedocument.presentationml.slide+xml"/>
  <Override PartName="/ppt/slides/slide17.xml" ContentType="application/vnd.openxmlformats-officedocument.presentationml.slide+xml"/>
  <Override PartName="/ppt/slides/slide16.xml" ContentType="application/vnd.openxmlformats-officedocument.presentationml.slide+xml"/>
  <Override PartName="/ppt/slides/slide21.xml" ContentType="application/vnd.openxmlformats-officedocument.presentationml.slide+xml"/>
  <Override PartName="/ppt/slides/slide6.xml" ContentType="application/vnd.openxmlformats-officedocument.presentationml.slide+xml"/>
  <Override PartName="/ppt/slides/slide4.xml" ContentType="application/vnd.openxmlformats-officedocument.presentationml.slide+xml"/>
  <Override PartName="/ppt/slides/slide1.xml" ContentType="application/vnd.openxmlformats-officedocument.presentationml.slide+xml"/>
  <Override PartName="/ppt/slides/slide5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2" r:id="rId1"/>
  </p:sldMasterIdLst>
  <p:sldIdLst>
    <p:sldId id="256" r:id="rId2"/>
    <p:sldId id="257" r:id="rId3"/>
    <p:sldId id="260" r:id="rId4"/>
    <p:sldId id="259" r:id="rId5"/>
    <p:sldId id="263" r:id="rId6"/>
    <p:sldId id="261" r:id="rId7"/>
    <p:sldId id="262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5" r:id="rId18"/>
    <p:sldId id="273" r:id="rId19"/>
    <p:sldId id="274" r:id="rId20"/>
    <p:sldId id="279" r:id="rId21"/>
    <p:sldId id="277" r:id="rId22"/>
    <p:sldId id="278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75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customXml" Target="../customXml/item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Relationship Id="rId30" Type="http://schemas.openxmlformats.org/officeDocument/2006/relationships/customXml" Target="../customXml/item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0FFAA40C-7E61-4B79-B9CE-83170BE2394D}" type="datetimeFigureOut">
              <a:rPr lang="en-IN" smtClean="0"/>
              <a:t>19-07-2020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17DF75-C0CA-472F-97BE-A6CC923833D3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98048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AA40C-7E61-4B79-B9CE-83170BE2394D}" type="datetimeFigureOut">
              <a:rPr lang="en-IN" smtClean="0"/>
              <a:t>19-07-2020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17DF75-C0CA-472F-97BE-A6CC923833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08804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AA40C-7E61-4B79-B9CE-83170BE2394D}" type="datetimeFigureOut">
              <a:rPr lang="en-IN" smtClean="0"/>
              <a:t>19-07-2020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17DF75-C0CA-472F-97BE-A6CC923833D3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51825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AA40C-7E61-4B79-B9CE-83170BE2394D}" type="datetimeFigureOut">
              <a:rPr lang="en-IN" smtClean="0"/>
              <a:t>19-07-2020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17DF75-C0CA-472F-97BE-A6CC923833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80342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AA40C-7E61-4B79-B9CE-83170BE2394D}" type="datetimeFigureOut">
              <a:rPr lang="en-IN" smtClean="0"/>
              <a:t>19-07-2020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17DF75-C0CA-472F-97BE-A6CC923833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07887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AA40C-7E61-4B79-B9CE-83170BE2394D}" type="datetimeFigureOut">
              <a:rPr lang="en-IN" smtClean="0"/>
              <a:t>19-07-2020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17DF75-C0CA-472F-97BE-A6CC923833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35333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AA40C-7E61-4B79-B9CE-83170BE2394D}" type="datetimeFigureOut">
              <a:rPr lang="en-IN" smtClean="0"/>
              <a:t>19-07-2020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17DF75-C0CA-472F-97BE-A6CC923833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39514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AA40C-7E61-4B79-B9CE-83170BE2394D}" type="datetimeFigureOut">
              <a:rPr lang="en-IN" smtClean="0"/>
              <a:t>19-07-2020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17DF75-C0CA-472F-97BE-A6CC923833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01312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AA40C-7E61-4B79-B9CE-83170BE2394D}" type="datetimeFigureOut">
              <a:rPr lang="en-IN" smtClean="0"/>
              <a:t>19-07-2020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17DF75-C0CA-472F-97BE-A6CC923833D3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7060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AA40C-7E61-4B79-B9CE-83170BE2394D}" type="datetimeFigureOut">
              <a:rPr lang="en-IN" smtClean="0"/>
              <a:t>19-07-2020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17DF75-C0CA-472F-97BE-A6CC923833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71732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AA40C-7E61-4B79-B9CE-83170BE2394D}" type="datetimeFigureOut">
              <a:rPr lang="en-IN" smtClean="0"/>
              <a:t>19-07-2020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17DF75-C0CA-472F-97BE-A6CC923833D3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53856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0FFAA40C-7E61-4B79-B9CE-83170BE2394D}" type="datetimeFigureOut">
              <a:rPr lang="en-IN" smtClean="0"/>
              <a:t>19-07-2020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8917DF75-C0CA-472F-97BE-A6CC923833D3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19701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3" r:id="rId1"/>
    <p:sldLayoutId id="2147483824" r:id="rId2"/>
    <p:sldLayoutId id="2147483825" r:id="rId3"/>
    <p:sldLayoutId id="2147483826" r:id="rId4"/>
    <p:sldLayoutId id="2147483827" r:id="rId5"/>
    <p:sldLayoutId id="2147483828" r:id="rId6"/>
    <p:sldLayoutId id="2147483829" r:id="rId7"/>
    <p:sldLayoutId id="2147483830" r:id="rId8"/>
    <p:sldLayoutId id="2147483831" r:id="rId9"/>
    <p:sldLayoutId id="2147483832" r:id="rId10"/>
    <p:sldLayoutId id="2147483833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IN" sz="8000" dirty="0"/>
              <a:t>Indexing Structures for Files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36243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4128" y="872836"/>
            <a:ext cx="10114927" cy="5436524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§"/>
            </a:pPr>
            <a:r>
              <a:rPr lang="en-IN" sz="2400" dirty="0" smtClean="0"/>
              <a:t>A file already exists with some </a:t>
            </a:r>
            <a:r>
              <a:rPr lang="en-IN" sz="2400" dirty="0"/>
              <a:t>primary organization </a:t>
            </a:r>
            <a:r>
              <a:rPr lang="en-IN" sz="2400" dirty="0" smtClean="0"/>
              <a:t>such </a:t>
            </a:r>
            <a:r>
              <a:rPr lang="en-IN" sz="2400" dirty="0"/>
              <a:t>as the </a:t>
            </a:r>
            <a:r>
              <a:rPr lang="en-IN" sz="2400" dirty="0" smtClean="0"/>
              <a:t>unordered, ordered</a:t>
            </a:r>
            <a:r>
              <a:rPr lang="en-IN" sz="2400" dirty="0"/>
              <a:t>, or hashed </a:t>
            </a:r>
            <a:r>
              <a:rPr lang="en-IN" sz="2400" dirty="0" smtClean="0"/>
              <a:t>organizations.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IN" sz="2400" dirty="0" smtClean="0"/>
              <a:t>Additional </a:t>
            </a:r>
            <a:r>
              <a:rPr lang="en-IN" sz="2400" dirty="0"/>
              <a:t>auxiliary access structures called indexes which are used </a:t>
            </a:r>
            <a:r>
              <a:rPr lang="en-IN" sz="2400" dirty="0" smtClean="0"/>
              <a:t>to speed </a:t>
            </a:r>
            <a:r>
              <a:rPr lang="en-IN" sz="2400" dirty="0"/>
              <a:t>up the retrieval of records in response to certain search </a:t>
            </a:r>
            <a:r>
              <a:rPr lang="en-IN" sz="2400" dirty="0" smtClean="0"/>
              <a:t>conditions.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IN" sz="2400" dirty="0"/>
              <a:t>The </a:t>
            </a:r>
            <a:r>
              <a:rPr lang="en-IN" sz="2400" dirty="0" smtClean="0"/>
              <a:t>index structures </a:t>
            </a:r>
            <a:r>
              <a:rPr lang="en-IN" sz="2400" dirty="0"/>
              <a:t>are additional files on disk that provide secondary access paths, </a:t>
            </a:r>
            <a:r>
              <a:rPr lang="en-IN" sz="2400" dirty="0" smtClean="0"/>
              <a:t>which provide </a:t>
            </a:r>
            <a:r>
              <a:rPr lang="en-IN" sz="2400" dirty="0"/>
              <a:t>alternative ways to access the records without affecting the physical </a:t>
            </a:r>
            <a:r>
              <a:rPr lang="en-IN" sz="2400" dirty="0" smtClean="0"/>
              <a:t>placement of </a:t>
            </a:r>
            <a:r>
              <a:rPr lang="en-IN" sz="2400" dirty="0"/>
              <a:t>records in the primary data file on disk. They enable efficient access </a:t>
            </a:r>
            <a:r>
              <a:rPr lang="en-IN" sz="2400" dirty="0" smtClean="0"/>
              <a:t>to records </a:t>
            </a:r>
            <a:r>
              <a:rPr lang="en-IN" sz="2400" dirty="0"/>
              <a:t>based on the indexing fields that are used to construct the index</a:t>
            </a:r>
            <a:r>
              <a:rPr lang="en-IN" sz="2400" dirty="0" smtClean="0"/>
              <a:t>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IN" sz="2400" dirty="0"/>
              <a:t>To find a record or records in the data file based on a search </a:t>
            </a:r>
            <a:r>
              <a:rPr lang="en-IN" sz="2400" dirty="0" smtClean="0"/>
              <a:t>condition on </a:t>
            </a:r>
            <a:r>
              <a:rPr lang="en-IN" sz="2400" dirty="0"/>
              <a:t>an indexing field, the index is searched, which leads to pointers to one or </a:t>
            </a:r>
            <a:r>
              <a:rPr lang="en-IN" sz="2400" dirty="0" smtClean="0"/>
              <a:t>more disk </a:t>
            </a:r>
            <a:r>
              <a:rPr lang="en-IN" sz="2400" dirty="0"/>
              <a:t>blocks in the data file where the required records are located</a:t>
            </a:r>
            <a:r>
              <a:rPr lang="en-IN" sz="2400" dirty="0" smtClean="0"/>
              <a:t>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IN" sz="2400" dirty="0" smtClean="0"/>
              <a:t>Every index has 2 field : indexing field and pointer to the block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1572439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4017" y="831273"/>
            <a:ext cx="4754880" cy="4023360"/>
          </a:xfrm>
        </p:spPr>
        <p:txBody>
          <a:bodyPr/>
          <a:lstStyle/>
          <a:p>
            <a:pPr marL="0" indent="0">
              <a:buNone/>
            </a:pPr>
            <a:r>
              <a:rPr lang="en-IN" sz="2400" u="sng" dirty="0"/>
              <a:t>Types of single-level ordered indexes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Primary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Secondary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Clustering</a:t>
            </a:r>
          </a:p>
          <a:p>
            <a:endParaRPr lang="en-IN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20047" y="831273"/>
            <a:ext cx="4754880" cy="4023360"/>
          </a:xfrm>
        </p:spPr>
        <p:txBody>
          <a:bodyPr/>
          <a:lstStyle/>
          <a:p>
            <a:pPr marL="0" indent="0">
              <a:buNone/>
            </a:pPr>
            <a:r>
              <a:rPr lang="en-IN" sz="2400" u="sng" dirty="0"/>
              <a:t>Multilevel tree-structured indexes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B trees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B+ trees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577015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u="sng" dirty="0"/>
              <a:t>Types of Single-Level Ordered Indexes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IN" sz="2400" dirty="0"/>
              <a:t>The idea behind an ordered index is similar to that behind the index used in a </a:t>
            </a:r>
            <a:r>
              <a:rPr lang="en-IN" sz="2400" dirty="0" smtClean="0"/>
              <a:t>textbook.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2400" dirty="0"/>
              <a:t>For a file with a given record structure consisting of several fields (or attributes), </a:t>
            </a:r>
            <a:r>
              <a:rPr lang="en-IN" sz="2400" dirty="0" smtClean="0"/>
              <a:t>an index </a:t>
            </a:r>
            <a:r>
              <a:rPr lang="en-IN" sz="2400" dirty="0"/>
              <a:t>access structure is usually defined on a single field of a file, called an </a:t>
            </a:r>
            <a:r>
              <a:rPr lang="en-IN" sz="2400" dirty="0" smtClean="0"/>
              <a:t>indexing field </a:t>
            </a:r>
            <a:r>
              <a:rPr lang="en-IN" sz="2400" dirty="0"/>
              <a:t>(or indexing attribute</a:t>
            </a:r>
            <a:r>
              <a:rPr lang="en-IN" sz="2400" dirty="0" smtClean="0"/>
              <a:t>).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2400" dirty="0"/>
              <a:t>The index typically stores each value of the </a:t>
            </a:r>
            <a:r>
              <a:rPr lang="en-IN" sz="2400" dirty="0" smtClean="0"/>
              <a:t>index field </a:t>
            </a:r>
            <a:r>
              <a:rPr lang="en-IN" sz="2400" dirty="0"/>
              <a:t>along with a list of pointers to all disk blocks that contain records with </a:t>
            </a:r>
            <a:r>
              <a:rPr lang="en-IN" sz="2400" dirty="0" smtClean="0"/>
              <a:t>that field </a:t>
            </a:r>
            <a:r>
              <a:rPr lang="en-IN" sz="2400" dirty="0"/>
              <a:t>value. The values in the index are ordered so that we can do a binary search </a:t>
            </a:r>
            <a:r>
              <a:rPr lang="en-IN" sz="2400" dirty="0" smtClean="0"/>
              <a:t>on the </a:t>
            </a:r>
            <a:r>
              <a:rPr lang="en-IN" sz="2400" dirty="0"/>
              <a:t>index</a:t>
            </a:r>
            <a:r>
              <a:rPr lang="en-IN" sz="2400" dirty="0" smtClean="0"/>
              <a:t>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40695611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757" y="0"/>
            <a:ext cx="10703079" cy="6881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73717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u="sng" dirty="0" smtClean="0"/>
              <a:t>several </a:t>
            </a:r>
            <a:r>
              <a:rPr lang="en-IN" u="sng" dirty="0"/>
              <a:t>types of ordered </a:t>
            </a:r>
            <a:r>
              <a:rPr lang="en-IN" u="sng" dirty="0" smtClean="0"/>
              <a:t>indexes</a:t>
            </a:r>
            <a:endParaRPr lang="en-IN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4128" y="2286000"/>
            <a:ext cx="9907108" cy="4023360"/>
          </a:xfrm>
        </p:spPr>
        <p:txBody>
          <a:bodyPr>
            <a:norm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IN" sz="2400" dirty="0"/>
              <a:t>A primary index is specified on </a:t>
            </a:r>
            <a:r>
              <a:rPr lang="en-IN" sz="2400" dirty="0" smtClean="0"/>
              <a:t>the ordering </a:t>
            </a:r>
            <a:r>
              <a:rPr lang="en-IN" sz="2400" dirty="0"/>
              <a:t>key field of an ordered file of records. </a:t>
            </a:r>
            <a:r>
              <a:rPr lang="en-IN" sz="2400" dirty="0" smtClean="0"/>
              <a:t>An ordering </a:t>
            </a:r>
            <a:r>
              <a:rPr lang="en-IN" sz="2400" dirty="0"/>
              <a:t>key field is used to physically order the file records on disk, and every </a:t>
            </a:r>
            <a:r>
              <a:rPr lang="en-IN" sz="2400" dirty="0" smtClean="0"/>
              <a:t>record has </a:t>
            </a:r>
            <a:r>
              <a:rPr lang="en-IN" sz="2400" dirty="0"/>
              <a:t>a unique value for that field. </a:t>
            </a:r>
            <a:endParaRPr lang="en-IN" sz="2400" dirty="0" smtClean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2400" dirty="0"/>
              <a:t>If the ordering field is not a key </a:t>
            </a:r>
            <a:r>
              <a:rPr lang="en-IN" sz="2400" dirty="0" smtClean="0"/>
              <a:t>field that </a:t>
            </a:r>
            <a:r>
              <a:rPr lang="en-IN" sz="2400" dirty="0"/>
              <a:t>is, </a:t>
            </a:r>
            <a:r>
              <a:rPr lang="en-IN" sz="2400" dirty="0" smtClean="0"/>
              <a:t>if numerous </a:t>
            </a:r>
            <a:r>
              <a:rPr lang="en-IN" sz="2400" dirty="0"/>
              <a:t>records in the file can have the same value for the ordering </a:t>
            </a:r>
            <a:r>
              <a:rPr lang="en-IN" sz="2400" dirty="0" smtClean="0"/>
              <a:t>field another </a:t>
            </a:r>
            <a:r>
              <a:rPr lang="en-IN" sz="2400" dirty="0"/>
              <a:t>type of index, called a clustering index, can be used</a:t>
            </a:r>
            <a:r>
              <a:rPr lang="en-IN" sz="2400" dirty="0" smtClean="0"/>
              <a:t>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2400" dirty="0" smtClean="0"/>
              <a:t>A </a:t>
            </a:r>
            <a:r>
              <a:rPr lang="en-IN" sz="2400" dirty="0"/>
              <a:t>secondary index, can be specified on any </a:t>
            </a:r>
            <a:r>
              <a:rPr lang="en-IN" sz="2400" dirty="0" smtClean="0"/>
              <a:t>non-ordering </a:t>
            </a:r>
            <a:r>
              <a:rPr lang="en-IN" sz="2400" dirty="0"/>
              <a:t>field of a file. A data file can have several secondary indexes in </a:t>
            </a:r>
            <a:r>
              <a:rPr lang="en-IN" sz="2400" dirty="0" smtClean="0"/>
              <a:t>addition to </a:t>
            </a:r>
            <a:r>
              <a:rPr lang="en-IN" sz="2400" dirty="0"/>
              <a:t>its primary access method.</a:t>
            </a:r>
          </a:p>
        </p:txBody>
      </p:sp>
    </p:spTree>
    <p:extLst>
      <p:ext uri="{BB962C8B-B14F-4D97-AF65-F5344CB8AC3E}">
        <p14:creationId xmlns:p14="http://schemas.microsoft.com/office/powerpoint/2010/main" val="17760835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u="sng" dirty="0"/>
              <a:t>Primary </a:t>
            </a:r>
            <a:r>
              <a:rPr lang="en-IN" u="sng" dirty="0" smtClean="0"/>
              <a:t>Index</a:t>
            </a:r>
            <a:endParaRPr lang="en-IN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4128" y="1884218"/>
            <a:ext cx="9720073" cy="4425142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A primary index is an ordered file whose records are of fixed length with two </a:t>
            </a:r>
            <a:r>
              <a:rPr lang="en-IN" dirty="0" smtClean="0"/>
              <a:t>fields, and </a:t>
            </a:r>
            <a:r>
              <a:rPr lang="en-IN" dirty="0"/>
              <a:t>it acts like an access structure to efficiently search for and access the </a:t>
            </a:r>
            <a:r>
              <a:rPr lang="en-IN" dirty="0" smtClean="0"/>
              <a:t>data records </a:t>
            </a:r>
            <a:r>
              <a:rPr lang="en-IN" dirty="0"/>
              <a:t>in a data file</a:t>
            </a:r>
            <a:r>
              <a:rPr lang="en-IN" dirty="0" smtClean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The first field is of the same data type as the ordering </a:t>
            </a:r>
            <a:r>
              <a:rPr lang="en-IN" dirty="0" smtClean="0"/>
              <a:t>key field called </a:t>
            </a:r>
            <a:r>
              <a:rPr lang="en-IN" dirty="0"/>
              <a:t>the primary </a:t>
            </a:r>
            <a:r>
              <a:rPr lang="en-IN" dirty="0" smtClean="0"/>
              <a:t>key of </a:t>
            </a:r>
            <a:r>
              <a:rPr lang="en-IN" dirty="0"/>
              <a:t>the data file, and the second field is a pointer to </a:t>
            </a:r>
            <a:r>
              <a:rPr lang="en-IN" dirty="0" smtClean="0"/>
              <a:t>a disk </a:t>
            </a:r>
            <a:r>
              <a:rPr lang="en-IN" dirty="0"/>
              <a:t>block (a block address</a:t>
            </a:r>
            <a:r>
              <a:rPr lang="en-IN" dirty="0" smtClean="0"/>
              <a:t>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There is one index entry (or index record) in </a:t>
            </a:r>
            <a:r>
              <a:rPr lang="en-IN" dirty="0" smtClean="0"/>
              <a:t>the index </a:t>
            </a:r>
            <a:r>
              <a:rPr lang="en-IN" dirty="0"/>
              <a:t>file for each block in the data file</a:t>
            </a:r>
            <a:r>
              <a:rPr lang="en-IN" dirty="0" smtClean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Each index entry has the value of the </a:t>
            </a:r>
            <a:r>
              <a:rPr lang="en-IN" dirty="0" smtClean="0"/>
              <a:t>primary key </a:t>
            </a:r>
            <a:r>
              <a:rPr lang="en-IN" dirty="0"/>
              <a:t>field for the first record in a block and a pointer to that block as its </a:t>
            </a:r>
            <a:r>
              <a:rPr lang="en-IN" dirty="0" smtClean="0"/>
              <a:t>two field </a:t>
            </a:r>
            <a:r>
              <a:rPr lang="en-IN" dirty="0"/>
              <a:t>values</a:t>
            </a:r>
            <a:r>
              <a:rPr lang="en-IN" dirty="0" smtClean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T</a:t>
            </a:r>
            <a:r>
              <a:rPr lang="en-IN" dirty="0" smtClean="0"/>
              <a:t>he </a:t>
            </a:r>
            <a:r>
              <a:rPr lang="en-IN" dirty="0"/>
              <a:t>two field values of index entry </a:t>
            </a:r>
            <a:r>
              <a:rPr lang="en-IN" dirty="0" err="1"/>
              <a:t>i</a:t>
            </a:r>
            <a:r>
              <a:rPr lang="en-IN" dirty="0"/>
              <a:t> as &lt;K(</a:t>
            </a:r>
            <a:r>
              <a:rPr lang="en-IN" dirty="0" err="1"/>
              <a:t>i</a:t>
            </a:r>
            <a:r>
              <a:rPr lang="en-IN" dirty="0"/>
              <a:t>), P(</a:t>
            </a:r>
            <a:r>
              <a:rPr lang="en-IN" dirty="0" err="1"/>
              <a:t>i</a:t>
            </a:r>
            <a:r>
              <a:rPr lang="en-IN" dirty="0"/>
              <a:t>)&gt;</a:t>
            </a:r>
          </a:p>
        </p:txBody>
      </p:sp>
    </p:spTree>
    <p:extLst>
      <p:ext uri="{BB962C8B-B14F-4D97-AF65-F5344CB8AC3E}">
        <p14:creationId xmlns:p14="http://schemas.microsoft.com/office/powerpoint/2010/main" val="38495052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5363" y="1925783"/>
            <a:ext cx="4531546" cy="4023360"/>
          </a:xfrm>
        </p:spPr>
        <p:txBody>
          <a:bodyPr/>
          <a:lstStyle/>
          <a:p>
            <a:r>
              <a:rPr lang="en-IN" dirty="0"/>
              <a:t>The first three index entries are as follows</a:t>
            </a:r>
            <a:r>
              <a:rPr lang="en-IN" dirty="0" smtClean="0"/>
              <a:t>:</a:t>
            </a:r>
          </a:p>
          <a:p>
            <a:r>
              <a:rPr lang="en-IN" dirty="0"/>
              <a:t>&lt;K(1) = (Aaron, Ed), P(1) = address of block 1&gt;</a:t>
            </a:r>
          </a:p>
          <a:p>
            <a:r>
              <a:rPr lang="en-IN" dirty="0"/>
              <a:t>&lt;K(2) = (Adams, John), P(2) = address of block 2&gt;</a:t>
            </a:r>
          </a:p>
          <a:p>
            <a:r>
              <a:rPr lang="en-IN" dirty="0"/>
              <a:t>&lt;K(3) = (Alexander, Ed), P(3) = address of block 3&gt;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33177" r="1210"/>
          <a:stretch/>
        </p:blipFill>
        <p:spPr>
          <a:xfrm>
            <a:off x="5056909" y="0"/>
            <a:ext cx="6830291" cy="6692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58391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4128" y="817418"/>
            <a:ext cx="9720073" cy="5491942"/>
          </a:xfrm>
        </p:spPr>
        <p:txBody>
          <a:bodyPr>
            <a:norm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IN" sz="2400" dirty="0"/>
              <a:t>The total number of entries in the index </a:t>
            </a:r>
            <a:r>
              <a:rPr lang="en-IN" sz="2400" dirty="0" smtClean="0"/>
              <a:t>is the </a:t>
            </a:r>
            <a:r>
              <a:rPr lang="en-IN" sz="2400" dirty="0"/>
              <a:t>same as the number of disk blocks in the ordered data file.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2400" dirty="0" smtClean="0"/>
              <a:t>The </a:t>
            </a:r>
            <a:r>
              <a:rPr lang="en-IN" sz="2400" dirty="0"/>
              <a:t>first record in </a:t>
            </a:r>
            <a:r>
              <a:rPr lang="en-IN" sz="2400" dirty="0" smtClean="0"/>
              <a:t>each block </a:t>
            </a:r>
            <a:r>
              <a:rPr lang="en-IN" sz="2400" dirty="0"/>
              <a:t>of the data file is called the anchor record of the block, or simply the </a:t>
            </a:r>
            <a:r>
              <a:rPr lang="en-IN" sz="2400" dirty="0" smtClean="0"/>
              <a:t>block anchor.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2400" dirty="0"/>
              <a:t>Indexes can also be characterized as dense or sparse. </a:t>
            </a:r>
            <a:endParaRPr lang="en-IN" sz="2400" dirty="0" smtClean="0"/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IN" sz="2400" dirty="0" smtClean="0"/>
              <a:t>A </a:t>
            </a:r>
            <a:r>
              <a:rPr lang="en-IN" sz="2400" dirty="0"/>
              <a:t>dense index has an </a:t>
            </a:r>
            <a:r>
              <a:rPr lang="en-IN" sz="2400" dirty="0" smtClean="0"/>
              <a:t>index entry </a:t>
            </a:r>
            <a:r>
              <a:rPr lang="en-IN" sz="2400" dirty="0"/>
              <a:t>for every search key value (and hence every record) in the data </a:t>
            </a:r>
            <a:r>
              <a:rPr lang="en-IN" sz="2400" dirty="0" smtClean="0"/>
              <a:t>file.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IN" sz="2400" dirty="0" smtClean="0"/>
              <a:t>A sparse (or </a:t>
            </a:r>
            <a:r>
              <a:rPr lang="en-IN" sz="2400" dirty="0" err="1"/>
              <a:t>nondense</a:t>
            </a:r>
            <a:r>
              <a:rPr lang="en-IN" sz="2400" dirty="0"/>
              <a:t>) index, on the other hand, has index entries for only some of </a:t>
            </a:r>
            <a:r>
              <a:rPr lang="en-IN" sz="2400" dirty="0" smtClean="0"/>
              <a:t>the search </a:t>
            </a:r>
            <a:r>
              <a:rPr lang="en-IN" sz="2400" dirty="0"/>
              <a:t>values. A sparse index has fewer entries than the number of records in </a:t>
            </a:r>
            <a:r>
              <a:rPr lang="en-IN" sz="2400" dirty="0" smtClean="0"/>
              <a:t>the file.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2400" dirty="0" smtClean="0"/>
              <a:t>A </a:t>
            </a:r>
            <a:r>
              <a:rPr lang="en-IN" sz="2400" dirty="0"/>
              <a:t>primary index is a </a:t>
            </a:r>
            <a:r>
              <a:rPr lang="en-IN" sz="2400" dirty="0" err="1"/>
              <a:t>nondense</a:t>
            </a:r>
            <a:r>
              <a:rPr lang="en-IN" sz="2400" dirty="0"/>
              <a:t> (sparse) index, since it includes an </a:t>
            </a:r>
            <a:r>
              <a:rPr lang="en-IN" sz="2400" dirty="0" smtClean="0"/>
              <a:t>entry for </a:t>
            </a:r>
            <a:r>
              <a:rPr lang="en-IN" sz="2400" dirty="0"/>
              <a:t>each disk block of the data file and the keys of its anchor record rather than </a:t>
            </a:r>
            <a:r>
              <a:rPr lang="en-IN" sz="2400" dirty="0" smtClean="0"/>
              <a:t>for every </a:t>
            </a:r>
            <a:r>
              <a:rPr lang="en-IN" sz="2400" dirty="0"/>
              <a:t>search value (or every record).</a:t>
            </a:r>
          </a:p>
        </p:txBody>
      </p:sp>
    </p:spTree>
    <p:extLst>
      <p:ext uri="{BB962C8B-B14F-4D97-AF65-F5344CB8AC3E}">
        <p14:creationId xmlns:p14="http://schemas.microsoft.com/office/powerpoint/2010/main" val="16658929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3848" y="476605"/>
            <a:ext cx="6346486" cy="618188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8638" y="476605"/>
            <a:ext cx="9760542" cy="883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67520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4783" y="1549071"/>
            <a:ext cx="10405168" cy="3535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24790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26255" t="18465" r="41056" b="11838"/>
          <a:stretch/>
        </p:blipFill>
        <p:spPr>
          <a:xfrm>
            <a:off x="3290814" y="1"/>
            <a:ext cx="5721210" cy="6857999"/>
          </a:xfrm>
          <a:prstGeom prst="rect">
            <a:avLst/>
          </a:prstGeom>
        </p:spPr>
      </p:pic>
      <p:sp>
        <p:nvSpPr>
          <p:cNvPr id="4" name="Left Brace 3"/>
          <p:cNvSpPr/>
          <p:nvPr/>
        </p:nvSpPr>
        <p:spPr>
          <a:xfrm>
            <a:off x="2923669" y="3325091"/>
            <a:ext cx="734290" cy="2909454"/>
          </a:xfrm>
          <a:prstGeom prst="leftBrace">
            <a:avLst>
              <a:gd name="adj1" fmla="val 60333"/>
              <a:gd name="adj2" fmla="val 50000"/>
            </a:avLst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/>
          <p:cNvSpPr txBox="1"/>
          <p:nvPr/>
        </p:nvSpPr>
        <p:spPr>
          <a:xfrm>
            <a:off x="970178" y="4518208"/>
            <a:ext cx="19534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 smtClean="0"/>
              <a:t>INDEX FILE</a:t>
            </a:r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26199753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4128" y="817418"/>
            <a:ext cx="9990236" cy="5491942"/>
          </a:xfrm>
        </p:spPr>
        <p:txBody>
          <a:bodyPr>
            <a:normAutofit/>
          </a:bodyPr>
          <a:lstStyle/>
          <a:p>
            <a:pPr algn="just"/>
            <a:r>
              <a:rPr lang="en-IN" sz="2400" dirty="0"/>
              <a:t>The index file for a primary index occupies a much smaller space than does the </a:t>
            </a:r>
            <a:r>
              <a:rPr lang="en-IN" sz="2400" dirty="0" smtClean="0"/>
              <a:t>data file</a:t>
            </a:r>
            <a:r>
              <a:rPr lang="en-IN" sz="2400" dirty="0"/>
              <a:t>, for two </a:t>
            </a:r>
            <a:r>
              <a:rPr lang="en-IN" sz="2400" dirty="0" smtClean="0"/>
              <a:t>reasons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2400" dirty="0" smtClean="0"/>
              <a:t>Firstly, there </a:t>
            </a:r>
            <a:r>
              <a:rPr lang="en-IN" sz="2400" dirty="0"/>
              <a:t>are fewer index entries than there are records in </a:t>
            </a:r>
            <a:r>
              <a:rPr lang="en-IN" sz="2400" dirty="0" smtClean="0"/>
              <a:t>the data </a:t>
            </a:r>
            <a:r>
              <a:rPr lang="en-IN" sz="2400" dirty="0"/>
              <a:t>file. </a:t>
            </a:r>
            <a:endParaRPr lang="en-IN" sz="2400" dirty="0" smtClean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2400" dirty="0" smtClean="0"/>
              <a:t>Second</a:t>
            </a:r>
            <a:r>
              <a:rPr lang="en-IN" sz="2400" dirty="0"/>
              <a:t>, each index entry is typically smaller in size than a data </a:t>
            </a:r>
            <a:r>
              <a:rPr lang="en-IN" sz="2400" dirty="0" smtClean="0"/>
              <a:t>record because </a:t>
            </a:r>
            <a:r>
              <a:rPr lang="en-IN" sz="2400" dirty="0"/>
              <a:t>it has only two fields; consequently, more index entries than data </a:t>
            </a:r>
            <a:r>
              <a:rPr lang="en-IN" sz="2400" dirty="0" smtClean="0"/>
              <a:t>records can </a:t>
            </a:r>
            <a:r>
              <a:rPr lang="en-IN" sz="2400" dirty="0"/>
              <a:t>fit in one block.</a:t>
            </a:r>
          </a:p>
        </p:txBody>
      </p:sp>
    </p:spTree>
    <p:extLst>
      <p:ext uri="{BB962C8B-B14F-4D97-AF65-F5344CB8AC3E}">
        <p14:creationId xmlns:p14="http://schemas.microsoft.com/office/powerpoint/2010/main" val="42039390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u="sng" dirty="0"/>
              <a:t>Clustering </a:t>
            </a:r>
            <a:r>
              <a:rPr lang="en-IN" u="sng" dirty="0" smtClean="0"/>
              <a:t>Index</a:t>
            </a:r>
            <a:endParaRPr lang="en-IN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4128" y="1967345"/>
            <a:ext cx="10655254" cy="4342015"/>
          </a:xfrm>
        </p:spPr>
        <p:txBody>
          <a:bodyPr>
            <a:no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IN" sz="2400" dirty="0"/>
              <a:t>If file records are physically ordered on a </a:t>
            </a:r>
            <a:r>
              <a:rPr lang="en-IN" sz="2400" dirty="0" smtClean="0"/>
              <a:t>non-key field which </a:t>
            </a:r>
            <a:r>
              <a:rPr lang="en-IN" sz="2400" dirty="0"/>
              <a:t>does not have a </a:t>
            </a:r>
            <a:r>
              <a:rPr lang="en-IN" sz="2400" dirty="0" smtClean="0"/>
              <a:t>distinct value </a:t>
            </a:r>
            <a:r>
              <a:rPr lang="en-IN" sz="2400" dirty="0"/>
              <a:t>for each </a:t>
            </a:r>
            <a:r>
              <a:rPr lang="en-IN" sz="2400" dirty="0" smtClean="0"/>
              <a:t>record that </a:t>
            </a:r>
            <a:r>
              <a:rPr lang="en-IN" sz="2400" dirty="0"/>
              <a:t>field is called the clustering field and the data file is called a clustered file</a:t>
            </a:r>
            <a:r>
              <a:rPr lang="en-IN" sz="2400" dirty="0" smtClean="0"/>
              <a:t>.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2400" dirty="0" smtClean="0"/>
              <a:t>A clustering index</a:t>
            </a:r>
            <a:r>
              <a:rPr lang="en-IN" sz="2400" dirty="0"/>
              <a:t>, to speed up retrieval of all the records that have the same value for the </a:t>
            </a:r>
            <a:r>
              <a:rPr lang="en-IN" sz="2400" dirty="0" smtClean="0"/>
              <a:t>clustering field.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2400" dirty="0"/>
              <a:t>A clustering index is also an ordered file with two fields; the first field is of the </a:t>
            </a:r>
            <a:r>
              <a:rPr lang="en-IN" sz="2400" dirty="0" smtClean="0"/>
              <a:t>same type </a:t>
            </a:r>
            <a:r>
              <a:rPr lang="en-IN" sz="2400" dirty="0"/>
              <a:t>as the clustering field of the data file, and the second field is a disk </a:t>
            </a:r>
            <a:r>
              <a:rPr lang="en-IN" sz="2400" dirty="0" smtClean="0"/>
              <a:t>block pointer</a:t>
            </a:r>
            <a:r>
              <a:rPr lang="en-IN" sz="2400" dirty="0"/>
              <a:t>. </a:t>
            </a:r>
            <a:endParaRPr lang="en-IN" sz="2400" dirty="0" smtClean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2400" dirty="0" smtClean="0"/>
              <a:t>There </a:t>
            </a:r>
            <a:r>
              <a:rPr lang="en-IN" sz="2400" dirty="0"/>
              <a:t>is one entry in the clustering index for each distinct value of the </a:t>
            </a:r>
            <a:r>
              <a:rPr lang="en-IN" sz="2400" dirty="0" smtClean="0"/>
              <a:t>clustering field</a:t>
            </a:r>
            <a:r>
              <a:rPr lang="en-IN" sz="2400" dirty="0"/>
              <a:t>, and it contains the value and a pointer to the first block in the data </a:t>
            </a:r>
            <a:r>
              <a:rPr lang="en-IN" sz="2400" dirty="0" smtClean="0"/>
              <a:t>file that </a:t>
            </a:r>
            <a:r>
              <a:rPr lang="en-IN" sz="2400" dirty="0"/>
              <a:t>has a record with that value for its clustering field.</a:t>
            </a:r>
          </a:p>
          <a:p>
            <a:pPr algn="just"/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9221842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26468" t="19792" r="40842" b="19981"/>
          <a:stretch/>
        </p:blipFill>
        <p:spPr>
          <a:xfrm>
            <a:off x="2809619" y="24867"/>
            <a:ext cx="6572762" cy="6808266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897" y="2607852"/>
            <a:ext cx="2126722" cy="2223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17389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4128" y="928255"/>
            <a:ext cx="9893254" cy="5381105"/>
          </a:xfrm>
        </p:spPr>
        <p:txBody>
          <a:bodyPr>
            <a:norm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IN" sz="2400" dirty="0"/>
              <a:t>To alleviate the problem of insertion, it is common </a:t>
            </a:r>
            <a:r>
              <a:rPr lang="en-IN" sz="2400" dirty="0" smtClean="0"/>
              <a:t>to reserve </a:t>
            </a:r>
            <a:r>
              <a:rPr lang="en-IN" sz="2400" dirty="0"/>
              <a:t>a whole block (or a cluster of contiguous blocks) for each value of the </a:t>
            </a:r>
            <a:r>
              <a:rPr lang="en-IN" sz="2400" dirty="0" smtClean="0"/>
              <a:t>clustering field</a:t>
            </a:r>
            <a:r>
              <a:rPr lang="en-IN" sz="2400" dirty="0"/>
              <a:t>; all records with that value are placed in the block (or block cluster</a:t>
            </a:r>
            <a:r>
              <a:rPr lang="en-IN" sz="2400" dirty="0" smtClean="0"/>
              <a:t>).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2400" dirty="0"/>
              <a:t>A clustering index is another example of a </a:t>
            </a:r>
            <a:r>
              <a:rPr lang="en-IN" sz="2400" dirty="0" smtClean="0"/>
              <a:t>non-dense </a:t>
            </a:r>
            <a:r>
              <a:rPr lang="en-IN" sz="2400" dirty="0"/>
              <a:t>index because it has an </a:t>
            </a:r>
            <a:r>
              <a:rPr lang="en-IN" sz="2400" dirty="0" smtClean="0"/>
              <a:t>entry for </a:t>
            </a:r>
            <a:r>
              <a:rPr lang="en-IN" sz="2400" dirty="0"/>
              <a:t>every distinct value of the indexing field, which is a </a:t>
            </a:r>
            <a:r>
              <a:rPr lang="en-IN" sz="2400" dirty="0" smtClean="0"/>
              <a:t>non-key </a:t>
            </a:r>
            <a:r>
              <a:rPr lang="en-IN" sz="2400" dirty="0"/>
              <a:t>by definition </a:t>
            </a:r>
            <a:r>
              <a:rPr lang="en-IN" sz="2400" dirty="0" smtClean="0"/>
              <a:t>and hence </a:t>
            </a:r>
            <a:r>
              <a:rPr lang="en-IN" sz="2400" dirty="0"/>
              <a:t>has duplicate values rather than a unique value for every record in the file.</a:t>
            </a:r>
          </a:p>
        </p:txBody>
      </p:sp>
    </p:spTree>
    <p:extLst>
      <p:ext uri="{BB962C8B-B14F-4D97-AF65-F5344CB8AC3E}">
        <p14:creationId xmlns:p14="http://schemas.microsoft.com/office/powerpoint/2010/main" val="38342445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25935" t="18466" r="40097" b="7481"/>
          <a:stretch/>
        </p:blipFill>
        <p:spPr>
          <a:xfrm>
            <a:off x="3304309" y="7210"/>
            <a:ext cx="5583382" cy="6843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85247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5400" u="sng" dirty="0"/>
              <a:t>Secondary </a:t>
            </a:r>
            <a:r>
              <a:rPr lang="en-IN" sz="5400" u="sng" dirty="0" smtClean="0"/>
              <a:t>Index</a:t>
            </a:r>
            <a:endParaRPr lang="en-IN" sz="5400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4128" y="1939637"/>
            <a:ext cx="10516708" cy="4369724"/>
          </a:xfrm>
        </p:spPr>
        <p:txBody>
          <a:bodyPr>
            <a:norm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IN" sz="2400" dirty="0"/>
              <a:t>A secondary index provides a secondary means of accessing a data file for </a:t>
            </a:r>
            <a:r>
              <a:rPr lang="en-IN" sz="2400" dirty="0" smtClean="0"/>
              <a:t>which some </a:t>
            </a:r>
            <a:r>
              <a:rPr lang="en-IN" sz="2400" dirty="0"/>
              <a:t>primary access already </a:t>
            </a:r>
            <a:r>
              <a:rPr lang="en-IN" sz="2400" dirty="0" smtClean="0"/>
              <a:t>exists. The </a:t>
            </a:r>
            <a:r>
              <a:rPr lang="en-IN" sz="2400" dirty="0"/>
              <a:t>data file records could be </a:t>
            </a:r>
            <a:r>
              <a:rPr lang="en-IN" sz="2400" dirty="0" smtClean="0"/>
              <a:t>ordered, unordered</a:t>
            </a:r>
            <a:r>
              <a:rPr lang="en-IN" sz="2400" dirty="0"/>
              <a:t>, or hashed</a:t>
            </a:r>
            <a:r>
              <a:rPr lang="en-IN" sz="2400" dirty="0" smtClean="0"/>
              <a:t>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2400" dirty="0"/>
              <a:t>The secondary index may be created on a field that is a </a:t>
            </a:r>
            <a:r>
              <a:rPr lang="en-IN" sz="2400" dirty="0" smtClean="0"/>
              <a:t>candidate key </a:t>
            </a:r>
            <a:r>
              <a:rPr lang="en-IN" sz="2400" dirty="0"/>
              <a:t>and has a unique value in every record, or on a </a:t>
            </a:r>
            <a:r>
              <a:rPr lang="en-IN" sz="2400" dirty="0" smtClean="0"/>
              <a:t>non-key </a:t>
            </a:r>
            <a:r>
              <a:rPr lang="en-IN" sz="2400" dirty="0"/>
              <a:t>field with </a:t>
            </a:r>
            <a:r>
              <a:rPr lang="en-IN" sz="2400" dirty="0" smtClean="0"/>
              <a:t>duplicate values.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2400" dirty="0"/>
              <a:t>The index is again an ordered file with two fields. The first field is of </a:t>
            </a:r>
            <a:r>
              <a:rPr lang="en-IN" sz="2400" dirty="0" smtClean="0"/>
              <a:t>the same </a:t>
            </a:r>
            <a:r>
              <a:rPr lang="en-IN" sz="2400" dirty="0"/>
              <a:t>data type as some </a:t>
            </a:r>
            <a:r>
              <a:rPr lang="en-IN" sz="2400" dirty="0" smtClean="0"/>
              <a:t>non-ordering </a:t>
            </a:r>
            <a:r>
              <a:rPr lang="en-IN" sz="2400" dirty="0"/>
              <a:t>field of the data file that is an indexing </a:t>
            </a:r>
            <a:r>
              <a:rPr lang="en-IN" sz="2400" dirty="0" smtClean="0"/>
              <a:t>field. The </a:t>
            </a:r>
            <a:r>
              <a:rPr lang="en-IN" sz="2400" dirty="0"/>
              <a:t>second field is either a block pointer or a record pointer. </a:t>
            </a:r>
            <a:endParaRPr lang="en-IN" sz="2400" dirty="0" smtClean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2400" dirty="0" smtClean="0"/>
              <a:t>Many secondary indexes (indexing </a:t>
            </a:r>
            <a:r>
              <a:rPr lang="en-IN" sz="2400" dirty="0"/>
              <a:t>fields) can be created for the same </a:t>
            </a:r>
            <a:r>
              <a:rPr lang="en-IN" sz="2400" dirty="0" smtClean="0"/>
              <a:t>file each represents an </a:t>
            </a:r>
            <a:r>
              <a:rPr lang="en-IN" sz="2400" dirty="0"/>
              <a:t>additional means of accessing that file based on some specific field.</a:t>
            </a:r>
          </a:p>
        </p:txBody>
      </p:sp>
    </p:spTree>
    <p:extLst>
      <p:ext uri="{BB962C8B-B14F-4D97-AF65-F5344CB8AC3E}">
        <p14:creationId xmlns:p14="http://schemas.microsoft.com/office/powerpoint/2010/main" val="30647095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l="24833" t="27127" r="40543" b="6534"/>
          <a:stretch/>
        </p:blipFill>
        <p:spPr>
          <a:xfrm>
            <a:off x="2990950" y="84231"/>
            <a:ext cx="6210100" cy="6689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52081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4128" y="845127"/>
            <a:ext cx="9720073" cy="5464233"/>
          </a:xfrm>
        </p:spPr>
        <p:txBody>
          <a:bodyPr>
            <a:norm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IN" sz="2400" dirty="0"/>
              <a:t>First we consider a secondary index access structure on a key (unique) field that </a:t>
            </a:r>
            <a:r>
              <a:rPr lang="en-IN" sz="2400" dirty="0" smtClean="0"/>
              <a:t>has a </a:t>
            </a:r>
            <a:r>
              <a:rPr lang="en-IN" sz="2400" dirty="0"/>
              <a:t>distinct value for every record. Such a field is sometimes called a secondary </a:t>
            </a:r>
            <a:r>
              <a:rPr lang="en-IN" sz="2400" dirty="0" smtClean="0"/>
              <a:t>key.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2400" dirty="0"/>
              <a:t>In this case there is one index entry for each </a:t>
            </a:r>
            <a:r>
              <a:rPr lang="en-IN" sz="2400" dirty="0" smtClean="0"/>
              <a:t>record in </a:t>
            </a:r>
            <a:r>
              <a:rPr lang="en-IN" sz="2400" dirty="0"/>
              <a:t>the data file, which contains the value of the field for the record and a </a:t>
            </a:r>
            <a:r>
              <a:rPr lang="en-IN" sz="2400" dirty="0" smtClean="0"/>
              <a:t>pointer either </a:t>
            </a:r>
            <a:r>
              <a:rPr lang="en-IN" sz="2400" dirty="0"/>
              <a:t>to the block in which the record is stored or to the record itself. Hence, </a:t>
            </a:r>
            <a:r>
              <a:rPr lang="en-IN" sz="2400" dirty="0" smtClean="0"/>
              <a:t>such an </a:t>
            </a:r>
            <a:r>
              <a:rPr lang="en-IN" sz="2400" dirty="0"/>
              <a:t>index is dense</a:t>
            </a:r>
            <a:r>
              <a:rPr lang="en-IN" sz="2400" dirty="0" smtClean="0"/>
              <a:t>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2400" dirty="0" smtClean="0"/>
              <a:t>Because </a:t>
            </a:r>
            <a:r>
              <a:rPr lang="en-IN" sz="2400" dirty="0"/>
              <a:t>the records </a:t>
            </a:r>
            <a:r>
              <a:rPr lang="en-IN" sz="2400" dirty="0" smtClean="0"/>
              <a:t>of the </a:t>
            </a:r>
            <a:r>
              <a:rPr lang="en-IN" sz="2400" dirty="0"/>
              <a:t>data file are not physically ordered by values of the secondary key field, we </a:t>
            </a:r>
            <a:r>
              <a:rPr lang="en-IN" sz="2400" dirty="0" smtClean="0"/>
              <a:t>cannot use </a:t>
            </a:r>
            <a:r>
              <a:rPr lang="en-IN" sz="2400" dirty="0"/>
              <a:t>block anchors. That is why an index entry is created for each record in the data file, rather than for each block, as in the case of a primary </a:t>
            </a:r>
            <a:r>
              <a:rPr lang="en-IN" sz="2400" dirty="0" smtClean="0"/>
              <a:t>index.</a:t>
            </a:r>
            <a:endParaRPr lang="en-IN" sz="2400" dirty="0"/>
          </a:p>
          <a:p>
            <a:pPr algn="just">
              <a:buFont typeface="Arial" panose="020B0604020202020204" pitchFamily="34" charset="0"/>
              <a:buChar char="•"/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1346556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4128" y="858982"/>
            <a:ext cx="9720073" cy="5450378"/>
          </a:xfrm>
        </p:spPr>
        <p:txBody>
          <a:bodyPr>
            <a:norm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IN" sz="2400" dirty="0"/>
              <a:t>The entries </a:t>
            </a:r>
            <a:r>
              <a:rPr lang="en-IN" sz="2400" dirty="0" smtClean="0"/>
              <a:t>are ordered </a:t>
            </a:r>
            <a:r>
              <a:rPr lang="en-IN" sz="2400" dirty="0"/>
              <a:t>by value of K(</a:t>
            </a:r>
            <a:r>
              <a:rPr lang="en-IN" sz="2400" dirty="0" err="1"/>
              <a:t>i</a:t>
            </a:r>
            <a:r>
              <a:rPr lang="en-IN" sz="2400" dirty="0"/>
              <a:t>), so we can perform a binary search. Because the records </a:t>
            </a:r>
            <a:r>
              <a:rPr lang="en-IN" sz="2400" dirty="0" smtClean="0"/>
              <a:t>of the </a:t>
            </a:r>
            <a:r>
              <a:rPr lang="en-IN" sz="2400" dirty="0"/>
              <a:t>data file are not physically ordered by values of the secondary key field, we </a:t>
            </a:r>
            <a:r>
              <a:rPr lang="en-IN" sz="2400" dirty="0" smtClean="0"/>
              <a:t>cannot use </a:t>
            </a:r>
            <a:r>
              <a:rPr lang="en-IN" sz="2400" dirty="0"/>
              <a:t>block anchors</a:t>
            </a:r>
            <a:r>
              <a:rPr lang="en-IN" sz="2400" dirty="0" smtClean="0"/>
              <a:t>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2400" dirty="0"/>
              <a:t>We can also create a secondary index on a </a:t>
            </a:r>
            <a:r>
              <a:rPr lang="en-IN" sz="2400" dirty="0" smtClean="0"/>
              <a:t>non-key</a:t>
            </a:r>
            <a:r>
              <a:rPr lang="en-IN" sz="2400" dirty="0"/>
              <a:t>, </a:t>
            </a:r>
            <a:r>
              <a:rPr lang="en-IN" sz="2400" dirty="0" smtClean="0"/>
              <a:t>non-ordering </a:t>
            </a:r>
            <a:r>
              <a:rPr lang="en-IN" sz="2400" dirty="0"/>
              <a:t>field of a file. In </a:t>
            </a:r>
            <a:r>
              <a:rPr lang="en-IN" sz="2400" dirty="0" smtClean="0"/>
              <a:t>this case</a:t>
            </a:r>
            <a:r>
              <a:rPr lang="en-IN" sz="2400" dirty="0"/>
              <a:t>, numerous records in the data file can have the same value for the </a:t>
            </a:r>
            <a:r>
              <a:rPr lang="en-IN" sz="2400" dirty="0" smtClean="0"/>
              <a:t>indexing field</a:t>
            </a:r>
            <a:r>
              <a:rPr lang="en-IN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700325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22634" t="20549" r="38606" b="8238"/>
          <a:stretch/>
        </p:blipFill>
        <p:spPr>
          <a:xfrm>
            <a:off x="2784763" y="8601"/>
            <a:ext cx="6622475" cy="6840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073051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1CB7F9B39126B44B7BD3B2FD680B58E" ma:contentTypeVersion="9" ma:contentTypeDescription="Create a new document." ma:contentTypeScope="" ma:versionID="695fcc8670f16edd2d6e06ac62cfa7aa">
  <xsd:schema xmlns:xsd="http://www.w3.org/2001/XMLSchema" xmlns:xs="http://www.w3.org/2001/XMLSchema" xmlns:p="http://schemas.microsoft.com/office/2006/metadata/properties" xmlns:ns2="a8a1418d-81b5-43f6-8c3e-510d562b22b4" targetNamespace="http://schemas.microsoft.com/office/2006/metadata/properties" ma:root="true" ma:fieldsID="0b8bb81026c94debfa35635f867341d7" ns2:_="">
    <xsd:import namespace="a8a1418d-81b5-43f6-8c3e-510d562b22b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8a1418d-81b5-43f6-8c3e-510d562b22b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A5C8BFC7-BCAA-4F3A-869A-04E3A03D1732}"/>
</file>

<file path=customXml/itemProps2.xml><?xml version="1.0" encoding="utf-8"?>
<ds:datastoreItem xmlns:ds="http://schemas.openxmlformats.org/officeDocument/2006/customXml" ds:itemID="{764C9449-F6C2-43A5-9C47-D0803EAFC0D5}"/>
</file>

<file path=customXml/itemProps3.xml><?xml version="1.0" encoding="utf-8"?>
<ds:datastoreItem xmlns:ds="http://schemas.openxmlformats.org/officeDocument/2006/customXml" ds:itemID="{918C5ECC-BE50-456A-BC30-7875655AE278}"/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350</TotalTime>
  <Words>1451</Words>
  <Application>Microsoft Office PowerPoint</Application>
  <PresentationFormat>Widescreen</PresentationFormat>
  <Paragraphs>58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Arial</vt:lpstr>
      <vt:lpstr>Tw Cen MT</vt:lpstr>
      <vt:lpstr>Tw Cen MT Condensed</vt:lpstr>
      <vt:lpstr>Wingdings</vt:lpstr>
      <vt:lpstr>Wingdings 3</vt:lpstr>
      <vt:lpstr>Integral</vt:lpstr>
      <vt:lpstr>Indexing Structures for Files</vt:lpstr>
      <vt:lpstr>PowerPoint Presentation</vt:lpstr>
      <vt:lpstr>PowerPoint Presentation</vt:lpstr>
      <vt:lpstr>Types of Single-Level Ordered Indexes</vt:lpstr>
      <vt:lpstr>PowerPoint Presentation</vt:lpstr>
      <vt:lpstr>several types of ordered indexes</vt:lpstr>
      <vt:lpstr>Primary Index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Clustering Index</vt:lpstr>
      <vt:lpstr>PowerPoint Presentation</vt:lpstr>
      <vt:lpstr>PowerPoint Presentation</vt:lpstr>
      <vt:lpstr>PowerPoint Presentation</vt:lpstr>
      <vt:lpstr>Secondary Index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JOY KEREN</dc:creator>
  <cp:lastModifiedBy>JOY KEREN</cp:lastModifiedBy>
  <cp:revision>22</cp:revision>
  <dcterms:created xsi:type="dcterms:W3CDTF">2020-07-15T11:56:48Z</dcterms:created>
  <dcterms:modified xsi:type="dcterms:W3CDTF">2020-07-19T16:14:55Z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0x01010061CB7F9B39126B44B7BD3B2FD680B58E</vt:lpwstr>
  </property>
</Properties>
</file>