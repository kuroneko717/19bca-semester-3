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3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101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97661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5616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8867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825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1990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0937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0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90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7411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86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5158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2162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1702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1542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1509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41DC847-7525-48D9-A8C3-DDC2D7177E22}" type="datetimeFigureOut">
              <a:rPr lang="en-IN" smtClean="0"/>
              <a:t>15-07-2020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82F08ED-6C16-4B23-8D60-15F873D1FC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699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28800"/>
            <a:ext cx="6815669" cy="1557864"/>
          </a:xfrm>
        </p:spPr>
        <p:txBody>
          <a:bodyPr/>
          <a:lstStyle/>
          <a:p>
            <a:r>
              <a:rPr lang="en-IN" sz="9600" b="1" u="sng" dirty="0" smtClean="0">
                <a:latin typeface="Arial Rounded MT Bold" panose="020F0704030504030204" pitchFamily="34" charset="0"/>
              </a:rPr>
              <a:t>Indexing</a:t>
            </a:r>
            <a:endParaRPr lang="en-IN" sz="9600" b="1" u="sng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75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246909"/>
            <a:ext cx="9601195" cy="1066800"/>
          </a:xfrm>
        </p:spPr>
        <p:txBody>
          <a:bodyPr>
            <a:normAutofit fontScale="90000"/>
          </a:bodyPr>
          <a:lstStyle/>
          <a:p>
            <a:r>
              <a:rPr lang="en-IN" sz="6600" b="1" u="sng" dirty="0" smtClean="0"/>
              <a:t>Introduction</a:t>
            </a:r>
            <a:endParaRPr lang="en-IN" sz="66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Uses auxiliary </a:t>
            </a:r>
            <a:r>
              <a:rPr lang="en-IN" dirty="0"/>
              <a:t>data structures called </a:t>
            </a:r>
            <a:r>
              <a:rPr lang="en-IN" dirty="0" smtClean="0"/>
              <a:t>indexes</a:t>
            </a:r>
          </a:p>
          <a:p>
            <a:r>
              <a:rPr lang="en-IN" dirty="0" smtClean="0"/>
              <a:t>These </a:t>
            </a:r>
            <a:r>
              <a:rPr lang="en-IN" dirty="0"/>
              <a:t>structures are often </a:t>
            </a:r>
            <a:r>
              <a:rPr lang="en-IN" dirty="0" smtClean="0"/>
              <a:t>referred to </a:t>
            </a:r>
            <a:r>
              <a:rPr lang="en-IN" dirty="0"/>
              <a:t>as physical database file </a:t>
            </a:r>
            <a:r>
              <a:rPr lang="en-IN" dirty="0" smtClean="0"/>
              <a:t>structures</a:t>
            </a:r>
          </a:p>
          <a:p>
            <a:r>
              <a:rPr lang="en-IN" dirty="0" smtClean="0"/>
              <a:t>Present </a:t>
            </a:r>
            <a:r>
              <a:rPr lang="en-IN" dirty="0"/>
              <a:t>at the physical level of the </a:t>
            </a:r>
            <a:r>
              <a:rPr lang="en-IN" dirty="0" smtClean="0"/>
              <a:t>three schema architecture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32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83672" y="1291120"/>
            <a:ext cx="10293927" cy="31547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500" dirty="0"/>
              <a:t>The collection of data that makes up a computerized database must be stored </a:t>
            </a:r>
            <a:r>
              <a:rPr lang="en-IN" sz="2500" dirty="0" smtClean="0"/>
              <a:t>physically on </a:t>
            </a:r>
            <a:r>
              <a:rPr lang="en-IN" sz="2500" dirty="0"/>
              <a:t>some computer storage medium. </a:t>
            </a:r>
            <a:endParaRPr lang="en-IN" sz="25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500" dirty="0" smtClean="0"/>
              <a:t>The </a:t>
            </a:r>
            <a:r>
              <a:rPr lang="en-IN" sz="2500" dirty="0"/>
              <a:t>DBMS software can then </a:t>
            </a:r>
            <a:r>
              <a:rPr lang="en-IN" sz="2500" dirty="0" smtClean="0"/>
              <a:t>retrieve, update</a:t>
            </a:r>
            <a:r>
              <a:rPr lang="en-IN" sz="2500" dirty="0"/>
              <a:t>, and process this data as needed. Computer storage media form a </a:t>
            </a:r>
            <a:r>
              <a:rPr lang="en-IN" sz="2500" dirty="0" smtClean="0"/>
              <a:t>storage hierarchy </a:t>
            </a:r>
            <a:r>
              <a:rPr lang="en-IN" sz="2500" dirty="0"/>
              <a:t>that includes two main categories</a:t>
            </a:r>
            <a:r>
              <a:rPr lang="en-IN" sz="2500" dirty="0" smtClean="0"/>
              <a:t>: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500" dirty="0" smtClean="0"/>
              <a:t>Primary Storage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IN" sz="2500" dirty="0" smtClean="0"/>
              <a:t>Secondary Storage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05493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316182"/>
            <a:ext cx="9601196" cy="969817"/>
          </a:xfrm>
        </p:spPr>
        <p:txBody>
          <a:bodyPr>
            <a:normAutofit/>
          </a:bodyPr>
          <a:lstStyle/>
          <a:p>
            <a:r>
              <a:rPr lang="en-IN" sz="5400" b="1" u="sng" dirty="0" smtClean="0"/>
              <a:t>Memory Hierarchy</a:t>
            </a:r>
            <a:endParaRPr lang="en-IN" sz="54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56932"/>
            <a:ext cx="9601197" cy="3318936"/>
          </a:xfrm>
        </p:spPr>
        <p:txBody>
          <a:bodyPr/>
          <a:lstStyle/>
          <a:p>
            <a:r>
              <a:rPr lang="en-IN" dirty="0" smtClean="0"/>
              <a:t>Cache Memory</a:t>
            </a:r>
          </a:p>
          <a:p>
            <a:r>
              <a:rPr lang="en-IN" dirty="0" smtClean="0"/>
              <a:t>Static RAM</a:t>
            </a:r>
          </a:p>
          <a:p>
            <a:r>
              <a:rPr lang="en-IN" dirty="0" smtClean="0"/>
              <a:t>Dynamic RAM</a:t>
            </a:r>
          </a:p>
          <a:p>
            <a:r>
              <a:rPr lang="en-IN" dirty="0" smtClean="0"/>
              <a:t>Magnetic Disk Storage</a:t>
            </a:r>
          </a:p>
          <a:p>
            <a:r>
              <a:rPr lang="en-IN" dirty="0" smtClean="0"/>
              <a:t>Between DRAM and Magnetic disk storage, there is flash memory.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7539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385455"/>
            <a:ext cx="9601196" cy="900544"/>
          </a:xfrm>
        </p:spPr>
        <p:txBody>
          <a:bodyPr>
            <a:normAutofit fontScale="90000"/>
          </a:bodyPr>
          <a:lstStyle/>
          <a:p>
            <a:r>
              <a:rPr lang="en-IN" sz="5400" b="1" u="sng" dirty="0"/>
              <a:t>Storage of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9764" y="2479964"/>
            <a:ext cx="10432472" cy="3574471"/>
          </a:xfrm>
        </p:spPr>
        <p:txBody>
          <a:bodyPr>
            <a:noAutofit/>
          </a:bodyPr>
          <a:lstStyle/>
          <a:p>
            <a:r>
              <a:rPr lang="en-IN" sz="2200" dirty="0"/>
              <a:t>Databases typically store large amounts of data that must persist over long </a:t>
            </a:r>
            <a:r>
              <a:rPr lang="en-IN" sz="2200" dirty="0" smtClean="0"/>
              <a:t>periods of </a:t>
            </a:r>
            <a:r>
              <a:rPr lang="en-IN" sz="2200" dirty="0"/>
              <a:t>time, and hence is </a:t>
            </a:r>
            <a:r>
              <a:rPr lang="en-IN" sz="2200" dirty="0" smtClean="0"/>
              <a:t>often </a:t>
            </a:r>
            <a:r>
              <a:rPr lang="en-IN" sz="2200" dirty="0"/>
              <a:t>referred to as persistent data</a:t>
            </a:r>
            <a:r>
              <a:rPr lang="en-IN" sz="2200" dirty="0" smtClean="0"/>
              <a:t>.</a:t>
            </a:r>
          </a:p>
          <a:p>
            <a:r>
              <a:rPr lang="en-IN" sz="2200" dirty="0"/>
              <a:t>Most databases are stored permanently (or persistently) on magnetic disk </a:t>
            </a:r>
            <a:r>
              <a:rPr lang="en-IN" sz="2200" dirty="0" smtClean="0"/>
              <a:t>secondary storage</a:t>
            </a:r>
            <a:r>
              <a:rPr lang="en-IN" sz="2200" dirty="0"/>
              <a:t>, for the following reasons:</a:t>
            </a:r>
          </a:p>
          <a:p>
            <a:pPr lvl="1"/>
            <a:r>
              <a:rPr lang="en-IN" sz="2200" dirty="0" smtClean="0"/>
              <a:t>Generally</a:t>
            </a:r>
            <a:r>
              <a:rPr lang="en-IN" sz="2200" dirty="0"/>
              <a:t>, databases are too large to fit entirely in main memory.</a:t>
            </a:r>
          </a:p>
          <a:p>
            <a:pPr lvl="1"/>
            <a:r>
              <a:rPr lang="en-IN" sz="2200" dirty="0" smtClean="0"/>
              <a:t>The </a:t>
            </a:r>
            <a:r>
              <a:rPr lang="en-IN" sz="2200" dirty="0"/>
              <a:t>circumstances that cause permanent loss of stored data arise less </a:t>
            </a:r>
            <a:r>
              <a:rPr lang="en-IN" sz="2200" dirty="0" smtClean="0"/>
              <a:t>frequently for </a:t>
            </a:r>
            <a:r>
              <a:rPr lang="en-IN" sz="2200" dirty="0"/>
              <a:t>disk secondary storage than for primary </a:t>
            </a:r>
            <a:r>
              <a:rPr lang="en-IN" sz="2200" dirty="0" smtClean="0"/>
              <a:t>storage(Non-Volatile Storage).</a:t>
            </a:r>
          </a:p>
          <a:p>
            <a:pPr lvl="1"/>
            <a:r>
              <a:rPr lang="en-IN" sz="2200" dirty="0" smtClean="0"/>
              <a:t>The </a:t>
            </a:r>
            <a:r>
              <a:rPr lang="en-IN" sz="2200" dirty="0"/>
              <a:t>cost of storage per unit of data is an order of magnitude less for disk </a:t>
            </a:r>
            <a:r>
              <a:rPr lang="en-IN" sz="2200" dirty="0" smtClean="0"/>
              <a:t>secondary storage </a:t>
            </a:r>
            <a:r>
              <a:rPr lang="en-IN" sz="2200" dirty="0"/>
              <a:t>than for primary storage.</a:t>
            </a:r>
          </a:p>
        </p:txBody>
      </p:sp>
    </p:spTree>
    <p:extLst>
      <p:ext uri="{BB962C8B-B14F-4D97-AF65-F5344CB8AC3E}">
        <p14:creationId xmlns:p14="http://schemas.microsoft.com/office/powerpoint/2010/main" val="3159634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1273" y="1069630"/>
            <a:ext cx="10390909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The techniques used to store large amounts of structured data on disk are </a:t>
            </a:r>
            <a:r>
              <a:rPr lang="en-IN" sz="2400" dirty="0" smtClean="0"/>
              <a:t>important for </a:t>
            </a:r>
            <a:r>
              <a:rPr lang="en-IN" sz="2400" dirty="0"/>
              <a:t>database designers, the DBA, and implementers of a DBMS. </a:t>
            </a:r>
            <a:r>
              <a:rPr lang="en-IN" sz="2400" dirty="0" smtClean="0"/>
              <a:t>Database designers </a:t>
            </a:r>
            <a:r>
              <a:rPr lang="en-IN" sz="2400" dirty="0"/>
              <a:t>and the DBA must know the advantages </a:t>
            </a:r>
            <a:r>
              <a:rPr lang="en-IN" sz="2400" dirty="0" smtClean="0"/>
              <a:t>and disadvantages </a:t>
            </a:r>
            <a:r>
              <a:rPr lang="en-IN" sz="2400" dirty="0"/>
              <a:t>of each </a:t>
            </a:r>
            <a:r>
              <a:rPr lang="en-IN" sz="2400" dirty="0" smtClean="0"/>
              <a:t>storage technique </a:t>
            </a:r>
            <a:r>
              <a:rPr lang="en-IN" sz="2400" dirty="0"/>
              <a:t>when they design, implement, and operate a database on a </a:t>
            </a:r>
            <a:r>
              <a:rPr lang="en-IN" sz="2400" dirty="0" smtClean="0"/>
              <a:t>specific DBMS.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/>
              <a:t>Typical database applications need only a small portion of the database at a time </a:t>
            </a:r>
            <a:r>
              <a:rPr lang="en-IN" sz="2400" dirty="0" smtClean="0"/>
              <a:t>for processing. Whenever </a:t>
            </a:r>
            <a:r>
              <a:rPr lang="en-IN" sz="2400" dirty="0"/>
              <a:t>a certain portion of the data is needed, it must be located </a:t>
            </a:r>
            <a:r>
              <a:rPr lang="en-IN" sz="2400" dirty="0" smtClean="0"/>
              <a:t>on disk</a:t>
            </a:r>
            <a:r>
              <a:rPr lang="en-IN" sz="2400" dirty="0"/>
              <a:t>, copied to main memory for processing, and then rewritten to the disk if </a:t>
            </a:r>
            <a:r>
              <a:rPr lang="en-IN" sz="2400" dirty="0" smtClean="0"/>
              <a:t>the data </a:t>
            </a:r>
            <a:r>
              <a:rPr lang="en-IN" sz="2400" dirty="0"/>
              <a:t>is changed. </a:t>
            </a:r>
            <a:endParaRPr lang="en-IN" sz="24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The </a:t>
            </a:r>
            <a:r>
              <a:rPr lang="en-IN" sz="2400" dirty="0"/>
              <a:t>data stored on disk is organized as files of records. </a:t>
            </a:r>
            <a:endParaRPr lang="en-IN" sz="24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dirty="0" smtClean="0"/>
              <a:t>Each record is </a:t>
            </a:r>
            <a:r>
              <a:rPr lang="en-IN" sz="2400" dirty="0"/>
              <a:t>a collection of data values that can be interpreted as facts about entities, </a:t>
            </a:r>
            <a:r>
              <a:rPr lang="en-IN" sz="2400" dirty="0" smtClean="0"/>
              <a:t>their attributes</a:t>
            </a:r>
            <a:r>
              <a:rPr lang="en-IN" sz="2400" dirty="0"/>
              <a:t>, and their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181947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1219200"/>
            <a:ext cx="9601196" cy="1066799"/>
          </a:xfrm>
        </p:spPr>
        <p:txBody>
          <a:bodyPr>
            <a:normAutofit/>
          </a:bodyPr>
          <a:lstStyle/>
          <a:p>
            <a:r>
              <a:rPr lang="en-IN" sz="4800" b="1" u="sng" dirty="0" smtClean="0"/>
              <a:t>Primary File Organizations</a:t>
            </a:r>
            <a:endParaRPr lang="en-IN" sz="4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909" y="2410691"/>
            <a:ext cx="10536382" cy="3629891"/>
          </a:xfrm>
        </p:spPr>
        <p:txBody>
          <a:bodyPr>
            <a:noAutofit/>
          </a:bodyPr>
          <a:lstStyle/>
          <a:p>
            <a:pPr algn="just"/>
            <a:r>
              <a:rPr lang="en-IN" sz="2200" dirty="0"/>
              <a:t>There are several primary file organizations, which determine how the file </a:t>
            </a:r>
            <a:r>
              <a:rPr lang="en-IN" sz="2200" dirty="0" smtClean="0"/>
              <a:t>records are </a:t>
            </a:r>
            <a:r>
              <a:rPr lang="en-IN" sz="2200" dirty="0"/>
              <a:t>physically placed on the disk, and hence how the records can be accessed. </a:t>
            </a:r>
            <a:endParaRPr lang="en-IN" sz="2200" dirty="0" smtClean="0"/>
          </a:p>
          <a:p>
            <a:pPr algn="just"/>
            <a:r>
              <a:rPr lang="en-IN" sz="2200" dirty="0" smtClean="0"/>
              <a:t>A </a:t>
            </a:r>
            <a:r>
              <a:rPr lang="en-IN" sz="2200" dirty="0"/>
              <a:t>heap </a:t>
            </a:r>
            <a:r>
              <a:rPr lang="en-IN" sz="2200" dirty="0" smtClean="0"/>
              <a:t>file (or </a:t>
            </a:r>
            <a:r>
              <a:rPr lang="en-IN" sz="2200" dirty="0"/>
              <a:t>unordered file) places the records on disk in no particular order by </a:t>
            </a:r>
            <a:r>
              <a:rPr lang="en-IN" sz="2200" dirty="0" smtClean="0"/>
              <a:t>appending new </a:t>
            </a:r>
            <a:r>
              <a:rPr lang="en-IN" sz="2200" dirty="0"/>
              <a:t>records at the end of the </a:t>
            </a:r>
            <a:r>
              <a:rPr lang="en-IN" sz="2200" dirty="0" smtClean="0"/>
              <a:t>file. </a:t>
            </a:r>
          </a:p>
          <a:p>
            <a:pPr algn="just"/>
            <a:r>
              <a:rPr lang="en-IN" sz="2200" dirty="0" smtClean="0"/>
              <a:t>A </a:t>
            </a:r>
            <a:r>
              <a:rPr lang="en-IN" sz="2200" dirty="0"/>
              <a:t>sorted file (or sequential file) keeps </a:t>
            </a:r>
            <a:r>
              <a:rPr lang="en-IN" sz="2200" dirty="0" smtClean="0"/>
              <a:t>the records </a:t>
            </a:r>
            <a:r>
              <a:rPr lang="en-IN" sz="2200" dirty="0"/>
              <a:t>ordered by the value of a particular field (called the sort key). </a:t>
            </a:r>
            <a:endParaRPr lang="en-IN" sz="2200" dirty="0" smtClean="0"/>
          </a:p>
          <a:p>
            <a:pPr algn="just"/>
            <a:r>
              <a:rPr lang="en-IN" sz="2200" dirty="0" smtClean="0"/>
              <a:t>A </a:t>
            </a:r>
            <a:r>
              <a:rPr lang="en-IN" sz="2200" dirty="0"/>
              <a:t>hashed </a:t>
            </a:r>
            <a:r>
              <a:rPr lang="en-IN" sz="2200" dirty="0" smtClean="0"/>
              <a:t>file uses </a:t>
            </a:r>
            <a:r>
              <a:rPr lang="en-IN" sz="2200" dirty="0"/>
              <a:t>a hash function applied to a particular field (called the hash key) to </a:t>
            </a:r>
            <a:r>
              <a:rPr lang="en-IN" sz="2200" dirty="0" smtClean="0"/>
              <a:t>determine a </a:t>
            </a:r>
            <a:r>
              <a:rPr lang="en-IN" sz="2200" dirty="0"/>
              <a:t>record’s placement on disk. </a:t>
            </a:r>
            <a:endParaRPr lang="en-IN" sz="2200" dirty="0" smtClean="0"/>
          </a:p>
          <a:p>
            <a:pPr algn="just"/>
            <a:r>
              <a:rPr lang="en-IN" sz="2200" dirty="0" smtClean="0"/>
              <a:t>Other </a:t>
            </a:r>
            <a:r>
              <a:rPr lang="en-IN" sz="2200" dirty="0"/>
              <a:t>primary file organizations, such as B-trees, </a:t>
            </a:r>
            <a:r>
              <a:rPr lang="en-IN" sz="2200" dirty="0" smtClean="0"/>
              <a:t>use tree structures.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4073412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CB7F9B39126B44B7BD3B2FD680B58E" ma:contentTypeVersion="9" ma:contentTypeDescription="Create a new document." ma:contentTypeScope="" ma:versionID="695fcc8670f16edd2d6e06ac62cfa7aa">
  <xsd:schema xmlns:xsd="http://www.w3.org/2001/XMLSchema" xmlns:xs="http://www.w3.org/2001/XMLSchema" xmlns:p="http://schemas.microsoft.com/office/2006/metadata/properties" xmlns:ns2="a8a1418d-81b5-43f6-8c3e-510d562b22b4" targetNamespace="http://schemas.microsoft.com/office/2006/metadata/properties" ma:root="true" ma:fieldsID="0b8bb81026c94debfa35635f867341d7" ns2:_="">
    <xsd:import namespace="a8a1418d-81b5-43f6-8c3e-510d562b22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a1418d-81b5-43f6-8c3e-510d562b2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8C8CE29-43F5-4C14-B781-B633F2F9006F}"/>
</file>

<file path=customXml/itemProps2.xml><?xml version="1.0" encoding="utf-8"?>
<ds:datastoreItem xmlns:ds="http://schemas.openxmlformats.org/officeDocument/2006/customXml" ds:itemID="{9CAE4748-5A96-4685-A19E-FCAD4EF68711}"/>
</file>

<file path=customXml/itemProps3.xml><?xml version="1.0" encoding="utf-8"?>
<ds:datastoreItem xmlns:ds="http://schemas.openxmlformats.org/officeDocument/2006/customXml" ds:itemID="{A3C533D6-617A-4DDD-9004-7DE54E83FFEC}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143</TotalTime>
  <Words>482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Arial Rounded MT Bold</vt:lpstr>
      <vt:lpstr>Garamond</vt:lpstr>
      <vt:lpstr>Organic</vt:lpstr>
      <vt:lpstr>Indexing</vt:lpstr>
      <vt:lpstr>Introduction</vt:lpstr>
      <vt:lpstr>PowerPoint Presentation</vt:lpstr>
      <vt:lpstr>Memory Hierarchy</vt:lpstr>
      <vt:lpstr>Storage of Databases</vt:lpstr>
      <vt:lpstr>PowerPoint Presentation</vt:lpstr>
      <vt:lpstr>Primary File Organizations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Indexing</dc:title>
  <dc:creator>JOY KEREN</dc:creator>
  <cp:lastModifiedBy>JOY KEREN</cp:lastModifiedBy>
  <cp:revision>11</cp:revision>
  <dcterms:created xsi:type="dcterms:W3CDTF">2020-07-15T05:04:17Z</dcterms:created>
  <dcterms:modified xsi:type="dcterms:W3CDTF">2020-07-15T07:28:12Z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0x01010061CB7F9B39126B44B7BD3B2FD680B58E</vt:lpwstr>
  </property>
</Properties>
</file>