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6.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3"/>
  </p:notesMasterIdLst>
  <p:sldIdLst>
    <p:sldId id="257" r:id="rId2"/>
    <p:sldId id="256" r:id="rId3"/>
    <p:sldId id="258" r:id="rId4"/>
    <p:sldId id="259" r:id="rId5"/>
    <p:sldId id="260" r:id="rId6"/>
    <p:sldId id="262" r:id="rId7"/>
    <p:sldId id="264" r:id="rId8"/>
    <p:sldId id="261" r:id="rId9"/>
    <p:sldId id="265" r:id="rId10"/>
    <p:sldId id="266" r:id="rId11"/>
    <p:sldId id="267" r:id="rId12"/>
    <p:sldId id="268" r:id="rId13"/>
    <p:sldId id="269" r:id="rId14"/>
    <p:sldId id="270" r:id="rId15"/>
    <p:sldId id="271" r:id="rId16"/>
    <p:sldId id="272" r:id="rId17"/>
    <p:sldId id="273" r:id="rId18"/>
    <p:sldId id="278" r:id="rId19"/>
    <p:sldId id="279" r:id="rId20"/>
    <p:sldId id="280" r:id="rId21"/>
    <p:sldId id="281" r:id="rId22"/>
    <p:sldId id="282" r:id="rId23"/>
    <p:sldId id="277" r:id="rId24"/>
    <p:sldId id="283" r:id="rId25"/>
    <p:sldId id="276" r:id="rId26"/>
    <p:sldId id="285" r:id="rId27"/>
    <p:sldId id="284" r:id="rId28"/>
    <p:sldId id="286" r:id="rId29"/>
    <p:sldId id="287" r:id="rId30"/>
    <p:sldId id="288" r:id="rId31"/>
    <p:sldId id="289"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28" autoAdjust="0"/>
  </p:normalViewPr>
  <p:slideViewPr>
    <p:cSldViewPr snapToGrid="0">
      <p:cViewPr varScale="1">
        <p:scale>
          <a:sx n="66" d="100"/>
          <a:sy n="66" d="100"/>
        </p:scale>
        <p:origin x="8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E2A6AC-B9D1-454A-AD23-A8424E1DA144}" type="datetimeFigureOut">
              <a:rPr lang="en-IN" smtClean="0"/>
              <a:t>02-07-2020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54A137-3BCC-4CA1-A689-431608984443}" type="slidenum">
              <a:rPr lang="en-IN" smtClean="0"/>
              <a:t>‹#›</a:t>
            </a:fld>
            <a:endParaRPr lang="en-IN"/>
          </a:p>
        </p:txBody>
      </p:sp>
    </p:spTree>
    <p:extLst>
      <p:ext uri="{BB962C8B-B14F-4D97-AF65-F5344CB8AC3E}">
        <p14:creationId xmlns:p14="http://schemas.microsoft.com/office/powerpoint/2010/main" val="2437416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In our diagrammatic notation, if two attributes are underlined separately, then each</a:t>
            </a:r>
            <a:r>
              <a:rPr lang="en-IN" baseline="0" dirty="0" smtClean="0"/>
              <a:t> </a:t>
            </a:r>
            <a:r>
              <a:rPr lang="en-IN" dirty="0" smtClean="0"/>
              <a:t>is a key on its own.</a:t>
            </a:r>
            <a:endParaRPr lang="en-IN" dirty="0"/>
          </a:p>
        </p:txBody>
      </p:sp>
      <p:sp>
        <p:nvSpPr>
          <p:cNvPr id="4" name="Slide Number Placeholder 3"/>
          <p:cNvSpPr>
            <a:spLocks noGrp="1"/>
          </p:cNvSpPr>
          <p:nvPr>
            <p:ph type="sldNum" sz="quarter" idx="10"/>
          </p:nvPr>
        </p:nvSpPr>
        <p:spPr/>
        <p:txBody>
          <a:bodyPr/>
          <a:lstStyle/>
          <a:p>
            <a:fld id="{8454A137-3BCC-4CA1-A689-431608984443}" type="slidenum">
              <a:rPr lang="en-IN" smtClean="0"/>
              <a:t>11</a:t>
            </a:fld>
            <a:endParaRPr lang="en-IN"/>
          </a:p>
        </p:txBody>
      </p:sp>
    </p:spTree>
    <p:extLst>
      <p:ext uri="{BB962C8B-B14F-4D97-AF65-F5344CB8AC3E}">
        <p14:creationId xmlns:p14="http://schemas.microsoft.com/office/powerpoint/2010/main" val="911550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smtClean="0"/>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6A30D1EB-2002-4927-9C82-B39AAA5B51D5}" type="datetimeFigureOut">
              <a:rPr lang="en-IN" smtClean="0"/>
              <a:t>02-07-2020</a:t>
            </a:fld>
            <a:endParaRPr lang="en-IN"/>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IN"/>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5FA2DC90-3B16-4876-8D92-C4EB9D7AEDCD}" type="slidenum">
              <a:rPr lang="en-IN" smtClean="0"/>
              <a:t>‹#›</a:t>
            </a:fld>
            <a:endParaRPr lang="en-IN"/>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91901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30D1EB-2002-4927-9C82-B39AAA5B51D5}" type="datetimeFigureOut">
              <a:rPr lang="en-IN" smtClean="0"/>
              <a:t>02-07-2020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A2DC90-3B16-4876-8D92-C4EB9D7AEDCD}" type="slidenum">
              <a:rPr lang="en-IN" smtClean="0"/>
              <a:t>‹#›</a:t>
            </a:fld>
            <a:endParaRPr lang="en-IN"/>
          </a:p>
        </p:txBody>
      </p:sp>
    </p:spTree>
    <p:extLst>
      <p:ext uri="{BB962C8B-B14F-4D97-AF65-F5344CB8AC3E}">
        <p14:creationId xmlns:p14="http://schemas.microsoft.com/office/powerpoint/2010/main" val="586975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6A30D1EB-2002-4927-9C82-B39AAA5B51D5}" type="datetimeFigureOut">
              <a:rPr lang="en-IN" smtClean="0"/>
              <a:t>02-07-2020</a:t>
            </a:fld>
            <a:endParaRPr lang="en-IN"/>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IN"/>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5FA2DC90-3B16-4876-8D92-C4EB9D7AEDCD}" type="slidenum">
              <a:rPr lang="en-IN" smtClean="0"/>
              <a:t>‹#›</a:t>
            </a:fld>
            <a:endParaRPr lang="en-IN"/>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73129483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A30D1EB-2002-4927-9C82-B39AAA5B51D5}" type="datetimeFigureOut">
              <a:rPr lang="en-IN" smtClean="0"/>
              <a:t>02-07-2020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A2DC90-3B16-4876-8D92-C4EB9D7AEDCD}" type="slidenum">
              <a:rPr lang="en-IN" smtClean="0"/>
              <a:t>‹#›</a:t>
            </a:fld>
            <a:endParaRPr lang="en-IN"/>
          </a:p>
        </p:txBody>
      </p:sp>
    </p:spTree>
    <p:extLst>
      <p:ext uri="{BB962C8B-B14F-4D97-AF65-F5344CB8AC3E}">
        <p14:creationId xmlns:p14="http://schemas.microsoft.com/office/powerpoint/2010/main" val="2650590357"/>
      </p:ext>
    </p:extLst>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A30D1EB-2002-4927-9C82-B39AAA5B51D5}" type="datetimeFigureOut">
              <a:rPr lang="en-IN" smtClean="0"/>
              <a:t>02-07-2020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FA2DC90-3B16-4876-8D92-C4EB9D7AEDCD}" type="slidenum">
              <a:rPr lang="en-IN" smtClean="0"/>
              <a:t>‹#›</a:t>
            </a:fld>
            <a:endParaRPr lang="en-IN"/>
          </a:p>
        </p:txBody>
      </p:sp>
    </p:spTree>
    <p:extLst>
      <p:ext uri="{BB962C8B-B14F-4D97-AF65-F5344CB8AC3E}">
        <p14:creationId xmlns:p14="http://schemas.microsoft.com/office/powerpoint/2010/main" val="4211755813"/>
      </p:ext>
    </p:extLst>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A30D1EB-2002-4927-9C82-B39AAA5B51D5}" type="datetimeFigureOut">
              <a:rPr lang="en-IN" smtClean="0"/>
              <a:t>02-07-2020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A2DC90-3B16-4876-8D92-C4EB9D7AEDCD}" type="slidenum">
              <a:rPr lang="en-IN" smtClean="0"/>
              <a:t>‹#›</a:t>
            </a:fld>
            <a:endParaRPr lang="en-IN"/>
          </a:p>
        </p:txBody>
      </p:sp>
    </p:spTree>
    <p:extLst>
      <p:ext uri="{BB962C8B-B14F-4D97-AF65-F5344CB8AC3E}">
        <p14:creationId xmlns:p14="http://schemas.microsoft.com/office/powerpoint/2010/main" val="2589009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0D1EB-2002-4927-9C82-B39AAA5B51D5}" type="datetimeFigureOut">
              <a:rPr lang="en-IN" smtClean="0"/>
              <a:t>02-07-2020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FA2DC90-3B16-4876-8D92-C4EB9D7AEDCD}" type="slidenum">
              <a:rPr lang="en-IN" smtClean="0"/>
              <a:t>‹#›</a:t>
            </a:fld>
            <a:endParaRPr lang="en-IN"/>
          </a:p>
        </p:txBody>
      </p:sp>
    </p:spTree>
    <p:extLst>
      <p:ext uri="{BB962C8B-B14F-4D97-AF65-F5344CB8AC3E}">
        <p14:creationId xmlns:p14="http://schemas.microsoft.com/office/powerpoint/2010/main" val="519822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65051" y="6375679"/>
            <a:ext cx="1233355" cy="348462"/>
          </a:xfrm>
        </p:spPr>
        <p:txBody>
          <a:bodyPr/>
          <a:lstStyle/>
          <a:p>
            <a:fld id="{6A30D1EB-2002-4927-9C82-B39AAA5B51D5}" type="datetimeFigureOut">
              <a:rPr lang="en-IN" smtClean="0"/>
              <a:t>02-07-2020</a:t>
            </a:fld>
            <a:endParaRPr lang="en-IN"/>
          </a:p>
        </p:txBody>
      </p:sp>
      <p:sp>
        <p:nvSpPr>
          <p:cNvPr id="6" name="Footer Placeholder 5"/>
          <p:cNvSpPr>
            <a:spLocks noGrp="1"/>
          </p:cNvSpPr>
          <p:nvPr>
            <p:ph type="ftr" sz="quarter" idx="11"/>
          </p:nvPr>
        </p:nvSpPr>
        <p:spPr>
          <a:xfrm>
            <a:off x="2103620" y="6375679"/>
            <a:ext cx="3482179" cy="345796"/>
          </a:xfrm>
        </p:spPr>
        <p:txBody>
          <a:bodyPr/>
          <a:lstStyle/>
          <a:p>
            <a:endParaRPr lang="en-IN"/>
          </a:p>
        </p:txBody>
      </p:sp>
      <p:sp>
        <p:nvSpPr>
          <p:cNvPr id="7" name="Slide Number Placeholder 6"/>
          <p:cNvSpPr>
            <a:spLocks noGrp="1"/>
          </p:cNvSpPr>
          <p:nvPr>
            <p:ph type="sldNum" sz="quarter" idx="12"/>
          </p:nvPr>
        </p:nvSpPr>
        <p:spPr>
          <a:xfrm>
            <a:off x="5691014" y="6375679"/>
            <a:ext cx="1232456" cy="345796"/>
          </a:xfrm>
        </p:spPr>
        <p:txBody>
          <a:bodyPr/>
          <a:lstStyle/>
          <a:p>
            <a:fld id="{5FA2DC90-3B16-4876-8D92-C4EB9D7AEDCD}" type="slidenum">
              <a:rPr lang="en-IN" smtClean="0"/>
              <a:t>‹#›</a:t>
            </a:fld>
            <a:endParaRPr lang="en-IN"/>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61141504"/>
      </p:ext>
    </p:extLst>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65950" y="6375679"/>
            <a:ext cx="1232456" cy="348462"/>
          </a:xfrm>
        </p:spPr>
        <p:txBody>
          <a:bodyPr/>
          <a:lstStyle/>
          <a:p>
            <a:fld id="{6A30D1EB-2002-4927-9C82-B39AAA5B51D5}" type="datetimeFigureOut">
              <a:rPr lang="en-IN" smtClean="0"/>
              <a:t>02-07-2020</a:t>
            </a:fld>
            <a:endParaRPr lang="en-IN"/>
          </a:p>
        </p:txBody>
      </p:sp>
      <p:sp>
        <p:nvSpPr>
          <p:cNvPr id="6" name="Footer Placeholder 5"/>
          <p:cNvSpPr>
            <a:spLocks noGrp="1"/>
          </p:cNvSpPr>
          <p:nvPr>
            <p:ph type="ftr" sz="quarter" idx="11"/>
          </p:nvPr>
        </p:nvSpPr>
        <p:spPr>
          <a:xfrm>
            <a:off x="2103621" y="6375679"/>
            <a:ext cx="3482178" cy="345796"/>
          </a:xfrm>
        </p:spPr>
        <p:txBody>
          <a:bodyPr/>
          <a:lstStyle/>
          <a:p>
            <a:endParaRPr lang="en-IN"/>
          </a:p>
        </p:txBody>
      </p:sp>
      <p:sp>
        <p:nvSpPr>
          <p:cNvPr id="7" name="Slide Number Placeholder 6"/>
          <p:cNvSpPr>
            <a:spLocks noGrp="1"/>
          </p:cNvSpPr>
          <p:nvPr>
            <p:ph type="sldNum" sz="quarter" idx="12"/>
          </p:nvPr>
        </p:nvSpPr>
        <p:spPr>
          <a:xfrm>
            <a:off x="5687568" y="6375679"/>
            <a:ext cx="1234440" cy="345796"/>
          </a:xfrm>
        </p:spPr>
        <p:txBody>
          <a:bodyPr/>
          <a:lstStyle/>
          <a:p>
            <a:fld id="{5FA2DC90-3B16-4876-8D92-C4EB9D7AEDCD}" type="slidenum">
              <a:rPr lang="en-IN" smtClean="0"/>
              <a:t>‹#›</a:t>
            </a:fld>
            <a:endParaRPr lang="en-IN"/>
          </a:p>
        </p:txBody>
      </p:sp>
    </p:spTree>
    <p:extLst>
      <p:ext uri="{BB962C8B-B14F-4D97-AF65-F5344CB8AC3E}">
        <p14:creationId xmlns:p14="http://schemas.microsoft.com/office/powerpoint/2010/main" val="4275403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30D1EB-2002-4927-9C82-B39AAA5B51D5}" type="datetimeFigureOut">
              <a:rPr lang="en-IN" smtClean="0"/>
              <a:t>02-07-2020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A2DC90-3B16-4876-8D92-C4EB9D7AEDCD}" type="slidenum">
              <a:rPr lang="en-IN" smtClean="0"/>
              <a:t>‹#›</a:t>
            </a:fld>
            <a:endParaRPr lang="en-IN"/>
          </a:p>
        </p:txBody>
      </p:sp>
    </p:spTree>
    <p:extLst>
      <p:ext uri="{BB962C8B-B14F-4D97-AF65-F5344CB8AC3E}">
        <p14:creationId xmlns:p14="http://schemas.microsoft.com/office/powerpoint/2010/main" val="4136795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30D1EB-2002-4927-9C82-B39AAA5B51D5}" type="datetimeFigureOut">
              <a:rPr lang="en-IN" smtClean="0"/>
              <a:t>02-07-2020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A2DC90-3B16-4876-8D92-C4EB9D7AEDCD}" type="slidenum">
              <a:rPr lang="en-IN" smtClean="0"/>
              <a:t>‹#›</a:t>
            </a:fld>
            <a:endParaRPr lang="en-IN"/>
          </a:p>
        </p:txBody>
      </p:sp>
    </p:spTree>
    <p:extLst>
      <p:ext uri="{BB962C8B-B14F-4D97-AF65-F5344CB8AC3E}">
        <p14:creationId xmlns:p14="http://schemas.microsoft.com/office/powerpoint/2010/main" val="571868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6A30D1EB-2002-4927-9C82-B39AAA5B51D5}" type="datetimeFigureOut">
              <a:rPr lang="en-IN" smtClean="0"/>
              <a:t>02-07-2020</a:t>
            </a:fld>
            <a:endParaRPr lang="en-IN"/>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IN"/>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5FA2DC90-3B16-4876-8D92-C4EB9D7AEDCD}" type="slidenum">
              <a:rPr lang="en-IN" smtClean="0"/>
              <a:t>‹#›</a:t>
            </a:fld>
            <a:endParaRPr lang="en-IN"/>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50287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u="sng" dirty="0" smtClean="0"/>
              <a:t>ER Diagram</a:t>
            </a:r>
            <a:endParaRPr lang="en-IN" b="1" u="sng"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298703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33797"/>
          </a:xfrm>
        </p:spPr>
        <p:txBody>
          <a:bodyPr/>
          <a:lstStyle/>
          <a:p>
            <a:r>
              <a:rPr lang="en-IN" dirty="0"/>
              <a:t>A Sample Database Application</a:t>
            </a:r>
          </a:p>
        </p:txBody>
      </p:sp>
      <p:sp>
        <p:nvSpPr>
          <p:cNvPr id="3" name="Content Placeholder 2"/>
          <p:cNvSpPr>
            <a:spLocks noGrp="1"/>
          </p:cNvSpPr>
          <p:nvPr>
            <p:ph idx="1"/>
          </p:nvPr>
        </p:nvSpPr>
        <p:spPr>
          <a:xfrm>
            <a:off x="1251678" y="1413165"/>
            <a:ext cx="10427704" cy="4466428"/>
          </a:xfrm>
        </p:spPr>
        <p:txBody>
          <a:bodyPr>
            <a:noAutofit/>
          </a:bodyPr>
          <a:lstStyle/>
          <a:p>
            <a:pPr algn="just"/>
            <a:r>
              <a:rPr lang="en-IN" sz="2200" dirty="0"/>
              <a:t>A</a:t>
            </a:r>
            <a:r>
              <a:rPr lang="en-IN" sz="2200" dirty="0" smtClean="0"/>
              <a:t> </a:t>
            </a:r>
            <a:r>
              <a:rPr lang="en-IN" sz="2200" dirty="0"/>
              <a:t>sample database application, called </a:t>
            </a:r>
            <a:r>
              <a:rPr lang="en-IN" sz="2200" dirty="0" smtClean="0"/>
              <a:t>COMPANY</a:t>
            </a:r>
          </a:p>
          <a:p>
            <a:pPr algn="just"/>
            <a:r>
              <a:rPr lang="en-IN" sz="2200" dirty="0" smtClean="0"/>
              <a:t>The COMPANY </a:t>
            </a:r>
            <a:r>
              <a:rPr lang="en-IN" sz="2200" dirty="0"/>
              <a:t>database keeps track of a company’s employees, departments, and projects</a:t>
            </a:r>
            <a:r>
              <a:rPr lang="en-IN" sz="2200" dirty="0" smtClean="0"/>
              <a:t>.</a:t>
            </a:r>
          </a:p>
          <a:p>
            <a:pPr algn="just"/>
            <a:r>
              <a:rPr lang="en-IN" sz="2200" dirty="0"/>
              <a:t>The company is organized into departments. Each department has a </a:t>
            </a:r>
            <a:r>
              <a:rPr lang="en-IN" sz="2200" dirty="0" smtClean="0"/>
              <a:t>unique name</a:t>
            </a:r>
            <a:r>
              <a:rPr lang="en-IN" sz="2200" dirty="0"/>
              <a:t>, a unique number, and a particular employee who manages </a:t>
            </a:r>
            <a:r>
              <a:rPr lang="en-IN" sz="2200" dirty="0" smtClean="0"/>
              <a:t>the department. We </a:t>
            </a:r>
            <a:r>
              <a:rPr lang="en-IN" sz="2200" dirty="0"/>
              <a:t>keep track of the start date when that employee began </a:t>
            </a:r>
            <a:r>
              <a:rPr lang="en-IN" sz="2200" dirty="0" smtClean="0"/>
              <a:t>managing the </a:t>
            </a:r>
            <a:r>
              <a:rPr lang="en-IN" sz="2200" dirty="0"/>
              <a:t>department. A department may have several locations.</a:t>
            </a:r>
          </a:p>
          <a:p>
            <a:pPr algn="just"/>
            <a:r>
              <a:rPr lang="en-IN" sz="2200" dirty="0" smtClean="0"/>
              <a:t>A </a:t>
            </a:r>
            <a:r>
              <a:rPr lang="en-IN" sz="2200" dirty="0"/>
              <a:t>department controls a number of projects, each of which has a </a:t>
            </a:r>
            <a:r>
              <a:rPr lang="en-IN" sz="2200" dirty="0" smtClean="0"/>
              <a:t>unique name</a:t>
            </a:r>
            <a:r>
              <a:rPr lang="en-IN" sz="2200" dirty="0"/>
              <a:t>, a unique number, and a single location</a:t>
            </a:r>
            <a:r>
              <a:rPr lang="en-IN" sz="2200" dirty="0" smtClean="0"/>
              <a:t>.</a:t>
            </a:r>
            <a:endParaRPr lang="en-IN" sz="2200" dirty="0"/>
          </a:p>
        </p:txBody>
      </p:sp>
    </p:spTree>
    <p:extLst>
      <p:ext uri="{BB962C8B-B14F-4D97-AF65-F5344CB8AC3E}">
        <p14:creationId xmlns:p14="http://schemas.microsoft.com/office/powerpoint/2010/main" val="4106680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1678" y="928255"/>
            <a:ext cx="10178322" cy="4951337"/>
          </a:xfrm>
        </p:spPr>
        <p:txBody>
          <a:bodyPr>
            <a:normAutofit/>
          </a:bodyPr>
          <a:lstStyle/>
          <a:p>
            <a:r>
              <a:rPr lang="en-IN" sz="2200" dirty="0"/>
              <a:t>We store each employee’s name, Social Security number</a:t>
            </a:r>
            <a:r>
              <a:rPr lang="en-IN" sz="2200" dirty="0" smtClean="0"/>
              <a:t>, </a:t>
            </a:r>
            <a:r>
              <a:rPr lang="en-IN" sz="2200" dirty="0"/>
              <a:t>address, salary, sex (gender), and birth date. An employee is assigned to one department, but may work on several projects, which are not necessarily controlled by the same department. We keep track of the current number of hours per week that an employee works on each project. We also keep track of the direct supervisor of each employee (who is another employee).</a:t>
            </a:r>
          </a:p>
          <a:p>
            <a:r>
              <a:rPr lang="en-IN" sz="2200" dirty="0"/>
              <a:t>We want to keep track of the dependents of each employee for insurance purposes. We keep each dependent’s first name, sex, birth date, and relationship to the employee.</a:t>
            </a:r>
          </a:p>
          <a:p>
            <a:endParaRPr lang="en-IN" sz="2200" dirty="0"/>
          </a:p>
        </p:txBody>
      </p:sp>
    </p:spTree>
    <p:extLst>
      <p:ext uri="{BB962C8B-B14F-4D97-AF65-F5344CB8AC3E}">
        <p14:creationId xmlns:p14="http://schemas.microsoft.com/office/powerpoint/2010/main" val="18952585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49124084"/>
              </p:ext>
            </p:extLst>
          </p:nvPr>
        </p:nvGraphicFramePr>
        <p:xfrm>
          <a:off x="1267727" y="801552"/>
          <a:ext cx="8886207" cy="741680"/>
        </p:xfrm>
        <a:graphic>
          <a:graphicData uri="http://schemas.openxmlformats.org/drawingml/2006/table">
            <a:tbl>
              <a:tblPr firstRow="1" bandRow="1">
                <a:tableStyleId>{BC89EF96-8CEA-46FF-86C4-4CE0E7609802}</a:tableStyleId>
              </a:tblPr>
              <a:tblGrid>
                <a:gridCol w="629312">
                  <a:extLst>
                    <a:ext uri="{9D8B030D-6E8A-4147-A177-3AD203B41FA5}">
                      <a16:colId xmlns:a16="http://schemas.microsoft.com/office/drawing/2014/main" val="1427347320"/>
                    </a:ext>
                  </a:extLst>
                </a:gridCol>
                <a:gridCol w="1378424">
                  <a:extLst>
                    <a:ext uri="{9D8B030D-6E8A-4147-A177-3AD203B41FA5}">
                      <a16:colId xmlns:a16="http://schemas.microsoft.com/office/drawing/2014/main" val="1489281001"/>
                    </a:ext>
                  </a:extLst>
                </a:gridCol>
                <a:gridCol w="928048">
                  <a:extLst>
                    <a:ext uri="{9D8B030D-6E8A-4147-A177-3AD203B41FA5}">
                      <a16:colId xmlns:a16="http://schemas.microsoft.com/office/drawing/2014/main" val="2570777355"/>
                    </a:ext>
                  </a:extLst>
                </a:gridCol>
                <a:gridCol w="1105469">
                  <a:extLst>
                    <a:ext uri="{9D8B030D-6E8A-4147-A177-3AD203B41FA5}">
                      <a16:colId xmlns:a16="http://schemas.microsoft.com/office/drawing/2014/main" val="113619807"/>
                    </a:ext>
                  </a:extLst>
                </a:gridCol>
                <a:gridCol w="928047">
                  <a:extLst>
                    <a:ext uri="{9D8B030D-6E8A-4147-A177-3AD203B41FA5}">
                      <a16:colId xmlns:a16="http://schemas.microsoft.com/office/drawing/2014/main" val="801194136"/>
                    </a:ext>
                  </a:extLst>
                </a:gridCol>
                <a:gridCol w="1037230">
                  <a:extLst>
                    <a:ext uri="{9D8B030D-6E8A-4147-A177-3AD203B41FA5}">
                      <a16:colId xmlns:a16="http://schemas.microsoft.com/office/drawing/2014/main" val="4033648867"/>
                    </a:ext>
                  </a:extLst>
                </a:gridCol>
                <a:gridCol w="1549249">
                  <a:extLst>
                    <a:ext uri="{9D8B030D-6E8A-4147-A177-3AD203B41FA5}">
                      <a16:colId xmlns:a16="http://schemas.microsoft.com/office/drawing/2014/main" val="4270758490"/>
                    </a:ext>
                  </a:extLst>
                </a:gridCol>
                <a:gridCol w="1330428">
                  <a:extLst>
                    <a:ext uri="{9D8B030D-6E8A-4147-A177-3AD203B41FA5}">
                      <a16:colId xmlns:a16="http://schemas.microsoft.com/office/drawing/2014/main" val="3683048097"/>
                    </a:ext>
                  </a:extLst>
                </a:gridCol>
              </a:tblGrid>
              <a:tr h="370840">
                <a:tc>
                  <a:txBody>
                    <a:bodyPr/>
                    <a:lstStyle/>
                    <a:p>
                      <a:r>
                        <a:rPr lang="en-IN" dirty="0" err="1" smtClean="0"/>
                        <a:t>Ssn</a:t>
                      </a:r>
                      <a:endParaRPr lang="en-IN" dirty="0"/>
                    </a:p>
                  </a:txBody>
                  <a:tcPr/>
                </a:tc>
                <a:tc>
                  <a:txBody>
                    <a:bodyPr/>
                    <a:lstStyle/>
                    <a:p>
                      <a:r>
                        <a:rPr lang="en-IN" dirty="0" err="1" smtClean="0"/>
                        <a:t>Birth_date</a:t>
                      </a:r>
                      <a:endParaRPr lang="en-IN" dirty="0"/>
                    </a:p>
                  </a:txBody>
                  <a:tcPr/>
                </a:tc>
                <a:tc>
                  <a:txBody>
                    <a:bodyPr/>
                    <a:lstStyle/>
                    <a:p>
                      <a:r>
                        <a:rPr lang="en-IN" dirty="0" smtClean="0"/>
                        <a:t>Name</a:t>
                      </a:r>
                      <a:endParaRPr lang="en-IN" dirty="0"/>
                    </a:p>
                  </a:txBody>
                  <a:tcPr/>
                </a:tc>
                <a:tc>
                  <a:txBody>
                    <a:bodyPr/>
                    <a:lstStyle/>
                    <a:p>
                      <a:r>
                        <a:rPr lang="en-IN" dirty="0" smtClean="0"/>
                        <a:t>Address</a:t>
                      </a:r>
                      <a:endParaRPr lang="en-IN" dirty="0"/>
                    </a:p>
                  </a:txBody>
                  <a:tcPr/>
                </a:tc>
                <a:tc>
                  <a:txBody>
                    <a:bodyPr/>
                    <a:lstStyle/>
                    <a:p>
                      <a:r>
                        <a:rPr lang="en-IN" dirty="0" smtClean="0"/>
                        <a:t>Salary</a:t>
                      </a:r>
                      <a:endParaRPr lang="en-IN" dirty="0"/>
                    </a:p>
                  </a:txBody>
                  <a:tcPr/>
                </a:tc>
                <a:tc>
                  <a:txBody>
                    <a:bodyPr/>
                    <a:lstStyle/>
                    <a:p>
                      <a:r>
                        <a:rPr lang="en-IN" dirty="0" smtClean="0"/>
                        <a:t>Gender</a:t>
                      </a:r>
                      <a:endParaRPr lang="en-IN" dirty="0"/>
                    </a:p>
                  </a:txBody>
                  <a:tcPr/>
                </a:tc>
                <a:tc>
                  <a:txBody>
                    <a:bodyPr/>
                    <a:lstStyle/>
                    <a:p>
                      <a:r>
                        <a:rPr lang="en-IN" dirty="0" smtClean="0"/>
                        <a:t>Department</a:t>
                      </a:r>
                      <a:endParaRPr lang="en-IN" dirty="0"/>
                    </a:p>
                  </a:txBody>
                  <a:tcPr/>
                </a:tc>
                <a:tc>
                  <a:txBody>
                    <a:bodyPr/>
                    <a:lstStyle/>
                    <a:p>
                      <a:r>
                        <a:rPr lang="en-IN" dirty="0" err="1" smtClean="0"/>
                        <a:t>Works_on</a:t>
                      </a:r>
                      <a:endParaRPr lang="en-IN" dirty="0"/>
                    </a:p>
                  </a:txBody>
                  <a:tcPr/>
                </a:tc>
                <a:extLst>
                  <a:ext uri="{0D108BD9-81ED-4DB2-BD59-A6C34878D82A}">
                    <a16:rowId xmlns:a16="http://schemas.microsoft.com/office/drawing/2014/main" val="1866904645"/>
                  </a:ext>
                </a:extLst>
              </a:tr>
              <a:tr h="3708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352208613"/>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947843403"/>
              </p:ext>
            </p:extLst>
          </p:nvPr>
        </p:nvGraphicFramePr>
        <p:xfrm>
          <a:off x="1267725" y="2470244"/>
          <a:ext cx="8094638" cy="862160"/>
        </p:xfrm>
        <a:graphic>
          <a:graphicData uri="http://schemas.openxmlformats.org/drawingml/2006/table">
            <a:tbl>
              <a:tblPr firstRow="1" bandRow="1">
                <a:tableStyleId>{BC89EF96-8CEA-46FF-86C4-4CE0E7609802}</a:tableStyleId>
              </a:tblPr>
              <a:tblGrid>
                <a:gridCol w="1025105">
                  <a:extLst>
                    <a:ext uri="{9D8B030D-6E8A-4147-A177-3AD203B41FA5}">
                      <a16:colId xmlns:a16="http://schemas.microsoft.com/office/drawing/2014/main" val="1427347320"/>
                    </a:ext>
                  </a:extLst>
                </a:gridCol>
                <a:gridCol w="1164315">
                  <a:extLst>
                    <a:ext uri="{9D8B030D-6E8A-4147-A177-3AD203B41FA5}">
                      <a16:colId xmlns:a16="http://schemas.microsoft.com/office/drawing/2014/main" val="1489281001"/>
                    </a:ext>
                  </a:extLst>
                </a:gridCol>
                <a:gridCol w="1156181">
                  <a:extLst>
                    <a:ext uri="{9D8B030D-6E8A-4147-A177-3AD203B41FA5}">
                      <a16:colId xmlns:a16="http://schemas.microsoft.com/office/drawing/2014/main" val="2570777355"/>
                    </a:ext>
                  </a:extLst>
                </a:gridCol>
                <a:gridCol w="1218339">
                  <a:extLst>
                    <a:ext uri="{9D8B030D-6E8A-4147-A177-3AD203B41FA5}">
                      <a16:colId xmlns:a16="http://schemas.microsoft.com/office/drawing/2014/main" val="113619807"/>
                    </a:ext>
                  </a:extLst>
                </a:gridCol>
                <a:gridCol w="3530698">
                  <a:extLst>
                    <a:ext uri="{9D8B030D-6E8A-4147-A177-3AD203B41FA5}">
                      <a16:colId xmlns:a16="http://schemas.microsoft.com/office/drawing/2014/main" val="801194136"/>
                    </a:ext>
                  </a:extLst>
                </a:gridCol>
              </a:tblGrid>
              <a:tr h="491320">
                <a:tc>
                  <a:txBody>
                    <a:bodyPr/>
                    <a:lstStyle/>
                    <a:p>
                      <a:r>
                        <a:rPr lang="en-IN" dirty="0" smtClean="0"/>
                        <a:t>Name</a:t>
                      </a:r>
                      <a:endParaRPr lang="en-IN" dirty="0"/>
                    </a:p>
                  </a:txBody>
                  <a:tcPr/>
                </a:tc>
                <a:tc>
                  <a:txBody>
                    <a:bodyPr/>
                    <a:lstStyle/>
                    <a:p>
                      <a:r>
                        <a:rPr lang="en-IN" dirty="0" smtClean="0"/>
                        <a:t>Number</a:t>
                      </a:r>
                      <a:endParaRPr lang="en-IN" dirty="0"/>
                    </a:p>
                  </a:txBody>
                  <a:tcPr/>
                </a:tc>
                <a:tc>
                  <a:txBody>
                    <a:bodyPr/>
                    <a:lstStyle/>
                    <a:p>
                      <a:r>
                        <a:rPr lang="en-IN" dirty="0" smtClean="0"/>
                        <a:t>Manager</a:t>
                      </a:r>
                      <a:endParaRPr lang="en-IN" dirty="0"/>
                    </a:p>
                  </a:txBody>
                  <a:tcPr/>
                </a:tc>
                <a:tc>
                  <a:txBody>
                    <a:bodyPr/>
                    <a:lstStyle/>
                    <a:p>
                      <a:r>
                        <a:rPr lang="en-IN" dirty="0" smtClean="0"/>
                        <a:t>Locations</a:t>
                      </a:r>
                      <a:endParaRPr lang="en-IN" dirty="0"/>
                    </a:p>
                  </a:txBody>
                  <a:tcPr/>
                </a:tc>
                <a:tc>
                  <a:txBody>
                    <a:bodyPr/>
                    <a:lstStyle/>
                    <a:p>
                      <a:r>
                        <a:rPr lang="en-IN" dirty="0" err="1" smtClean="0"/>
                        <a:t>Manager_start_date</a:t>
                      </a:r>
                      <a:endParaRPr lang="en-IN" dirty="0"/>
                    </a:p>
                  </a:txBody>
                  <a:tcPr/>
                </a:tc>
                <a:extLst>
                  <a:ext uri="{0D108BD9-81ED-4DB2-BD59-A6C34878D82A}">
                    <a16:rowId xmlns:a16="http://schemas.microsoft.com/office/drawing/2014/main" val="1866904645"/>
                  </a:ext>
                </a:extLst>
              </a:tr>
              <a:tr h="3708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35220861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882207091"/>
              </p:ext>
            </p:extLst>
          </p:nvPr>
        </p:nvGraphicFramePr>
        <p:xfrm>
          <a:off x="1267727" y="4106585"/>
          <a:ext cx="7043760" cy="741680"/>
        </p:xfrm>
        <a:graphic>
          <a:graphicData uri="http://schemas.openxmlformats.org/drawingml/2006/table">
            <a:tbl>
              <a:tblPr firstRow="1" bandRow="1">
                <a:tableStyleId>{BC89EF96-8CEA-46FF-86C4-4CE0E7609802}</a:tableStyleId>
              </a:tblPr>
              <a:tblGrid>
                <a:gridCol w="1209552">
                  <a:extLst>
                    <a:ext uri="{9D8B030D-6E8A-4147-A177-3AD203B41FA5}">
                      <a16:colId xmlns:a16="http://schemas.microsoft.com/office/drawing/2014/main" val="1427347320"/>
                    </a:ext>
                  </a:extLst>
                </a:gridCol>
                <a:gridCol w="1513833">
                  <a:extLst>
                    <a:ext uri="{9D8B030D-6E8A-4147-A177-3AD203B41FA5}">
                      <a16:colId xmlns:a16="http://schemas.microsoft.com/office/drawing/2014/main" val="1489281001"/>
                    </a:ext>
                  </a:extLst>
                </a:gridCol>
                <a:gridCol w="1222333">
                  <a:extLst>
                    <a:ext uri="{9D8B030D-6E8A-4147-A177-3AD203B41FA5}">
                      <a16:colId xmlns:a16="http://schemas.microsoft.com/office/drawing/2014/main" val="2570777355"/>
                    </a:ext>
                  </a:extLst>
                </a:gridCol>
                <a:gridCol w="3098042">
                  <a:extLst>
                    <a:ext uri="{9D8B030D-6E8A-4147-A177-3AD203B41FA5}">
                      <a16:colId xmlns:a16="http://schemas.microsoft.com/office/drawing/2014/main" val="113619807"/>
                    </a:ext>
                  </a:extLst>
                </a:gridCol>
              </a:tblGrid>
              <a:tr h="370840">
                <a:tc>
                  <a:txBody>
                    <a:bodyPr/>
                    <a:lstStyle/>
                    <a:p>
                      <a:r>
                        <a:rPr lang="en-IN" dirty="0" smtClean="0"/>
                        <a:t>Name</a:t>
                      </a:r>
                      <a:endParaRPr lang="en-IN" dirty="0"/>
                    </a:p>
                  </a:txBody>
                  <a:tcPr/>
                </a:tc>
                <a:tc>
                  <a:txBody>
                    <a:bodyPr/>
                    <a:lstStyle/>
                    <a:p>
                      <a:r>
                        <a:rPr lang="en-IN" dirty="0" smtClean="0"/>
                        <a:t>Number</a:t>
                      </a:r>
                      <a:endParaRPr lang="en-IN" dirty="0"/>
                    </a:p>
                  </a:txBody>
                  <a:tcPr/>
                </a:tc>
                <a:tc>
                  <a:txBody>
                    <a:bodyPr/>
                    <a:lstStyle/>
                    <a:p>
                      <a:r>
                        <a:rPr lang="en-IN" dirty="0" smtClean="0"/>
                        <a:t>Location</a:t>
                      </a:r>
                      <a:endParaRPr lang="en-IN" dirty="0"/>
                    </a:p>
                  </a:txBody>
                  <a:tcPr/>
                </a:tc>
                <a:tc>
                  <a:txBody>
                    <a:bodyPr/>
                    <a:lstStyle/>
                    <a:p>
                      <a:r>
                        <a:rPr lang="en-IN" dirty="0" err="1" smtClean="0"/>
                        <a:t>Controlling</a:t>
                      </a:r>
                      <a:r>
                        <a:rPr lang="en-IN" baseline="0" dirty="0" err="1" smtClean="0"/>
                        <a:t>_Department</a:t>
                      </a:r>
                      <a:endParaRPr lang="en-IN" dirty="0"/>
                    </a:p>
                  </a:txBody>
                  <a:tcPr/>
                </a:tc>
                <a:extLst>
                  <a:ext uri="{0D108BD9-81ED-4DB2-BD59-A6C34878D82A}">
                    <a16:rowId xmlns:a16="http://schemas.microsoft.com/office/drawing/2014/main" val="1866904645"/>
                  </a:ext>
                </a:extLst>
              </a:tr>
              <a:tr h="370840">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352208613"/>
                  </a:ext>
                </a:extLst>
              </a:tr>
            </a:tbl>
          </a:graphicData>
        </a:graphic>
      </p:graphicFrame>
      <p:sp>
        <p:nvSpPr>
          <p:cNvPr id="5" name="TextBox 4"/>
          <p:cNvSpPr txBox="1"/>
          <p:nvPr/>
        </p:nvSpPr>
        <p:spPr>
          <a:xfrm>
            <a:off x="1144895" y="2027694"/>
            <a:ext cx="3468048" cy="400110"/>
          </a:xfrm>
          <a:prstGeom prst="rect">
            <a:avLst/>
          </a:prstGeom>
          <a:noFill/>
        </p:spPr>
        <p:txBody>
          <a:bodyPr wrap="square" rtlCol="0">
            <a:spAutoFit/>
          </a:bodyPr>
          <a:lstStyle/>
          <a:p>
            <a:r>
              <a:rPr lang="en-IN" sz="2000" b="1" u="sng" dirty="0" smtClean="0"/>
              <a:t>Department</a:t>
            </a:r>
            <a:endParaRPr lang="en-IN" sz="2000" b="1" u="sng" dirty="0"/>
          </a:p>
        </p:txBody>
      </p:sp>
      <p:sp>
        <p:nvSpPr>
          <p:cNvPr id="6" name="TextBox 5"/>
          <p:cNvSpPr txBox="1"/>
          <p:nvPr/>
        </p:nvSpPr>
        <p:spPr>
          <a:xfrm>
            <a:off x="1144895" y="348914"/>
            <a:ext cx="3468048" cy="400110"/>
          </a:xfrm>
          <a:prstGeom prst="rect">
            <a:avLst/>
          </a:prstGeom>
          <a:noFill/>
        </p:spPr>
        <p:txBody>
          <a:bodyPr wrap="square" rtlCol="0">
            <a:spAutoFit/>
          </a:bodyPr>
          <a:lstStyle/>
          <a:p>
            <a:r>
              <a:rPr lang="en-IN" sz="2000" b="1" u="sng" dirty="0" smtClean="0"/>
              <a:t>Employees</a:t>
            </a:r>
            <a:endParaRPr lang="en-IN" sz="2000" b="1" u="sng" dirty="0"/>
          </a:p>
        </p:txBody>
      </p:sp>
      <p:sp>
        <p:nvSpPr>
          <p:cNvPr id="7" name="TextBox 6"/>
          <p:cNvSpPr txBox="1"/>
          <p:nvPr/>
        </p:nvSpPr>
        <p:spPr>
          <a:xfrm>
            <a:off x="1267725" y="3706474"/>
            <a:ext cx="3468048" cy="400110"/>
          </a:xfrm>
          <a:prstGeom prst="rect">
            <a:avLst/>
          </a:prstGeom>
          <a:noFill/>
        </p:spPr>
        <p:txBody>
          <a:bodyPr wrap="square" rtlCol="0">
            <a:spAutoFit/>
          </a:bodyPr>
          <a:lstStyle/>
          <a:p>
            <a:r>
              <a:rPr lang="en-IN" sz="2000" b="1" u="sng" dirty="0" smtClean="0"/>
              <a:t>Project</a:t>
            </a:r>
            <a:endParaRPr lang="en-IN" sz="2000" b="1" u="sng" dirty="0"/>
          </a:p>
        </p:txBody>
      </p:sp>
      <p:sp>
        <p:nvSpPr>
          <p:cNvPr id="8" name="TextBox 7"/>
          <p:cNvSpPr txBox="1"/>
          <p:nvPr/>
        </p:nvSpPr>
        <p:spPr>
          <a:xfrm>
            <a:off x="1267725" y="5167745"/>
            <a:ext cx="3468048" cy="400110"/>
          </a:xfrm>
          <a:prstGeom prst="rect">
            <a:avLst/>
          </a:prstGeom>
          <a:noFill/>
        </p:spPr>
        <p:txBody>
          <a:bodyPr wrap="square" rtlCol="0">
            <a:spAutoFit/>
          </a:bodyPr>
          <a:lstStyle/>
          <a:p>
            <a:r>
              <a:rPr lang="en-IN" sz="2000" b="1" u="sng" dirty="0" smtClean="0"/>
              <a:t>Dependent</a:t>
            </a:r>
            <a:endParaRPr lang="en-IN" sz="2000" b="1" u="sng" dirty="0"/>
          </a:p>
        </p:txBody>
      </p:sp>
      <p:graphicFrame>
        <p:nvGraphicFramePr>
          <p:cNvPr id="9" name="Table 8"/>
          <p:cNvGraphicFramePr>
            <a:graphicFrameLocks noGrp="1"/>
          </p:cNvGraphicFramePr>
          <p:nvPr>
            <p:extLst>
              <p:ext uri="{D42A27DB-BD31-4B8C-83A1-F6EECF244321}">
                <p14:modId xmlns:p14="http://schemas.microsoft.com/office/powerpoint/2010/main" val="2733791999"/>
              </p:ext>
            </p:extLst>
          </p:nvPr>
        </p:nvGraphicFramePr>
        <p:xfrm>
          <a:off x="1267725" y="5712265"/>
          <a:ext cx="8094638" cy="827363"/>
        </p:xfrm>
        <a:graphic>
          <a:graphicData uri="http://schemas.openxmlformats.org/drawingml/2006/table">
            <a:tbl>
              <a:tblPr firstRow="1" bandRow="1">
                <a:tableStyleId>{BC89EF96-8CEA-46FF-86C4-4CE0E7609802}</a:tableStyleId>
              </a:tblPr>
              <a:tblGrid>
                <a:gridCol w="1393588">
                  <a:extLst>
                    <a:ext uri="{9D8B030D-6E8A-4147-A177-3AD203B41FA5}">
                      <a16:colId xmlns:a16="http://schemas.microsoft.com/office/drawing/2014/main" val="1427347320"/>
                    </a:ext>
                  </a:extLst>
                </a:gridCol>
                <a:gridCol w="2374711">
                  <a:extLst>
                    <a:ext uri="{9D8B030D-6E8A-4147-A177-3AD203B41FA5}">
                      <a16:colId xmlns:a16="http://schemas.microsoft.com/office/drawing/2014/main" val="1489281001"/>
                    </a:ext>
                  </a:extLst>
                </a:gridCol>
                <a:gridCol w="1091821">
                  <a:extLst>
                    <a:ext uri="{9D8B030D-6E8A-4147-A177-3AD203B41FA5}">
                      <a16:colId xmlns:a16="http://schemas.microsoft.com/office/drawing/2014/main" val="2570777355"/>
                    </a:ext>
                  </a:extLst>
                </a:gridCol>
                <a:gridCol w="1364776">
                  <a:extLst>
                    <a:ext uri="{9D8B030D-6E8A-4147-A177-3AD203B41FA5}">
                      <a16:colId xmlns:a16="http://schemas.microsoft.com/office/drawing/2014/main" val="113619807"/>
                    </a:ext>
                  </a:extLst>
                </a:gridCol>
                <a:gridCol w="1869742">
                  <a:extLst>
                    <a:ext uri="{9D8B030D-6E8A-4147-A177-3AD203B41FA5}">
                      <a16:colId xmlns:a16="http://schemas.microsoft.com/office/drawing/2014/main" val="801194136"/>
                    </a:ext>
                  </a:extLst>
                </a:gridCol>
              </a:tblGrid>
              <a:tr h="456523">
                <a:tc>
                  <a:txBody>
                    <a:bodyPr/>
                    <a:lstStyle/>
                    <a:p>
                      <a:r>
                        <a:rPr lang="en-IN" dirty="0" smtClean="0"/>
                        <a:t>Employee</a:t>
                      </a:r>
                      <a:endParaRPr lang="en-IN" dirty="0"/>
                    </a:p>
                  </a:txBody>
                  <a:tcPr/>
                </a:tc>
                <a:tc>
                  <a:txBody>
                    <a:bodyPr/>
                    <a:lstStyle/>
                    <a:p>
                      <a:r>
                        <a:rPr lang="en-IN" dirty="0" err="1" smtClean="0"/>
                        <a:t>Depenedent</a:t>
                      </a:r>
                      <a:r>
                        <a:rPr lang="en-IN" dirty="0" smtClean="0"/>
                        <a:t>_</a:t>
                      </a:r>
                      <a:r>
                        <a:rPr lang="en-IN" baseline="0" dirty="0" smtClean="0"/>
                        <a:t> Name</a:t>
                      </a:r>
                      <a:endParaRPr lang="en-IN" dirty="0"/>
                    </a:p>
                  </a:txBody>
                  <a:tcPr/>
                </a:tc>
                <a:tc>
                  <a:txBody>
                    <a:bodyPr/>
                    <a:lstStyle/>
                    <a:p>
                      <a:r>
                        <a:rPr lang="en-IN" dirty="0" smtClean="0"/>
                        <a:t>Gender</a:t>
                      </a:r>
                      <a:endParaRPr lang="en-IN" dirty="0"/>
                    </a:p>
                  </a:txBody>
                  <a:tcPr/>
                </a:tc>
                <a:tc>
                  <a:txBody>
                    <a:bodyPr/>
                    <a:lstStyle/>
                    <a:p>
                      <a:r>
                        <a:rPr lang="en-IN" dirty="0" err="1" smtClean="0"/>
                        <a:t>Birth_date</a:t>
                      </a:r>
                      <a:endParaRPr lang="en-IN" dirty="0"/>
                    </a:p>
                  </a:txBody>
                  <a:tcPr/>
                </a:tc>
                <a:tc>
                  <a:txBody>
                    <a:bodyPr/>
                    <a:lstStyle/>
                    <a:p>
                      <a:r>
                        <a:rPr lang="en-IN" dirty="0" smtClean="0"/>
                        <a:t>Relationship</a:t>
                      </a:r>
                      <a:endParaRPr lang="en-IN" dirty="0"/>
                    </a:p>
                  </a:txBody>
                  <a:tcPr/>
                </a:tc>
                <a:extLst>
                  <a:ext uri="{0D108BD9-81ED-4DB2-BD59-A6C34878D82A}">
                    <a16:rowId xmlns:a16="http://schemas.microsoft.com/office/drawing/2014/main" val="1866904645"/>
                  </a:ext>
                </a:extLst>
              </a:tr>
              <a:tr h="3708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352208613"/>
                  </a:ext>
                </a:extLst>
              </a:tr>
            </a:tbl>
          </a:graphicData>
        </a:graphic>
      </p:graphicFrame>
    </p:spTree>
    <p:extLst>
      <p:ext uri="{BB962C8B-B14F-4D97-AF65-F5344CB8AC3E}">
        <p14:creationId xmlns:p14="http://schemas.microsoft.com/office/powerpoint/2010/main" val="35729731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859561"/>
          </a:xfrm>
        </p:spPr>
        <p:txBody>
          <a:bodyPr/>
          <a:lstStyle/>
          <a:p>
            <a:r>
              <a:rPr lang="en-IN" u="sng" dirty="0"/>
              <a:t>ER model </a:t>
            </a:r>
          </a:p>
        </p:txBody>
      </p:sp>
      <p:sp>
        <p:nvSpPr>
          <p:cNvPr id="3" name="Content Placeholder 2"/>
          <p:cNvSpPr>
            <a:spLocks noGrp="1"/>
          </p:cNvSpPr>
          <p:nvPr>
            <p:ph idx="1"/>
          </p:nvPr>
        </p:nvSpPr>
        <p:spPr>
          <a:xfrm>
            <a:off x="1251678" y="1364777"/>
            <a:ext cx="10178322" cy="4514816"/>
          </a:xfrm>
        </p:spPr>
        <p:txBody>
          <a:bodyPr/>
          <a:lstStyle/>
          <a:p>
            <a:r>
              <a:rPr lang="en-IN" dirty="0"/>
              <a:t>The ER model describes data as entities, relationships, and </a:t>
            </a:r>
            <a:r>
              <a:rPr lang="en-IN" dirty="0" smtClean="0"/>
              <a:t>attributes.</a:t>
            </a:r>
          </a:p>
          <a:p>
            <a:r>
              <a:rPr lang="en-IN" dirty="0"/>
              <a:t>The basic object that the ER model represents </a:t>
            </a:r>
            <a:r>
              <a:rPr lang="en-IN" dirty="0" smtClean="0"/>
              <a:t>is an </a:t>
            </a:r>
            <a:r>
              <a:rPr lang="en-IN" dirty="0"/>
              <a:t>entity, which is a thing in the real world with an independent existence</a:t>
            </a:r>
            <a:r>
              <a:rPr lang="en-IN" dirty="0" smtClean="0"/>
              <a:t>.</a:t>
            </a:r>
          </a:p>
          <a:p>
            <a:r>
              <a:rPr lang="en-IN" dirty="0"/>
              <a:t>Each entity has attributes—the </a:t>
            </a:r>
            <a:r>
              <a:rPr lang="en-IN" dirty="0" smtClean="0"/>
              <a:t>particular properties </a:t>
            </a:r>
            <a:r>
              <a:rPr lang="en-IN" dirty="0"/>
              <a:t>that describe it</a:t>
            </a:r>
            <a:r>
              <a:rPr lang="en-IN" dirty="0" smtClean="0"/>
              <a:t>.</a:t>
            </a:r>
          </a:p>
          <a:p>
            <a:r>
              <a:rPr lang="en-IN" dirty="0"/>
              <a:t>For example, an EMPLOYEE entity may be described </a:t>
            </a:r>
            <a:r>
              <a:rPr lang="en-IN" dirty="0" smtClean="0"/>
              <a:t>by the </a:t>
            </a:r>
            <a:r>
              <a:rPr lang="en-IN" dirty="0"/>
              <a:t>employee’s name, age, address, salary, and job.</a:t>
            </a:r>
          </a:p>
        </p:txBody>
      </p:sp>
    </p:spTree>
    <p:extLst>
      <p:ext uri="{BB962C8B-B14F-4D97-AF65-F5344CB8AC3E}">
        <p14:creationId xmlns:p14="http://schemas.microsoft.com/office/powerpoint/2010/main" val="20485542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5719" y="655093"/>
            <a:ext cx="9969690" cy="5238147"/>
          </a:xfrm>
        </p:spPr>
        <p:txBody>
          <a:bodyPr>
            <a:normAutofit/>
          </a:bodyPr>
          <a:lstStyle/>
          <a:p>
            <a:pPr marL="0" indent="0">
              <a:buNone/>
            </a:pPr>
            <a:r>
              <a:rPr lang="en-IN" sz="2200" dirty="0"/>
              <a:t>Several types of attributes occur in the ER </a:t>
            </a:r>
            <a:r>
              <a:rPr lang="en-IN" sz="2200" dirty="0" smtClean="0"/>
              <a:t>model</a:t>
            </a:r>
          </a:p>
          <a:p>
            <a:r>
              <a:rPr lang="en-IN" sz="2200" dirty="0" smtClean="0"/>
              <a:t>Simple attribute</a:t>
            </a:r>
          </a:p>
          <a:p>
            <a:r>
              <a:rPr lang="en-IN" sz="2200" dirty="0" smtClean="0"/>
              <a:t>Composite attribute</a:t>
            </a:r>
          </a:p>
          <a:p>
            <a:r>
              <a:rPr lang="en-IN" sz="2200" dirty="0" smtClean="0"/>
              <a:t>Key attribute</a:t>
            </a:r>
          </a:p>
          <a:p>
            <a:r>
              <a:rPr lang="en-IN" sz="2200" dirty="0" smtClean="0"/>
              <a:t>Single-valued attribute</a:t>
            </a:r>
            <a:endParaRPr lang="en-IN" sz="2200" dirty="0"/>
          </a:p>
          <a:p>
            <a:r>
              <a:rPr lang="en-IN" sz="2200" dirty="0" smtClean="0"/>
              <a:t>Multivalued attribute</a:t>
            </a:r>
          </a:p>
          <a:p>
            <a:r>
              <a:rPr lang="en-IN" sz="2200" dirty="0"/>
              <a:t>S</a:t>
            </a:r>
            <a:r>
              <a:rPr lang="en-IN" sz="2200" dirty="0" smtClean="0"/>
              <a:t>tored attribute</a:t>
            </a:r>
            <a:endParaRPr lang="en-IN" sz="2200" dirty="0"/>
          </a:p>
          <a:p>
            <a:r>
              <a:rPr lang="en-IN" sz="2200" dirty="0" smtClean="0"/>
              <a:t>Derived attribute</a:t>
            </a:r>
          </a:p>
          <a:p>
            <a:r>
              <a:rPr lang="en-IN" sz="2200" dirty="0" smtClean="0"/>
              <a:t>Null values</a:t>
            </a:r>
          </a:p>
          <a:p>
            <a:r>
              <a:rPr lang="en-IN" sz="2200" dirty="0" smtClean="0"/>
              <a:t>Complex attribute</a:t>
            </a:r>
            <a:endParaRPr lang="en-IN" sz="2200" dirty="0"/>
          </a:p>
        </p:txBody>
      </p:sp>
      <p:pic>
        <p:nvPicPr>
          <p:cNvPr id="4" name="Picture 3"/>
          <p:cNvPicPr>
            <a:picLocks noChangeAspect="1"/>
          </p:cNvPicPr>
          <p:nvPr/>
        </p:nvPicPr>
        <p:blipFill rotWithShape="1">
          <a:blip r:embed="rId2"/>
          <a:srcRect l="24337" t="52565" r="49125" b="20942"/>
          <a:stretch/>
        </p:blipFill>
        <p:spPr>
          <a:xfrm>
            <a:off x="6109854" y="1477888"/>
            <a:ext cx="5351448" cy="3329639"/>
          </a:xfrm>
          <a:prstGeom prst="rect">
            <a:avLst/>
          </a:prstGeom>
        </p:spPr>
      </p:pic>
      <p:pic>
        <p:nvPicPr>
          <p:cNvPr id="2" name="Picture 1"/>
          <p:cNvPicPr>
            <a:picLocks noChangeAspect="1"/>
          </p:cNvPicPr>
          <p:nvPr/>
        </p:nvPicPr>
        <p:blipFill rotWithShape="1">
          <a:blip r:embed="rId3"/>
          <a:srcRect l="12624" t="56345" r="41269" b="35890"/>
          <a:stretch/>
        </p:blipFill>
        <p:spPr>
          <a:xfrm>
            <a:off x="1662545" y="5325201"/>
            <a:ext cx="9896171" cy="937054"/>
          </a:xfrm>
          <a:prstGeom prst="rect">
            <a:avLst/>
          </a:prstGeom>
        </p:spPr>
      </p:pic>
    </p:spTree>
    <p:extLst>
      <p:ext uri="{BB962C8B-B14F-4D97-AF65-F5344CB8AC3E}">
        <p14:creationId xmlns:p14="http://schemas.microsoft.com/office/powerpoint/2010/main" val="57675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6015" t="20289" r="49440" b="30457"/>
          <a:stretch/>
        </p:blipFill>
        <p:spPr>
          <a:xfrm>
            <a:off x="3069299" y="14261"/>
            <a:ext cx="6053403" cy="6829479"/>
          </a:xfrm>
          <a:prstGeom prst="rect">
            <a:avLst/>
          </a:prstGeom>
        </p:spPr>
      </p:pic>
    </p:spTree>
    <p:extLst>
      <p:ext uri="{BB962C8B-B14F-4D97-AF65-F5344CB8AC3E}">
        <p14:creationId xmlns:p14="http://schemas.microsoft.com/office/powerpoint/2010/main" val="3200930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8385" t="20476" r="54511" b="67817"/>
          <a:stretch/>
        </p:blipFill>
        <p:spPr>
          <a:xfrm>
            <a:off x="941696" y="1187356"/>
            <a:ext cx="4681182" cy="1801504"/>
          </a:xfrm>
          <a:prstGeom prst="rect">
            <a:avLst/>
          </a:prstGeom>
        </p:spPr>
      </p:pic>
      <p:pic>
        <p:nvPicPr>
          <p:cNvPr id="3" name="Picture 2"/>
          <p:cNvPicPr>
            <a:picLocks noChangeAspect="1"/>
          </p:cNvPicPr>
          <p:nvPr/>
        </p:nvPicPr>
        <p:blipFill rotWithShape="1">
          <a:blip r:embed="rId2"/>
          <a:srcRect l="25203" t="50513" r="51433" b="33713"/>
          <a:stretch/>
        </p:blipFill>
        <p:spPr>
          <a:xfrm>
            <a:off x="5622878" y="1187356"/>
            <a:ext cx="6184007" cy="2347414"/>
          </a:xfrm>
          <a:prstGeom prst="rect">
            <a:avLst/>
          </a:prstGeom>
        </p:spPr>
      </p:pic>
      <p:pic>
        <p:nvPicPr>
          <p:cNvPr id="4" name="Picture 3"/>
          <p:cNvPicPr>
            <a:picLocks noChangeAspect="1"/>
          </p:cNvPicPr>
          <p:nvPr/>
        </p:nvPicPr>
        <p:blipFill rotWithShape="1">
          <a:blip r:embed="rId2"/>
          <a:srcRect l="28385" t="32184" r="54511" b="52099"/>
          <a:stretch/>
        </p:blipFill>
        <p:spPr>
          <a:xfrm>
            <a:off x="941696" y="2988860"/>
            <a:ext cx="4681182" cy="2418478"/>
          </a:xfrm>
          <a:prstGeom prst="rect">
            <a:avLst/>
          </a:prstGeom>
        </p:spPr>
      </p:pic>
      <p:pic>
        <p:nvPicPr>
          <p:cNvPr id="5" name="Picture 4"/>
          <p:cNvPicPr>
            <a:picLocks noChangeAspect="1"/>
          </p:cNvPicPr>
          <p:nvPr/>
        </p:nvPicPr>
        <p:blipFill rotWithShape="1">
          <a:blip r:embed="rId2"/>
          <a:srcRect l="25203" t="66104" r="51433" b="21129"/>
          <a:stretch/>
        </p:blipFill>
        <p:spPr>
          <a:xfrm>
            <a:off x="5622878" y="3507474"/>
            <a:ext cx="6184007" cy="1899863"/>
          </a:xfrm>
          <a:prstGeom prst="rect">
            <a:avLst/>
          </a:prstGeom>
        </p:spPr>
      </p:pic>
      <p:sp>
        <p:nvSpPr>
          <p:cNvPr id="6" name="Title 1"/>
          <p:cNvSpPr txBox="1">
            <a:spLocks/>
          </p:cNvSpPr>
          <p:nvPr/>
        </p:nvSpPr>
        <p:spPr>
          <a:xfrm>
            <a:off x="941696" y="5702530"/>
            <a:ext cx="10865189" cy="859561"/>
          </a:xfrm>
          <a:prstGeom prst="rect">
            <a:avLst/>
          </a:prstGeom>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IN" sz="3200" u="sng" dirty="0"/>
              <a:t>Initial Conceptual Design of the COMPANY Database</a:t>
            </a:r>
          </a:p>
        </p:txBody>
      </p:sp>
    </p:spTree>
    <p:extLst>
      <p:ext uri="{BB962C8B-B14F-4D97-AF65-F5344CB8AC3E}">
        <p14:creationId xmlns:p14="http://schemas.microsoft.com/office/powerpoint/2010/main" val="105521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520930"/>
            <a:ext cx="10178322" cy="906088"/>
          </a:xfrm>
        </p:spPr>
        <p:txBody>
          <a:bodyPr/>
          <a:lstStyle/>
          <a:p>
            <a:r>
              <a:rPr lang="en-IN" u="sng" dirty="0"/>
              <a:t>Entity Types and Entity Sets</a:t>
            </a:r>
          </a:p>
        </p:txBody>
      </p:sp>
      <p:sp>
        <p:nvSpPr>
          <p:cNvPr id="3" name="Content Placeholder 2"/>
          <p:cNvSpPr>
            <a:spLocks noGrp="1"/>
          </p:cNvSpPr>
          <p:nvPr>
            <p:ph idx="1"/>
          </p:nvPr>
        </p:nvSpPr>
        <p:spPr>
          <a:xfrm>
            <a:off x="1251678" y="1427018"/>
            <a:ext cx="10178322" cy="4452574"/>
          </a:xfrm>
        </p:spPr>
        <p:txBody>
          <a:bodyPr>
            <a:normAutofit/>
          </a:bodyPr>
          <a:lstStyle/>
          <a:p>
            <a:pPr algn="just"/>
            <a:r>
              <a:rPr lang="en-IN" sz="2200" dirty="0"/>
              <a:t>A database usually contains groups of entities </a:t>
            </a:r>
            <a:r>
              <a:rPr lang="en-IN" sz="2200" dirty="0" smtClean="0"/>
              <a:t>that are </a:t>
            </a:r>
            <a:r>
              <a:rPr lang="en-IN" sz="2200" dirty="0"/>
              <a:t>similar. </a:t>
            </a:r>
            <a:endParaRPr lang="en-IN" sz="2200" dirty="0" smtClean="0"/>
          </a:p>
          <a:p>
            <a:pPr algn="just"/>
            <a:r>
              <a:rPr lang="en-IN" sz="2200" dirty="0" smtClean="0"/>
              <a:t>An entity </a:t>
            </a:r>
            <a:r>
              <a:rPr lang="en-IN" sz="2200" dirty="0"/>
              <a:t>type defines a collection (or set) of entities that have the same attributes. </a:t>
            </a:r>
            <a:r>
              <a:rPr lang="en-IN" sz="2200" dirty="0" smtClean="0"/>
              <a:t>Each entity </a:t>
            </a:r>
            <a:r>
              <a:rPr lang="en-IN" sz="2200" dirty="0"/>
              <a:t>type in the database is described by its name and attributes</a:t>
            </a:r>
            <a:r>
              <a:rPr lang="en-IN" sz="2200" dirty="0" smtClean="0"/>
              <a:t>.</a:t>
            </a:r>
          </a:p>
          <a:p>
            <a:pPr algn="just"/>
            <a:r>
              <a:rPr lang="en-IN" sz="2200" dirty="0"/>
              <a:t>The collection of all entities of a particular entity type in the </a:t>
            </a:r>
            <a:r>
              <a:rPr lang="en-IN" sz="2200" dirty="0" smtClean="0"/>
              <a:t>database at </a:t>
            </a:r>
            <a:r>
              <a:rPr lang="en-IN" sz="2200" dirty="0"/>
              <a:t>any point in time is called an entity </a:t>
            </a:r>
            <a:r>
              <a:rPr lang="en-IN" sz="2200" dirty="0" smtClean="0"/>
              <a:t>set.</a:t>
            </a:r>
          </a:p>
          <a:p>
            <a:pPr algn="just"/>
            <a:r>
              <a:rPr lang="en-IN" sz="2200" dirty="0"/>
              <a:t>For example, a company employing hundreds of employees may want to store similar information concerning each of the employees. These employee entities share the same attributes, but each entity has its own value(s) for each attribute. </a:t>
            </a:r>
          </a:p>
          <a:p>
            <a:pPr algn="just"/>
            <a:endParaRPr lang="en-IN" sz="2200" dirty="0"/>
          </a:p>
        </p:txBody>
      </p:sp>
    </p:spTree>
    <p:extLst>
      <p:ext uri="{BB962C8B-B14F-4D97-AF65-F5344CB8AC3E}">
        <p14:creationId xmlns:p14="http://schemas.microsoft.com/office/powerpoint/2010/main" val="36526723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0921" t="26800" r="24657" b="18844"/>
          <a:stretch/>
        </p:blipFill>
        <p:spPr>
          <a:xfrm>
            <a:off x="1006893" y="886692"/>
            <a:ext cx="10835267" cy="5140036"/>
          </a:xfrm>
          <a:prstGeom prst="rect">
            <a:avLst/>
          </a:prstGeom>
        </p:spPr>
      </p:pic>
    </p:spTree>
    <p:extLst>
      <p:ext uri="{BB962C8B-B14F-4D97-AF65-F5344CB8AC3E}">
        <p14:creationId xmlns:p14="http://schemas.microsoft.com/office/powerpoint/2010/main" val="25242174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47651"/>
          </a:xfrm>
        </p:spPr>
        <p:txBody>
          <a:bodyPr/>
          <a:lstStyle/>
          <a:p>
            <a:pPr algn="ctr"/>
            <a:r>
              <a:rPr lang="en-IN" u="sng" dirty="0"/>
              <a:t>Key Attributes of an Entity Type</a:t>
            </a:r>
          </a:p>
        </p:txBody>
      </p:sp>
      <p:sp>
        <p:nvSpPr>
          <p:cNvPr id="3" name="Content Placeholder 2"/>
          <p:cNvSpPr>
            <a:spLocks noGrp="1"/>
          </p:cNvSpPr>
          <p:nvPr>
            <p:ph idx="1"/>
          </p:nvPr>
        </p:nvSpPr>
        <p:spPr>
          <a:xfrm>
            <a:off x="1051560" y="1427018"/>
            <a:ext cx="10546080" cy="5248101"/>
          </a:xfrm>
        </p:spPr>
        <p:txBody>
          <a:bodyPr>
            <a:noAutofit/>
          </a:bodyPr>
          <a:lstStyle/>
          <a:p>
            <a:pPr algn="just"/>
            <a:r>
              <a:rPr lang="en-IN" sz="2200" dirty="0"/>
              <a:t>An important constraint on the entities of </a:t>
            </a:r>
            <a:r>
              <a:rPr lang="en-IN" sz="2200" dirty="0" smtClean="0"/>
              <a:t>an entity </a:t>
            </a:r>
            <a:r>
              <a:rPr lang="en-IN" sz="2200" dirty="0"/>
              <a:t>type is the key or uniqueness constraint on attributes. </a:t>
            </a:r>
            <a:endParaRPr lang="en-IN" sz="2200" dirty="0" smtClean="0"/>
          </a:p>
          <a:p>
            <a:pPr algn="just"/>
            <a:r>
              <a:rPr lang="en-IN" sz="2200" dirty="0" smtClean="0"/>
              <a:t>An </a:t>
            </a:r>
            <a:r>
              <a:rPr lang="en-IN" sz="2200" dirty="0"/>
              <a:t>entity type usually has one or more attributes whose values are distinct for each individual entity in </a:t>
            </a:r>
            <a:r>
              <a:rPr lang="en-IN" sz="2200" dirty="0" smtClean="0"/>
              <a:t>the entity </a:t>
            </a:r>
            <a:r>
              <a:rPr lang="en-IN" sz="2200" dirty="0"/>
              <a:t>set. Such an attribute is called a key attribute, and its values can be used </a:t>
            </a:r>
            <a:r>
              <a:rPr lang="en-IN" sz="2200" dirty="0" smtClean="0"/>
              <a:t>to identify </a:t>
            </a:r>
            <a:r>
              <a:rPr lang="en-IN" sz="2200" dirty="0"/>
              <a:t>each entity uniquely</a:t>
            </a:r>
            <a:r>
              <a:rPr lang="en-IN" sz="2200" dirty="0" smtClean="0"/>
              <a:t>. </a:t>
            </a:r>
          </a:p>
          <a:p>
            <a:pPr algn="just"/>
            <a:r>
              <a:rPr lang="en-IN" sz="2200" dirty="0" smtClean="0"/>
              <a:t>In ER diagrammatic notation, each key attribute has its name underlined inside the oval.</a:t>
            </a:r>
          </a:p>
          <a:p>
            <a:pPr algn="just"/>
            <a:r>
              <a:rPr lang="en-IN" sz="2200" dirty="0" smtClean="0"/>
              <a:t>Specifying </a:t>
            </a:r>
            <a:r>
              <a:rPr lang="en-IN" sz="2200" dirty="0"/>
              <a:t>that an attribute is a key of an entity type means that the </a:t>
            </a:r>
            <a:r>
              <a:rPr lang="en-IN" sz="2200" dirty="0" smtClean="0"/>
              <a:t>preceding uniqueness </a:t>
            </a:r>
            <a:r>
              <a:rPr lang="en-IN" sz="2200" dirty="0"/>
              <a:t>property must hold for every entity set of the entity type. Hence, it is </a:t>
            </a:r>
            <a:r>
              <a:rPr lang="en-IN" sz="2200" dirty="0" smtClean="0"/>
              <a:t>a constraint </a:t>
            </a:r>
            <a:r>
              <a:rPr lang="en-IN" sz="2200" dirty="0"/>
              <a:t>that prohibits any two entities from having the same value for the </a:t>
            </a:r>
            <a:r>
              <a:rPr lang="en-IN" sz="2200" dirty="0" smtClean="0"/>
              <a:t>key attribute </a:t>
            </a:r>
            <a:r>
              <a:rPr lang="en-IN" sz="2200" dirty="0"/>
              <a:t>at the same time. It is not the property of a particular entity set; rather, it </a:t>
            </a:r>
            <a:r>
              <a:rPr lang="en-IN" sz="2200" dirty="0" smtClean="0"/>
              <a:t>is a </a:t>
            </a:r>
            <a:r>
              <a:rPr lang="en-IN" sz="2200" dirty="0"/>
              <a:t>constraint on any entity set of the entity type at any point in time.</a:t>
            </a:r>
          </a:p>
        </p:txBody>
      </p:sp>
    </p:spTree>
    <p:extLst>
      <p:ext uri="{BB962C8B-B14F-4D97-AF65-F5344CB8AC3E}">
        <p14:creationId xmlns:p14="http://schemas.microsoft.com/office/powerpoint/2010/main" val="38353580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800" u="sng" dirty="0"/>
              <a:t>Value Sets (Domains) of Attributes</a:t>
            </a:r>
          </a:p>
        </p:txBody>
      </p:sp>
      <p:sp>
        <p:nvSpPr>
          <p:cNvPr id="3" name="Content Placeholder 2"/>
          <p:cNvSpPr>
            <a:spLocks noGrp="1"/>
          </p:cNvSpPr>
          <p:nvPr>
            <p:ph idx="1"/>
          </p:nvPr>
        </p:nvSpPr>
        <p:spPr>
          <a:xfrm>
            <a:off x="1251678" y="1402081"/>
            <a:ext cx="10178322" cy="4477512"/>
          </a:xfrm>
        </p:spPr>
        <p:txBody>
          <a:bodyPr>
            <a:normAutofit/>
          </a:bodyPr>
          <a:lstStyle/>
          <a:p>
            <a:pPr algn="just"/>
            <a:r>
              <a:rPr lang="en-IN" sz="2400" dirty="0"/>
              <a:t>Each simple attribute of an entity type </a:t>
            </a:r>
            <a:r>
              <a:rPr lang="en-IN" sz="2400" dirty="0" smtClean="0"/>
              <a:t>is associated </a:t>
            </a:r>
            <a:r>
              <a:rPr lang="en-IN" sz="2400" dirty="0"/>
              <a:t>with a value set (or domain of values), which specifies the set of </a:t>
            </a:r>
            <a:r>
              <a:rPr lang="en-IN" sz="2400" dirty="0" smtClean="0"/>
              <a:t>values that </a:t>
            </a:r>
            <a:r>
              <a:rPr lang="en-IN" sz="2400" dirty="0"/>
              <a:t>may be assigned to that attribute for each individual entity</a:t>
            </a:r>
            <a:r>
              <a:rPr lang="en-IN" sz="2400" dirty="0" smtClean="0"/>
              <a:t>.</a:t>
            </a:r>
          </a:p>
          <a:p>
            <a:pPr algn="just"/>
            <a:r>
              <a:rPr lang="en-IN" sz="2400" dirty="0" smtClean="0"/>
              <a:t>For Example, if the range </a:t>
            </a:r>
            <a:r>
              <a:rPr lang="en-IN" sz="2400" dirty="0"/>
              <a:t>of ages allowed for employees is between 16 and 70, we can specify the </a:t>
            </a:r>
            <a:r>
              <a:rPr lang="en-IN" sz="2400" dirty="0" smtClean="0"/>
              <a:t>value set </a:t>
            </a:r>
            <a:r>
              <a:rPr lang="en-IN" sz="2400" dirty="0"/>
              <a:t>of the Age attribute of EMPLOYEE to be the set of integer numbers between </a:t>
            </a:r>
            <a:r>
              <a:rPr lang="en-IN" sz="2400" dirty="0" smtClean="0"/>
              <a:t>16 and </a:t>
            </a:r>
            <a:r>
              <a:rPr lang="en-IN" sz="2400" dirty="0"/>
              <a:t>70</a:t>
            </a:r>
            <a:r>
              <a:rPr lang="en-IN" sz="2400" dirty="0" smtClean="0"/>
              <a:t>.</a:t>
            </a:r>
          </a:p>
        </p:txBody>
      </p:sp>
    </p:spTree>
    <p:extLst>
      <p:ext uri="{BB962C8B-B14F-4D97-AF65-F5344CB8AC3E}">
        <p14:creationId xmlns:p14="http://schemas.microsoft.com/office/powerpoint/2010/main" val="2745590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28255"/>
          </a:xfrm>
        </p:spPr>
        <p:txBody>
          <a:bodyPr/>
          <a:lstStyle/>
          <a:p>
            <a:r>
              <a:rPr lang="en-IN" u="sng" dirty="0"/>
              <a:t>Relationship</a:t>
            </a:r>
          </a:p>
        </p:txBody>
      </p:sp>
      <p:sp>
        <p:nvSpPr>
          <p:cNvPr id="3" name="Content Placeholder 2"/>
          <p:cNvSpPr>
            <a:spLocks noGrp="1"/>
          </p:cNvSpPr>
          <p:nvPr>
            <p:ph idx="1"/>
          </p:nvPr>
        </p:nvSpPr>
        <p:spPr>
          <a:xfrm>
            <a:off x="1251678" y="1478281"/>
            <a:ext cx="10178322" cy="4401312"/>
          </a:xfrm>
        </p:spPr>
        <p:txBody>
          <a:bodyPr>
            <a:normAutofit/>
          </a:bodyPr>
          <a:lstStyle/>
          <a:p>
            <a:pPr algn="just"/>
            <a:r>
              <a:rPr lang="en-IN" sz="2400" dirty="0"/>
              <a:t>Relationship represents how two or more entities can be associated with each others. </a:t>
            </a:r>
          </a:p>
          <a:p>
            <a:pPr algn="just"/>
            <a:r>
              <a:rPr lang="en-IN" sz="2400" dirty="0"/>
              <a:t>A relationship type R among n entity types E1, E2, ..., </a:t>
            </a:r>
            <a:r>
              <a:rPr lang="en-IN" sz="2400" dirty="0" err="1"/>
              <a:t>En</a:t>
            </a:r>
            <a:r>
              <a:rPr lang="en-IN" sz="2400" dirty="0"/>
              <a:t> defines a set of associations—or a relationship set—among entities from these entity types. </a:t>
            </a:r>
            <a:endParaRPr lang="en-IN" sz="2400" dirty="0" smtClean="0"/>
          </a:p>
          <a:p>
            <a:pPr algn="just"/>
            <a:r>
              <a:rPr lang="en-IN" sz="2400" dirty="0" smtClean="0"/>
              <a:t>Each </a:t>
            </a:r>
            <a:r>
              <a:rPr lang="en-IN" sz="2400" dirty="0"/>
              <a:t>relationship instance </a:t>
            </a:r>
            <a:r>
              <a:rPr lang="en-IN" sz="2400" dirty="0" smtClean="0"/>
              <a:t>‘r’ </a:t>
            </a:r>
            <a:r>
              <a:rPr lang="en-IN" sz="2400" dirty="0"/>
              <a:t>in R is an association of </a:t>
            </a:r>
            <a:r>
              <a:rPr lang="en-IN" sz="2400" dirty="0" smtClean="0"/>
              <a:t>entities.</a:t>
            </a:r>
          </a:p>
          <a:p>
            <a:pPr algn="just"/>
            <a:r>
              <a:rPr lang="en-IN" sz="2400" dirty="0"/>
              <a:t>In ER diagrams, relationship types are displayed as diamond-shaped boxes, </a:t>
            </a:r>
            <a:r>
              <a:rPr lang="en-IN" sz="2400" dirty="0" smtClean="0"/>
              <a:t>which are </a:t>
            </a:r>
            <a:r>
              <a:rPr lang="en-IN" sz="2400" dirty="0"/>
              <a:t>connected by straight lines to the rectangular boxes representing the </a:t>
            </a:r>
            <a:r>
              <a:rPr lang="en-IN" sz="2400" dirty="0" smtClean="0"/>
              <a:t>participating entity </a:t>
            </a:r>
            <a:r>
              <a:rPr lang="en-IN" sz="2400" dirty="0"/>
              <a:t>types. The relationship name is displayed in the diamond-shaped box</a:t>
            </a:r>
          </a:p>
          <a:p>
            <a:pPr algn="just"/>
            <a:endParaRPr lang="en-IN" sz="2400" dirty="0"/>
          </a:p>
        </p:txBody>
      </p:sp>
    </p:spTree>
    <p:extLst>
      <p:ext uri="{BB962C8B-B14F-4D97-AF65-F5344CB8AC3E}">
        <p14:creationId xmlns:p14="http://schemas.microsoft.com/office/powerpoint/2010/main" val="5602402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3104" t="21042" r="26574" b="15327"/>
          <a:stretch/>
        </p:blipFill>
        <p:spPr>
          <a:xfrm>
            <a:off x="1106712" y="340462"/>
            <a:ext cx="10591801" cy="6281627"/>
          </a:xfrm>
          <a:prstGeom prst="rect">
            <a:avLst/>
          </a:prstGeom>
        </p:spPr>
      </p:pic>
    </p:spTree>
    <p:extLst>
      <p:ext uri="{BB962C8B-B14F-4D97-AF65-F5344CB8AC3E}">
        <p14:creationId xmlns:p14="http://schemas.microsoft.com/office/powerpoint/2010/main" val="27403622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1677" y="551543"/>
            <a:ext cx="3479979" cy="5328049"/>
          </a:xfrm>
        </p:spPr>
        <p:txBody>
          <a:bodyPr/>
          <a:lstStyle/>
          <a:p>
            <a:pPr algn="just"/>
            <a:r>
              <a:rPr lang="en-IN" dirty="0"/>
              <a:t>Degree of a Relationship Type: The degree of a relationship type is the </a:t>
            </a:r>
            <a:r>
              <a:rPr lang="en-IN" dirty="0" smtClean="0"/>
              <a:t>number of </a:t>
            </a:r>
            <a:r>
              <a:rPr lang="en-IN" dirty="0"/>
              <a:t>participating entity types. Hence, the WORKS_FOR relationship is of degree </a:t>
            </a:r>
            <a:r>
              <a:rPr lang="en-IN" dirty="0" smtClean="0"/>
              <a:t>two. </a:t>
            </a:r>
          </a:p>
          <a:p>
            <a:pPr algn="just"/>
            <a:r>
              <a:rPr lang="en-IN" dirty="0" smtClean="0"/>
              <a:t>A </a:t>
            </a:r>
            <a:r>
              <a:rPr lang="en-IN" dirty="0"/>
              <a:t>relationship type of degree two is called binary, and one of degree three is </a:t>
            </a:r>
            <a:r>
              <a:rPr lang="en-IN" dirty="0" smtClean="0"/>
              <a:t>called ternary.</a:t>
            </a:r>
          </a:p>
          <a:p>
            <a:pPr algn="just"/>
            <a:endParaRPr lang="en-IN" dirty="0"/>
          </a:p>
        </p:txBody>
      </p:sp>
      <p:pic>
        <p:nvPicPr>
          <p:cNvPr id="4" name="Picture 3"/>
          <p:cNvPicPr>
            <a:picLocks noChangeAspect="1"/>
          </p:cNvPicPr>
          <p:nvPr/>
        </p:nvPicPr>
        <p:blipFill rotWithShape="1">
          <a:blip r:embed="rId2"/>
          <a:srcRect l="30813" t="25942" r="30032" b="11160"/>
          <a:stretch/>
        </p:blipFill>
        <p:spPr>
          <a:xfrm>
            <a:off x="5123543" y="406399"/>
            <a:ext cx="6608258" cy="5968143"/>
          </a:xfrm>
          <a:prstGeom prst="rect">
            <a:avLst/>
          </a:prstGeom>
        </p:spPr>
      </p:pic>
    </p:spTree>
    <p:extLst>
      <p:ext uri="{BB962C8B-B14F-4D97-AF65-F5344CB8AC3E}">
        <p14:creationId xmlns:p14="http://schemas.microsoft.com/office/powerpoint/2010/main" val="12919938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2457" y="382385"/>
            <a:ext cx="10784113" cy="793272"/>
          </a:xfrm>
        </p:spPr>
        <p:txBody>
          <a:bodyPr>
            <a:normAutofit/>
          </a:bodyPr>
          <a:lstStyle/>
          <a:p>
            <a:pPr algn="ctr"/>
            <a:r>
              <a:rPr lang="en-IN" sz="4200" u="sng" dirty="0"/>
              <a:t>Role Names and Recursive Relationships</a:t>
            </a:r>
          </a:p>
        </p:txBody>
      </p:sp>
      <p:sp>
        <p:nvSpPr>
          <p:cNvPr id="3" name="Content Placeholder 2"/>
          <p:cNvSpPr>
            <a:spLocks noGrp="1"/>
          </p:cNvSpPr>
          <p:nvPr>
            <p:ph idx="1"/>
          </p:nvPr>
        </p:nvSpPr>
        <p:spPr>
          <a:xfrm>
            <a:off x="1251678" y="1175657"/>
            <a:ext cx="10178322" cy="4703935"/>
          </a:xfrm>
        </p:spPr>
        <p:txBody>
          <a:bodyPr/>
          <a:lstStyle/>
          <a:p>
            <a:pPr algn="just"/>
            <a:r>
              <a:rPr lang="en-IN" dirty="0"/>
              <a:t>Each entity type that </a:t>
            </a:r>
            <a:r>
              <a:rPr lang="en-IN" dirty="0" smtClean="0"/>
              <a:t>participates in </a:t>
            </a:r>
            <a:r>
              <a:rPr lang="en-IN" dirty="0"/>
              <a:t>a </a:t>
            </a:r>
            <a:r>
              <a:rPr lang="en-IN" dirty="0" smtClean="0"/>
              <a:t>relationship </a:t>
            </a:r>
            <a:r>
              <a:rPr lang="en-IN" dirty="0"/>
              <a:t>plays a particular role in the relationship. The role name </a:t>
            </a:r>
            <a:r>
              <a:rPr lang="en-IN" dirty="0" smtClean="0"/>
              <a:t>signifies the </a:t>
            </a:r>
            <a:r>
              <a:rPr lang="en-IN" dirty="0"/>
              <a:t>role that a participating entity from the entity type plays in each </a:t>
            </a:r>
            <a:r>
              <a:rPr lang="en-IN" dirty="0" smtClean="0"/>
              <a:t>relationship instance</a:t>
            </a:r>
            <a:r>
              <a:rPr lang="en-IN" dirty="0"/>
              <a:t>, and helps to explain what the relationship means. </a:t>
            </a:r>
            <a:endParaRPr lang="en-IN" dirty="0" smtClean="0"/>
          </a:p>
          <a:p>
            <a:pPr algn="just"/>
            <a:r>
              <a:rPr lang="en-IN" dirty="0" smtClean="0"/>
              <a:t>For </a:t>
            </a:r>
            <a:r>
              <a:rPr lang="en-IN" dirty="0"/>
              <a:t>example, in </a:t>
            </a:r>
            <a:r>
              <a:rPr lang="en-IN" dirty="0" smtClean="0"/>
              <a:t>the WORKS_FOR </a:t>
            </a:r>
            <a:r>
              <a:rPr lang="en-IN" dirty="0"/>
              <a:t>relationship type, EMPLOYEE plays the role of employee or worker </a:t>
            </a:r>
            <a:r>
              <a:rPr lang="en-IN" dirty="0" smtClean="0"/>
              <a:t>and DEPARTMENT </a:t>
            </a:r>
            <a:r>
              <a:rPr lang="en-IN" dirty="0"/>
              <a:t>plays the role of department or employer</a:t>
            </a:r>
            <a:r>
              <a:rPr lang="en-IN" dirty="0" smtClean="0"/>
              <a:t>.</a:t>
            </a:r>
          </a:p>
          <a:p>
            <a:pPr algn="just"/>
            <a:r>
              <a:rPr lang="en-IN" dirty="0" smtClean="0"/>
              <a:t>In </a:t>
            </a:r>
            <a:r>
              <a:rPr lang="en-IN" dirty="0"/>
              <a:t>some cases the same entity type </a:t>
            </a:r>
            <a:r>
              <a:rPr lang="en-IN" dirty="0" smtClean="0"/>
              <a:t>participates more </a:t>
            </a:r>
            <a:r>
              <a:rPr lang="en-IN" dirty="0"/>
              <a:t>than once in a relationship type in different roles. In such cases the role </a:t>
            </a:r>
            <a:r>
              <a:rPr lang="en-IN" dirty="0" smtClean="0"/>
              <a:t>name becomes </a:t>
            </a:r>
            <a:r>
              <a:rPr lang="en-IN" dirty="0"/>
              <a:t>essential for distinguishing the meaning of the role that each </a:t>
            </a:r>
            <a:r>
              <a:rPr lang="en-IN" dirty="0" smtClean="0"/>
              <a:t>participating entity </a:t>
            </a:r>
            <a:r>
              <a:rPr lang="en-IN" dirty="0"/>
              <a:t>plays. Such relationship types are called </a:t>
            </a:r>
            <a:r>
              <a:rPr lang="en-IN" dirty="0" smtClean="0"/>
              <a:t>recursive relationships.</a:t>
            </a:r>
            <a:endParaRPr lang="en-IN" dirty="0"/>
          </a:p>
        </p:txBody>
      </p:sp>
    </p:spTree>
    <p:extLst>
      <p:ext uri="{BB962C8B-B14F-4D97-AF65-F5344CB8AC3E}">
        <p14:creationId xmlns:p14="http://schemas.microsoft.com/office/powerpoint/2010/main" val="32808502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9434" t="35466" r="32710" b="14533"/>
          <a:stretch/>
        </p:blipFill>
        <p:spPr>
          <a:xfrm>
            <a:off x="1080106" y="261258"/>
            <a:ext cx="10603893" cy="6228863"/>
          </a:xfrm>
          <a:prstGeom prst="rect">
            <a:avLst/>
          </a:prstGeom>
        </p:spPr>
      </p:pic>
    </p:spTree>
    <p:extLst>
      <p:ext uri="{BB962C8B-B14F-4D97-AF65-F5344CB8AC3E}">
        <p14:creationId xmlns:p14="http://schemas.microsoft.com/office/powerpoint/2010/main" val="35210915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029" y="382385"/>
            <a:ext cx="10624457" cy="1492132"/>
          </a:xfrm>
        </p:spPr>
        <p:txBody>
          <a:bodyPr>
            <a:normAutofit/>
          </a:bodyPr>
          <a:lstStyle/>
          <a:p>
            <a:pPr algn="ctr"/>
            <a:r>
              <a:rPr lang="en-IN" sz="4400" u="sng" dirty="0"/>
              <a:t>Constraints on </a:t>
            </a:r>
            <a:r>
              <a:rPr lang="en-IN" sz="4400" u="sng" dirty="0" smtClean="0"/>
              <a:t>Binary Relationship </a:t>
            </a:r>
            <a:r>
              <a:rPr lang="en-IN" sz="4400" u="sng" dirty="0"/>
              <a:t>Types</a:t>
            </a:r>
          </a:p>
        </p:txBody>
      </p:sp>
      <p:sp>
        <p:nvSpPr>
          <p:cNvPr id="3" name="Content Placeholder 2"/>
          <p:cNvSpPr>
            <a:spLocks noGrp="1"/>
          </p:cNvSpPr>
          <p:nvPr>
            <p:ph idx="1"/>
          </p:nvPr>
        </p:nvSpPr>
        <p:spPr/>
        <p:txBody>
          <a:bodyPr>
            <a:normAutofit/>
          </a:bodyPr>
          <a:lstStyle/>
          <a:p>
            <a:pPr marL="0" indent="0">
              <a:buNone/>
            </a:pPr>
            <a:r>
              <a:rPr lang="en-IN" sz="2400" dirty="0" smtClean="0"/>
              <a:t>Two </a:t>
            </a:r>
            <a:r>
              <a:rPr lang="en-IN" sz="2400" dirty="0"/>
              <a:t>main types of binary </a:t>
            </a:r>
            <a:r>
              <a:rPr lang="en-IN" sz="2400" dirty="0" smtClean="0"/>
              <a:t>relationship constraints</a:t>
            </a:r>
            <a:r>
              <a:rPr lang="en-IN" sz="2400" dirty="0"/>
              <a:t>: </a:t>
            </a:r>
            <a:endParaRPr lang="en-IN" sz="2400" dirty="0" smtClean="0"/>
          </a:p>
          <a:p>
            <a:r>
              <a:rPr lang="en-IN" sz="2400" dirty="0" smtClean="0"/>
              <a:t>cardinality </a:t>
            </a:r>
            <a:r>
              <a:rPr lang="en-IN" sz="2400" dirty="0"/>
              <a:t>ratio </a:t>
            </a:r>
            <a:endParaRPr lang="en-IN" sz="2400" dirty="0" smtClean="0"/>
          </a:p>
          <a:p>
            <a:r>
              <a:rPr lang="en-IN" sz="2400" dirty="0" smtClean="0"/>
              <a:t>Participation constraint.</a:t>
            </a:r>
            <a:endParaRPr lang="en-IN" sz="2400" dirty="0"/>
          </a:p>
        </p:txBody>
      </p:sp>
    </p:spTree>
    <p:extLst>
      <p:ext uri="{BB962C8B-B14F-4D97-AF65-F5344CB8AC3E}">
        <p14:creationId xmlns:p14="http://schemas.microsoft.com/office/powerpoint/2010/main" val="33627685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857" y="382385"/>
            <a:ext cx="10856686" cy="778758"/>
          </a:xfrm>
        </p:spPr>
        <p:txBody>
          <a:bodyPr>
            <a:normAutofit/>
          </a:bodyPr>
          <a:lstStyle/>
          <a:p>
            <a:pPr algn="ctr"/>
            <a:r>
              <a:rPr lang="en-IN" sz="3800" u="sng" dirty="0"/>
              <a:t>Cardinality Ratios for Binary Relationships</a:t>
            </a:r>
          </a:p>
        </p:txBody>
      </p:sp>
      <p:sp>
        <p:nvSpPr>
          <p:cNvPr id="3" name="Content Placeholder 2"/>
          <p:cNvSpPr>
            <a:spLocks noGrp="1"/>
          </p:cNvSpPr>
          <p:nvPr>
            <p:ph idx="1"/>
          </p:nvPr>
        </p:nvSpPr>
        <p:spPr>
          <a:xfrm>
            <a:off x="1251678" y="1262743"/>
            <a:ext cx="10178322" cy="4616849"/>
          </a:xfrm>
        </p:spPr>
        <p:txBody>
          <a:bodyPr>
            <a:normAutofit/>
          </a:bodyPr>
          <a:lstStyle/>
          <a:p>
            <a:pPr algn="just"/>
            <a:r>
              <a:rPr lang="en-IN" sz="2200" dirty="0"/>
              <a:t>The cardinality ratio for a </a:t>
            </a:r>
            <a:r>
              <a:rPr lang="en-IN" sz="2200" dirty="0" smtClean="0"/>
              <a:t>binary relationship </a:t>
            </a:r>
            <a:r>
              <a:rPr lang="en-IN" sz="2200" dirty="0"/>
              <a:t>specifies the maximum number of relationship instances that an </a:t>
            </a:r>
            <a:r>
              <a:rPr lang="en-IN" sz="2200" dirty="0" smtClean="0"/>
              <a:t>entity can </a:t>
            </a:r>
            <a:r>
              <a:rPr lang="en-IN" sz="2200" dirty="0"/>
              <a:t>participate in</a:t>
            </a:r>
            <a:r>
              <a:rPr lang="en-IN" sz="2200" dirty="0" smtClean="0"/>
              <a:t>.</a:t>
            </a:r>
          </a:p>
          <a:p>
            <a:pPr algn="just"/>
            <a:r>
              <a:rPr lang="en-IN" sz="2200" dirty="0"/>
              <a:t>For example, in the WORKS_FOR binary relationship </a:t>
            </a:r>
            <a:r>
              <a:rPr lang="en-IN" sz="2200" dirty="0" smtClean="0"/>
              <a:t>type, DEPARTMENT:EMPLOYEE </a:t>
            </a:r>
            <a:r>
              <a:rPr lang="en-IN" sz="2200" dirty="0"/>
              <a:t>is of cardinality ratio 1:N, meaning that each </a:t>
            </a:r>
            <a:r>
              <a:rPr lang="en-IN" sz="2200" dirty="0" smtClean="0"/>
              <a:t>department can </a:t>
            </a:r>
            <a:r>
              <a:rPr lang="en-IN" sz="2200" dirty="0"/>
              <a:t>be related to (that is, employs) any number of employees</a:t>
            </a:r>
            <a:r>
              <a:rPr lang="en-IN" sz="2200" dirty="0" smtClean="0"/>
              <a:t>, </a:t>
            </a:r>
            <a:r>
              <a:rPr lang="en-IN" sz="2200" dirty="0"/>
              <a:t>but an employee </a:t>
            </a:r>
            <a:r>
              <a:rPr lang="en-IN" sz="2200" dirty="0" smtClean="0"/>
              <a:t>can be </a:t>
            </a:r>
            <a:r>
              <a:rPr lang="en-IN" sz="2200" dirty="0"/>
              <a:t>related to (work for) only one department</a:t>
            </a:r>
            <a:r>
              <a:rPr lang="en-IN" sz="2200" dirty="0" smtClean="0"/>
              <a:t>.</a:t>
            </a:r>
          </a:p>
          <a:p>
            <a:pPr algn="just"/>
            <a:r>
              <a:rPr lang="en-IN" sz="2200" dirty="0"/>
              <a:t>The </a:t>
            </a:r>
            <a:r>
              <a:rPr lang="en-IN" sz="2200" dirty="0" smtClean="0"/>
              <a:t>possible cardinality </a:t>
            </a:r>
            <a:r>
              <a:rPr lang="en-IN" sz="2200" dirty="0"/>
              <a:t>ratios for binary relationship types are 1:1, 1:N, N:1, and M:N</a:t>
            </a:r>
            <a:r>
              <a:rPr lang="en-IN" sz="2200" dirty="0" smtClean="0"/>
              <a:t>.</a:t>
            </a:r>
          </a:p>
          <a:p>
            <a:pPr algn="just"/>
            <a:r>
              <a:rPr lang="en-IN" sz="2200" dirty="0"/>
              <a:t>Cardinality ratios for binary relationships are represented on ER diagrams by </a:t>
            </a:r>
            <a:r>
              <a:rPr lang="en-IN" sz="2200" dirty="0" smtClean="0"/>
              <a:t>displaying 1</a:t>
            </a:r>
            <a:r>
              <a:rPr lang="en-IN" sz="2200" dirty="0"/>
              <a:t>, M, and N on the </a:t>
            </a:r>
            <a:r>
              <a:rPr lang="en-IN" sz="2200" dirty="0" smtClean="0"/>
              <a:t>diamonds.</a:t>
            </a:r>
            <a:endParaRPr lang="en-IN" sz="2200" dirty="0"/>
          </a:p>
        </p:txBody>
      </p:sp>
    </p:spTree>
    <p:extLst>
      <p:ext uri="{BB962C8B-B14F-4D97-AF65-F5344CB8AC3E}">
        <p14:creationId xmlns:p14="http://schemas.microsoft.com/office/powerpoint/2010/main" val="1521134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1961" t="24553" r="32263" b="25843"/>
          <a:stretch/>
        </p:blipFill>
        <p:spPr>
          <a:xfrm>
            <a:off x="1132115" y="725715"/>
            <a:ext cx="10580914" cy="5290458"/>
          </a:xfrm>
          <a:prstGeom prst="rect">
            <a:avLst/>
          </a:prstGeom>
        </p:spPr>
      </p:pic>
    </p:spTree>
    <p:extLst>
      <p:ext uri="{BB962C8B-B14F-4D97-AF65-F5344CB8AC3E}">
        <p14:creationId xmlns:p14="http://schemas.microsoft.com/office/powerpoint/2010/main" val="22107970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6311" t="22173" r="27801" b="15327"/>
          <a:stretch/>
        </p:blipFill>
        <p:spPr>
          <a:xfrm>
            <a:off x="1248228" y="188685"/>
            <a:ext cx="10377714" cy="6524911"/>
          </a:xfrm>
          <a:prstGeom prst="rect">
            <a:avLst/>
          </a:prstGeom>
        </p:spPr>
      </p:pic>
    </p:spTree>
    <p:extLst>
      <p:ext uri="{BB962C8B-B14F-4D97-AF65-F5344CB8AC3E}">
        <p14:creationId xmlns:p14="http://schemas.microsoft.com/office/powerpoint/2010/main" val="852878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09386"/>
          </a:xfrm>
        </p:spPr>
        <p:txBody>
          <a:bodyPr>
            <a:normAutofit/>
          </a:bodyPr>
          <a:lstStyle/>
          <a:p>
            <a:pPr algn="ctr"/>
            <a:r>
              <a:rPr lang="en-IN" sz="4400" u="sng" dirty="0"/>
              <a:t>Participation </a:t>
            </a:r>
            <a:r>
              <a:rPr lang="en-IN" sz="4400" u="sng" dirty="0" smtClean="0"/>
              <a:t>Constraints</a:t>
            </a:r>
            <a:endParaRPr lang="en-IN" sz="4400" u="sng" dirty="0"/>
          </a:p>
        </p:txBody>
      </p:sp>
      <p:sp>
        <p:nvSpPr>
          <p:cNvPr id="3" name="Content Placeholder 2"/>
          <p:cNvSpPr>
            <a:spLocks noGrp="1"/>
          </p:cNvSpPr>
          <p:nvPr>
            <p:ph idx="1"/>
          </p:nvPr>
        </p:nvSpPr>
        <p:spPr>
          <a:xfrm>
            <a:off x="1251678" y="1291771"/>
            <a:ext cx="10178322" cy="4949372"/>
          </a:xfrm>
        </p:spPr>
        <p:txBody>
          <a:bodyPr>
            <a:normAutofit/>
          </a:bodyPr>
          <a:lstStyle/>
          <a:p>
            <a:pPr algn="just"/>
            <a:r>
              <a:rPr lang="en-IN" sz="2200" dirty="0"/>
              <a:t>The </a:t>
            </a:r>
            <a:r>
              <a:rPr lang="en-IN" sz="2200" dirty="0" smtClean="0"/>
              <a:t>participation constraint </a:t>
            </a:r>
            <a:r>
              <a:rPr lang="en-IN" sz="2200" dirty="0"/>
              <a:t>specifies whether the existence of an entity depends on its being </a:t>
            </a:r>
            <a:r>
              <a:rPr lang="en-IN" sz="2200" dirty="0" smtClean="0"/>
              <a:t>related to </a:t>
            </a:r>
            <a:r>
              <a:rPr lang="en-IN" sz="2200" dirty="0"/>
              <a:t>another entity via the relationship type. </a:t>
            </a:r>
            <a:endParaRPr lang="en-IN" sz="2200" dirty="0" smtClean="0"/>
          </a:p>
          <a:p>
            <a:pPr algn="just"/>
            <a:r>
              <a:rPr lang="en-IN" sz="2200" dirty="0" smtClean="0"/>
              <a:t>This </a:t>
            </a:r>
            <a:r>
              <a:rPr lang="en-IN" sz="2200" dirty="0"/>
              <a:t>constraint specifies the </a:t>
            </a:r>
            <a:r>
              <a:rPr lang="en-IN" sz="2200" dirty="0" smtClean="0"/>
              <a:t>minimum number </a:t>
            </a:r>
            <a:r>
              <a:rPr lang="en-IN" sz="2200" dirty="0"/>
              <a:t>of relationship instances that each entity can participate in, and is </a:t>
            </a:r>
            <a:r>
              <a:rPr lang="en-IN" sz="2200" dirty="0" smtClean="0"/>
              <a:t>sometimes called </a:t>
            </a:r>
            <a:r>
              <a:rPr lang="en-IN" sz="2200" dirty="0"/>
              <a:t>the minimum cardinality constraint</a:t>
            </a:r>
            <a:r>
              <a:rPr lang="en-IN" sz="2200" dirty="0" smtClean="0"/>
              <a:t>.</a:t>
            </a:r>
          </a:p>
          <a:p>
            <a:pPr algn="just"/>
            <a:r>
              <a:rPr lang="en-IN" sz="2200" dirty="0"/>
              <a:t>There are two types of </a:t>
            </a:r>
            <a:r>
              <a:rPr lang="en-IN" sz="2200" dirty="0" smtClean="0"/>
              <a:t>participation constraints</a:t>
            </a:r>
          </a:p>
          <a:p>
            <a:pPr lvl="1" algn="just"/>
            <a:r>
              <a:rPr lang="en-IN" sz="2200" dirty="0" smtClean="0"/>
              <a:t>total participation constraint</a:t>
            </a:r>
          </a:p>
          <a:p>
            <a:pPr lvl="1" algn="just"/>
            <a:r>
              <a:rPr lang="en-IN" sz="2200" dirty="0" smtClean="0"/>
              <a:t>Partial participation constraint</a:t>
            </a:r>
            <a:endParaRPr lang="en-IN" sz="2200" dirty="0"/>
          </a:p>
          <a:p>
            <a:pPr algn="just"/>
            <a:r>
              <a:rPr lang="en-IN" sz="2200" dirty="0"/>
              <a:t>Total </a:t>
            </a:r>
            <a:r>
              <a:rPr lang="en-IN" sz="2200" dirty="0" smtClean="0"/>
              <a:t>participation is </a:t>
            </a:r>
            <a:r>
              <a:rPr lang="en-IN" sz="2200" dirty="0"/>
              <a:t>also called existence dependency</a:t>
            </a:r>
            <a:r>
              <a:rPr lang="en-IN" sz="2200" dirty="0" smtClean="0"/>
              <a:t>.</a:t>
            </a:r>
          </a:p>
          <a:p>
            <a:pPr algn="just"/>
            <a:r>
              <a:rPr lang="en-IN" sz="2200" dirty="0"/>
              <a:t>In ER diagrams, total participation (or existence dependency) is displayed as </a:t>
            </a:r>
            <a:r>
              <a:rPr lang="en-IN" sz="2200" dirty="0" smtClean="0"/>
              <a:t>a double </a:t>
            </a:r>
            <a:r>
              <a:rPr lang="en-IN" sz="2200" dirty="0"/>
              <a:t>line connecting the participating entity type to the relationship, whereas </a:t>
            </a:r>
            <a:r>
              <a:rPr lang="en-IN" sz="2200" dirty="0" smtClean="0"/>
              <a:t>partial participation </a:t>
            </a:r>
            <a:r>
              <a:rPr lang="en-IN" sz="2200" dirty="0"/>
              <a:t>is represented by a single line</a:t>
            </a:r>
          </a:p>
        </p:txBody>
      </p:sp>
    </p:spTree>
    <p:extLst>
      <p:ext uri="{BB962C8B-B14F-4D97-AF65-F5344CB8AC3E}">
        <p14:creationId xmlns:p14="http://schemas.microsoft.com/office/powerpoint/2010/main" val="2440585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8989" t="45190" r="43195" b="23462"/>
          <a:stretch/>
        </p:blipFill>
        <p:spPr>
          <a:xfrm>
            <a:off x="1262744" y="914399"/>
            <a:ext cx="10358696" cy="4827949"/>
          </a:xfrm>
          <a:prstGeom prst="rect">
            <a:avLst/>
          </a:prstGeom>
        </p:spPr>
      </p:pic>
    </p:spTree>
    <p:extLst>
      <p:ext uri="{BB962C8B-B14F-4D97-AF65-F5344CB8AC3E}">
        <p14:creationId xmlns:p14="http://schemas.microsoft.com/office/powerpoint/2010/main" val="2988221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u="sng" dirty="0"/>
              <a:t>Weak Entity Types</a:t>
            </a:r>
          </a:p>
        </p:txBody>
      </p:sp>
      <p:sp>
        <p:nvSpPr>
          <p:cNvPr id="3" name="Content Placeholder 2"/>
          <p:cNvSpPr>
            <a:spLocks noGrp="1"/>
          </p:cNvSpPr>
          <p:nvPr>
            <p:ph idx="1"/>
          </p:nvPr>
        </p:nvSpPr>
        <p:spPr>
          <a:xfrm>
            <a:off x="1251678" y="1277257"/>
            <a:ext cx="10178322" cy="4602335"/>
          </a:xfrm>
        </p:spPr>
        <p:txBody>
          <a:bodyPr>
            <a:noAutofit/>
          </a:bodyPr>
          <a:lstStyle/>
          <a:p>
            <a:pPr algn="just"/>
            <a:r>
              <a:rPr lang="en-IN" sz="2400" dirty="0" smtClean="0"/>
              <a:t>Regular </a:t>
            </a:r>
            <a:r>
              <a:rPr lang="en-IN" sz="2400" dirty="0"/>
              <a:t>entity types that do have a key </a:t>
            </a:r>
            <a:r>
              <a:rPr lang="en-IN" sz="2400" dirty="0" smtClean="0"/>
              <a:t>attribute are </a:t>
            </a:r>
            <a:r>
              <a:rPr lang="en-IN" sz="2400" dirty="0"/>
              <a:t>called strong entity </a:t>
            </a:r>
            <a:r>
              <a:rPr lang="en-IN" sz="2400" dirty="0" smtClean="0"/>
              <a:t>types.</a:t>
            </a:r>
          </a:p>
          <a:p>
            <a:pPr algn="just"/>
            <a:r>
              <a:rPr lang="en-IN" sz="2400" dirty="0"/>
              <a:t>Entity types that do not have key attributes of their own are called weak </a:t>
            </a:r>
            <a:r>
              <a:rPr lang="en-IN" sz="2400" dirty="0" smtClean="0"/>
              <a:t>entity types.</a:t>
            </a:r>
          </a:p>
          <a:p>
            <a:pPr algn="just"/>
            <a:r>
              <a:rPr lang="en-IN" sz="2400" dirty="0"/>
              <a:t>Entities </a:t>
            </a:r>
            <a:r>
              <a:rPr lang="en-IN" sz="2400" dirty="0" smtClean="0"/>
              <a:t>belonging to </a:t>
            </a:r>
            <a:r>
              <a:rPr lang="en-IN" sz="2400" dirty="0"/>
              <a:t>a weak entity type are identified by being related to specific entities from </a:t>
            </a:r>
            <a:r>
              <a:rPr lang="en-IN" sz="2400" dirty="0" smtClean="0"/>
              <a:t>another entity </a:t>
            </a:r>
            <a:r>
              <a:rPr lang="en-IN" sz="2400" dirty="0"/>
              <a:t>type in combination with one of their attribute values. We call this </a:t>
            </a:r>
            <a:r>
              <a:rPr lang="en-IN" sz="2400" dirty="0" smtClean="0"/>
              <a:t>other entity </a:t>
            </a:r>
            <a:r>
              <a:rPr lang="en-IN" sz="2400" dirty="0"/>
              <a:t>type the identifying or owner entity </a:t>
            </a:r>
            <a:r>
              <a:rPr lang="en-IN" sz="2400" dirty="0" smtClean="0"/>
              <a:t>type.</a:t>
            </a:r>
          </a:p>
          <a:p>
            <a:pPr algn="just"/>
            <a:r>
              <a:rPr lang="en-IN" sz="2400" dirty="0" smtClean="0"/>
              <a:t>The </a:t>
            </a:r>
            <a:r>
              <a:rPr lang="en-IN" sz="2400" dirty="0"/>
              <a:t>relationship </a:t>
            </a:r>
            <a:r>
              <a:rPr lang="en-IN" sz="2400" dirty="0" smtClean="0"/>
              <a:t>type that </a:t>
            </a:r>
            <a:r>
              <a:rPr lang="en-IN" sz="2400" dirty="0"/>
              <a:t>relates a weak entity type to its owner the identifying relationship of the </a:t>
            </a:r>
            <a:r>
              <a:rPr lang="en-IN" sz="2400" dirty="0" smtClean="0"/>
              <a:t>weak entity type.</a:t>
            </a:r>
          </a:p>
          <a:p>
            <a:pPr algn="just"/>
            <a:r>
              <a:rPr lang="en-IN" sz="2400" dirty="0"/>
              <a:t>A weak entity type normally has a partial key, which is the attribute that </a:t>
            </a:r>
            <a:r>
              <a:rPr lang="en-IN" sz="2400" dirty="0" smtClean="0"/>
              <a:t>can uniquely </a:t>
            </a:r>
            <a:r>
              <a:rPr lang="en-IN" sz="2400" dirty="0"/>
              <a:t>identify weak entities that are related to the same owner </a:t>
            </a:r>
            <a:r>
              <a:rPr lang="en-IN" sz="2400" dirty="0" smtClean="0"/>
              <a:t>entity.</a:t>
            </a:r>
            <a:endParaRPr lang="en-IN" sz="2400" dirty="0"/>
          </a:p>
        </p:txBody>
      </p:sp>
    </p:spTree>
    <p:extLst>
      <p:ext uri="{BB962C8B-B14F-4D97-AF65-F5344CB8AC3E}">
        <p14:creationId xmlns:p14="http://schemas.microsoft.com/office/powerpoint/2010/main" val="25157118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9657" t="21181" r="34606" b="6597"/>
          <a:stretch/>
        </p:blipFill>
        <p:spPr>
          <a:xfrm>
            <a:off x="2265904" y="28621"/>
            <a:ext cx="7660193" cy="6800758"/>
          </a:xfrm>
          <a:prstGeom prst="rect">
            <a:avLst/>
          </a:prstGeom>
        </p:spPr>
      </p:pic>
    </p:spTree>
    <p:extLst>
      <p:ext uri="{BB962C8B-B14F-4D97-AF65-F5344CB8AC3E}">
        <p14:creationId xmlns:p14="http://schemas.microsoft.com/office/powerpoint/2010/main" val="42432834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78758"/>
          </a:xfrm>
        </p:spPr>
        <p:txBody>
          <a:bodyPr>
            <a:normAutofit fontScale="90000"/>
          </a:bodyPr>
          <a:lstStyle/>
          <a:p>
            <a:pPr algn="ctr"/>
            <a:r>
              <a:rPr lang="en-IN" dirty="0" smtClean="0"/>
              <a:t>ER Diagram for </a:t>
            </a:r>
            <a:r>
              <a:rPr lang="en-IN" dirty="0"/>
              <a:t>BANK database</a:t>
            </a:r>
          </a:p>
        </p:txBody>
      </p:sp>
      <p:sp>
        <p:nvSpPr>
          <p:cNvPr id="3" name="Content Placeholder 2"/>
          <p:cNvSpPr>
            <a:spLocks noGrp="1"/>
          </p:cNvSpPr>
          <p:nvPr>
            <p:ph idx="1"/>
          </p:nvPr>
        </p:nvSpPr>
        <p:spPr>
          <a:xfrm>
            <a:off x="1251678" y="1306286"/>
            <a:ext cx="10178322" cy="4573307"/>
          </a:xfrm>
        </p:spPr>
        <p:txBody>
          <a:bodyPr>
            <a:noAutofit/>
          </a:bodyPr>
          <a:lstStyle/>
          <a:p>
            <a:pPr marL="0" indent="0" algn="just">
              <a:buNone/>
            </a:pPr>
            <a:r>
              <a:rPr lang="en-IN" sz="2600" dirty="0" smtClean="0"/>
              <a:t>Each </a:t>
            </a:r>
            <a:r>
              <a:rPr lang="en-IN" sz="2600" dirty="0"/>
              <a:t>bank can have multiple branches, and each branch can have </a:t>
            </a:r>
            <a:r>
              <a:rPr lang="en-IN" sz="2600" dirty="0" smtClean="0"/>
              <a:t>multiple accounts </a:t>
            </a:r>
            <a:r>
              <a:rPr lang="en-IN" sz="2600" dirty="0"/>
              <a:t>and loans</a:t>
            </a:r>
            <a:r>
              <a:rPr lang="en-IN" sz="2600" dirty="0" smtClean="0"/>
              <a:t>.</a:t>
            </a:r>
          </a:p>
          <a:p>
            <a:pPr algn="just"/>
            <a:r>
              <a:rPr lang="en-IN" sz="2600" dirty="0" smtClean="0"/>
              <a:t>Bank: Name, Code, Address</a:t>
            </a:r>
          </a:p>
          <a:p>
            <a:pPr algn="just"/>
            <a:r>
              <a:rPr lang="en-IN" sz="2600" dirty="0" smtClean="0"/>
              <a:t>Branches: Address and a branch Number</a:t>
            </a:r>
          </a:p>
          <a:p>
            <a:pPr algn="just"/>
            <a:r>
              <a:rPr lang="en-IN" sz="2600" dirty="0" smtClean="0"/>
              <a:t>Account: Account type, balance and account number</a:t>
            </a:r>
          </a:p>
          <a:p>
            <a:pPr algn="just"/>
            <a:r>
              <a:rPr lang="en-IN" sz="2600" dirty="0" smtClean="0"/>
              <a:t>Loan: Lan type, amount and loan number</a:t>
            </a:r>
          </a:p>
          <a:p>
            <a:pPr algn="just"/>
            <a:r>
              <a:rPr lang="en-IN" sz="2600" dirty="0" smtClean="0"/>
              <a:t>Customer: Name, address, Phone and unique number(SSN)</a:t>
            </a:r>
            <a:endParaRPr lang="en-IN" sz="2600" dirty="0"/>
          </a:p>
        </p:txBody>
      </p:sp>
    </p:spTree>
    <p:extLst>
      <p:ext uri="{BB962C8B-B14F-4D97-AF65-F5344CB8AC3E}">
        <p14:creationId xmlns:p14="http://schemas.microsoft.com/office/powerpoint/2010/main" val="1226363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7761" t="21972" r="34159" b="10567"/>
          <a:stretch/>
        </p:blipFill>
        <p:spPr>
          <a:xfrm>
            <a:off x="1802120" y="41717"/>
            <a:ext cx="8587761" cy="6774567"/>
          </a:xfrm>
          <a:prstGeom prst="rect">
            <a:avLst/>
          </a:prstGeom>
        </p:spPr>
      </p:pic>
    </p:spTree>
    <p:extLst>
      <p:ext uri="{BB962C8B-B14F-4D97-AF65-F5344CB8AC3E}">
        <p14:creationId xmlns:p14="http://schemas.microsoft.com/office/powerpoint/2010/main" val="37295548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6629" y="711200"/>
            <a:ext cx="10348685" cy="5892800"/>
          </a:xfrm>
        </p:spPr>
        <p:txBody>
          <a:bodyPr>
            <a:noAutofit/>
          </a:bodyPr>
          <a:lstStyle/>
          <a:p>
            <a:pPr marL="0" indent="0" algn="just">
              <a:buNone/>
            </a:pPr>
            <a:r>
              <a:rPr lang="en-IN" sz="2400" dirty="0"/>
              <a:t>a. List the strong (</a:t>
            </a:r>
            <a:r>
              <a:rPr lang="en-IN" sz="2400" dirty="0" smtClean="0"/>
              <a:t>non weak</a:t>
            </a:r>
            <a:r>
              <a:rPr lang="en-IN" sz="2400" dirty="0"/>
              <a:t>) entity types in the ER diagram.</a:t>
            </a:r>
          </a:p>
          <a:p>
            <a:pPr marL="0" indent="0" algn="just">
              <a:buNone/>
            </a:pPr>
            <a:r>
              <a:rPr lang="en-IN" sz="2400" dirty="0"/>
              <a:t>b. Is there a weak entity type? If so, give its name, partial key, and </a:t>
            </a:r>
            <a:r>
              <a:rPr lang="en-IN" sz="2400" dirty="0" smtClean="0"/>
              <a:t>identifying relationship</a:t>
            </a:r>
            <a:r>
              <a:rPr lang="en-IN" sz="2400" dirty="0"/>
              <a:t>.</a:t>
            </a:r>
          </a:p>
          <a:p>
            <a:pPr marL="0" indent="0" algn="just">
              <a:buNone/>
            </a:pPr>
            <a:r>
              <a:rPr lang="en-IN" sz="2400" dirty="0"/>
              <a:t>c. What constraints do the partial key and the identifying relationship of </a:t>
            </a:r>
            <a:r>
              <a:rPr lang="en-IN" sz="2400" dirty="0" smtClean="0"/>
              <a:t>the weak </a:t>
            </a:r>
            <a:r>
              <a:rPr lang="en-IN" sz="2400" dirty="0"/>
              <a:t>entity type specify in this diagram?</a:t>
            </a:r>
          </a:p>
          <a:p>
            <a:pPr marL="0" indent="0" algn="just">
              <a:buNone/>
            </a:pPr>
            <a:r>
              <a:rPr lang="en-IN" sz="2400" dirty="0"/>
              <a:t>d. List the names of all relationship types, and specify the (min, max) </a:t>
            </a:r>
            <a:r>
              <a:rPr lang="en-IN" sz="2400" dirty="0" smtClean="0"/>
              <a:t>constraint on </a:t>
            </a:r>
            <a:r>
              <a:rPr lang="en-IN" sz="2400" dirty="0"/>
              <a:t>each participation of an entity type in a relationship </a:t>
            </a:r>
            <a:r>
              <a:rPr lang="en-IN" sz="2400" dirty="0" smtClean="0"/>
              <a:t>type. Justify </a:t>
            </a:r>
            <a:r>
              <a:rPr lang="en-IN" sz="2400" dirty="0"/>
              <a:t>your choices.</a:t>
            </a:r>
          </a:p>
          <a:p>
            <a:pPr marL="0" indent="0" algn="just">
              <a:buNone/>
            </a:pPr>
            <a:r>
              <a:rPr lang="en-IN" sz="2400" dirty="0"/>
              <a:t>e. List concisely the user requirements that led to this ER schema design.</a:t>
            </a:r>
          </a:p>
          <a:p>
            <a:pPr marL="0" indent="0" algn="just">
              <a:buNone/>
            </a:pPr>
            <a:r>
              <a:rPr lang="en-IN" sz="2400" dirty="0"/>
              <a:t>f. Suppose that every customer must have at least one account but </a:t>
            </a:r>
            <a:r>
              <a:rPr lang="en-IN" sz="2400" dirty="0" smtClean="0"/>
              <a:t>is restricted </a:t>
            </a:r>
            <a:r>
              <a:rPr lang="en-IN" sz="2400" dirty="0"/>
              <a:t>to at most two loans at a time, and that a bank branch </a:t>
            </a:r>
            <a:r>
              <a:rPr lang="en-IN" sz="2400" dirty="0" smtClean="0"/>
              <a:t>cannot have </a:t>
            </a:r>
            <a:r>
              <a:rPr lang="en-IN" sz="2400" dirty="0"/>
              <a:t>more than 1,000 loans. How does this show up on the (min, </a:t>
            </a:r>
            <a:r>
              <a:rPr lang="en-IN" sz="2400" dirty="0" smtClean="0"/>
              <a:t>max) constraints</a:t>
            </a:r>
            <a:r>
              <a:rPr lang="en-IN" sz="2400" dirty="0"/>
              <a:t>?</a:t>
            </a:r>
          </a:p>
        </p:txBody>
      </p:sp>
    </p:spTree>
    <p:extLst>
      <p:ext uri="{BB962C8B-B14F-4D97-AF65-F5344CB8AC3E}">
        <p14:creationId xmlns:p14="http://schemas.microsoft.com/office/powerpoint/2010/main" val="35809681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u="sng" dirty="0"/>
              <a:t>Consider the ER schema for the MOVIES database</a:t>
            </a:r>
          </a:p>
        </p:txBody>
      </p:sp>
      <p:sp>
        <p:nvSpPr>
          <p:cNvPr id="3" name="Content Placeholder 2"/>
          <p:cNvSpPr>
            <a:spLocks noGrp="1"/>
          </p:cNvSpPr>
          <p:nvPr>
            <p:ph idx="1"/>
          </p:nvPr>
        </p:nvSpPr>
        <p:spPr>
          <a:xfrm>
            <a:off x="1251678" y="1669143"/>
            <a:ext cx="10178322" cy="4210449"/>
          </a:xfrm>
        </p:spPr>
        <p:txBody>
          <a:bodyPr>
            <a:normAutofit/>
          </a:bodyPr>
          <a:lstStyle/>
          <a:p>
            <a:pPr algn="just"/>
            <a:r>
              <a:rPr lang="en-IN" sz="2600" dirty="0"/>
              <a:t>Assume that MOVIES is a populated database. ACTOR is used as a </a:t>
            </a:r>
            <a:r>
              <a:rPr lang="en-IN" sz="2600" dirty="0" smtClean="0"/>
              <a:t>generic term </a:t>
            </a:r>
            <a:r>
              <a:rPr lang="en-IN" sz="2600" dirty="0"/>
              <a:t>and includes actresses. Given the constraints shown in the ER </a:t>
            </a:r>
            <a:r>
              <a:rPr lang="en-IN" sz="2600" dirty="0" smtClean="0"/>
              <a:t>schema, respond </a:t>
            </a:r>
            <a:r>
              <a:rPr lang="en-IN" sz="2600" dirty="0"/>
              <a:t>to the following statements with True, False, or Maybe. </a:t>
            </a:r>
            <a:endParaRPr lang="en-IN" sz="2600" dirty="0" smtClean="0"/>
          </a:p>
          <a:p>
            <a:pPr algn="just"/>
            <a:r>
              <a:rPr lang="en-IN" sz="2600" dirty="0" smtClean="0"/>
              <a:t>Assign a response </a:t>
            </a:r>
            <a:r>
              <a:rPr lang="en-IN" sz="2600" dirty="0"/>
              <a:t>of Maybe to statements that, while not explicitly shown to be </a:t>
            </a:r>
            <a:r>
              <a:rPr lang="en-IN" sz="2600" dirty="0" smtClean="0"/>
              <a:t>True, cannot </a:t>
            </a:r>
            <a:r>
              <a:rPr lang="en-IN" sz="2600" dirty="0"/>
              <a:t>be proven False based on the schema as shown. Justify each answer.</a:t>
            </a:r>
          </a:p>
        </p:txBody>
      </p:sp>
    </p:spTree>
    <p:extLst>
      <p:ext uri="{BB962C8B-B14F-4D97-AF65-F5344CB8AC3E}">
        <p14:creationId xmlns:p14="http://schemas.microsoft.com/office/powerpoint/2010/main" val="4974372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7762" t="29514" r="32375" b="9176"/>
          <a:stretch/>
        </p:blipFill>
        <p:spPr>
          <a:xfrm>
            <a:off x="1582056" y="217714"/>
            <a:ext cx="9274629" cy="6411320"/>
          </a:xfrm>
          <a:prstGeom prst="rect">
            <a:avLst/>
          </a:prstGeom>
        </p:spPr>
      </p:pic>
    </p:spTree>
    <p:extLst>
      <p:ext uri="{BB962C8B-B14F-4D97-AF65-F5344CB8AC3E}">
        <p14:creationId xmlns:p14="http://schemas.microsoft.com/office/powerpoint/2010/main" val="258693539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4057" y="319315"/>
            <a:ext cx="10624457" cy="6313714"/>
          </a:xfrm>
        </p:spPr>
        <p:txBody>
          <a:bodyPr>
            <a:noAutofit/>
          </a:bodyPr>
          <a:lstStyle/>
          <a:p>
            <a:pPr algn="just"/>
            <a:r>
              <a:rPr lang="en-IN" sz="2100" dirty="0" smtClean="0"/>
              <a:t>There </a:t>
            </a:r>
            <a:r>
              <a:rPr lang="en-IN" sz="2100" dirty="0"/>
              <a:t>are no actors in this database that have been in no movies.</a:t>
            </a:r>
          </a:p>
          <a:p>
            <a:pPr algn="just"/>
            <a:r>
              <a:rPr lang="en-IN" sz="2100" dirty="0" smtClean="0"/>
              <a:t>There </a:t>
            </a:r>
            <a:r>
              <a:rPr lang="en-IN" sz="2100" dirty="0"/>
              <a:t>are some actors who have acted in more than ten movies.</a:t>
            </a:r>
          </a:p>
          <a:p>
            <a:pPr algn="just"/>
            <a:r>
              <a:rPr lang="en-IN" sz="2100" dirty="0" smtClean="0"/>
              <a:t>Some </a:t>
            </a:r>
            <a:r>
              <a:rPr lang="en-IN" sz="2100" dirty="0"/>
              <a:t>actors have done a lead role in multiple movies.</a:t>
            </a:r>
          </a:p>
          <a:p>
            <a:pPr algn="just"/>
            <a:r>
              <a:rPr lang="en-IN" sz="2100" dirty="0" smtClean="0"/>
              <a:t>A </a:t>
            </a:r>
            <a:r>
              <a:rPr lang="en-IN" sz="2100" dirty="0"/>
              <a:t>movie can have only a maximum of two lead actors.</a:t>
            </a:r>
          </a:p>
          <a:p>
            <a:pPr algn="just"/>
            <a:r>
              <a:rPr lang="en-IN" sz="2100" dirty="0" smtClean="0"/>
              <a:t>Every </a:t>
            </a:r>
            <a:r>
              <a:rPr lang="en-IN" sz="2100" dirty="0"/>
              <a:t>director has been an actor in some movie.</a:t>
            </a:r>
          </a:p>
          <a:p>
            <a:pPr algn="just"/>
            <a:r>
              <a:rPr lang="en-IN" sz="2100" dirty="0" smtClean="0"/>
              <a:t>No </a:t>
            </a:r>
            <a:r>
              <a:rPr lang="en-IN" sz="2100" dirty="0"/>
              <a:t>producer has ever been an actor.</a:t>
            </a:r>
          </a:p>
          <a:p>
            <a:pPr algn="just"/>
            <a:r>
              <a:rPr lang="en-IN" sz="2100" dirty="0" smtClean="0"/>
              <a:t>A </a:t>
            </a:r>
            <a:r>
              <a:rPr lang="en-IN" sz="2100" dirty="0"/>
              <a:t>producer cannot be an actor in some other movie.</a:t>
            </a:r>
          </a:p>
          <a:p>
            <a:pPr algn="just"/>
            <a:r>
              <a:rPr lang="en-IN" sz="2100" dirty="0" smtClean="0"/>
              <a:t>There </a:t>
            </a:r>
            <a:r>
              <a:rPr lang="en-IN" sz="2100" dirty="0"/>
              <a:t>are movies with more than a dozen actors.</a:t>
            </a:r>
          </a:p>
          <a:p>
            <a:pPr algn="just"/>
            <a:r>
              <a:rPr lang="en-IN" sz="2100" dirty="0" smtClean="0"/>
              <a:t>Some </a:t>
            </a:r>
            <a:r>
              <a:rPr lang="en-IN" sz="2100" dirty="0"/>
              <a:t>producers have been a director as well.</a:t>
            </a:r>
          </a:p>
          <a:p>
            <a:pPr algn="just"/>
            <a:r>
              <a:rPr lang="en-IN" sz="2100" dirty="0" smtClean="0"/>
              <a:t>Most </a:t>
            </a:r>
            <a:r>
              <a:rPr lang="en-IN" sz="2100" dirty="0"/>
              <a:t>movies have one director and one producer.</a:t>
            </a:r>
          </a:p>
          <a:p>
            <a:pPr algn="just"/>
            <a:r>
              <a:rPr lang="en-IN" sz="2100" dirty="0" smtClean="0"/>
              <a:t>Some </a:t>
            </a:r>
            <a:r>
              <a:rPr lang="en-IN" sz="2100" dirty="0"/>
              <a:t>movies have one director but several producers.</a:t>
            </a:r>
          </a:p>
          <a:p>
            <a:pPr algn="just"/>
            <a:r>
              <a:rPr lang="en-IN" sz="2100" dirty="0" smtClean="0"/>
              <a:t>There </a:t>
            </a:r>
            <a:r>
              <a:rPr lang="en-IN" sz="2100" dirty="0"/>
              <a:t>are some actors who have done a lead role, directed a movie, </a:t>
            </a:r>
            <a:r>
              <a:rPr lang="en-IN" sz="2100" dirty="0" smtClean="0"/>
              <a:t>and produced </a:t>
            </a:r>
            <a:r>
              <a:rPr lang="en-IN" sz="2100" dirty="0"/>
              <a:t>some movie.</a:t>
            </a:r>
          </a:p>
          <a:p>
            <a:pPr algn="just"/>
            <a:r>
              <a:rPr lang="en-IN" sz="2100" dirty="0" smtClean="0"/>
              <a:t>No </a:t>
            </a:r>
            <a:r>
              <a:rPr lang="en-IN" sz="2100" dirty="0"/>
              <a:t>movie has a director who also acted in that movie.</a:t>
            </a:r>
          </a:p>
        </p:txBody>
      </p:sp>
    </p:spTree>
    <p:extLst>
      <p:ext uri="{BB962C8B-B14F-4D97-AF65-F5344CB8AC3E}">
        <p14:creationId xmlns:p14="http://schemas.microsoft.com/office/powerpoint/2010/main" val="1528865753"/>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171312"/>
      </a:dk2>
      <a:lt2>
        <a:srgbClr val="F7F0DF"/>
      </a:lt2>
      <a:accent1>
        <a:srgbClr val="53AE6E"/>
      </a:accent1>
      <a:accent2>
        <a:srgbClr val="326267"/>
      </a:accent2>
      <a:accent3>
        <a:srgbClr val="C5C34A"/>
      </a:accent3>
      <a:accent4>
        <a:srgbClr val="BF6546"/>
      </a:accent4>
      <a:accent5>
        <a:srgbClr val="81B5A8"/>
      </a:accent5>
      <a:accent6>
        <a:srgbClr val="636455"/>
      </a:accent6>
      <a:hlink>
        <a:srgbClr val="81B5A8"/>
      </a:hlink>
      <a:folHlink>
        <a:srgbClr val="936888"/>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A1A3E1F0-B5EF-49C5-810A-B1B32AEDDC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CB7F9B39126B44B7BD3B2FD680B58E" ma:contentTypeVersion="4" ma:contentTypeDescription="Create a new document." ma:contentTypeScope="" ma:versionID="cfb71a4ed6cb5697a229207ca667f33f">
  <xsd:schema xmlns:xsd="http://www.w3.org/2001/XMLSchema" xmlns:xs="http://www.w3.org/2001/XMLSchema" xmlns:p="http://schemas.microsoft.com/office/2006/metadata/properties" xmlns:ns2="a8a1418d-81b5-43f6-8c3e-510d562b22b4" targetNamespace="http://schemas.microsoft.com/office/2006/metadata/properties" ma:root="true" ma:fieldsID="9af2dc051158e4d48de8ec3ed50b4e4f" ns2:_="">
    <xsd:import namespace="a8a1418d-81b5-43f6-8c3e-510d562b22b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a1418d-81b5-43f6-8c3e-510d562b22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4A4740-BBFA-4B84-A1A0-681FE2593D76}"/>
</file>

<file path=customXml/itemProps2.xml><?xml version="1.0" encoding="utf-8"?>
<ds:datastoreItem xmlns:ds="http://schemas.openxmlformats.org/officeDocument/2006/customXml" ds:itemID="{83624FB7-E73E-442F-A5E1-92DD4374A418}"/>
</file>

<file path=customXml/itemProps3.xml><?xml version="1.0" encoding="utf-8"?>
<ds:datastoreItem xmlns:ds="http://schemas.openxmlformats.org/officeDocument/2006/customXml" ds:itemID="{38499014-0A67-47D3-9B4D-902FFDA52E18}"/>
</file>

<file path=docProps/app.xml><?xml version="1.0" encoding="utf-8"?>
<Properties xmlns="http://schemas.openxmlformats.org/officeDocument/2006/extended-properties" xmlns:vt="http://schemas.openxmlformats.org/officeDocument/2006/docPropsVTypes">
  <Template>Badge</Template>
  <TotalTime>471</TotalTime>
  <Words>1831</Words>
  <Application>Microsoft Office PowerPoint</Application>
  <PresentationFormat>Widescreen</PresentationFormat>
  <Paragraphs>128</Paragraphs>
  <Slides>31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Gill Sans MT</vt:lpstr>
      <vt:lpstr>Impact</vt:lpstr>
      <vt:lpstr>Badge</vt:lpstr>
      <vt:lpstr>ER Diagram</vt:lpstr>
      <vt:lpstr>A Sample Database Application</vt:lpstr>
      <vt:lpstr>PowerPoint Presentation</vt:lpstr>
      <vt:lpstr>PowerPoint Presentation</vt:lpstr>
      <vt:lpstr>ER model </vt:lpstr>
      <vt:lpstr>PowerPoint Presentation</vt:lpstr>
      <vt:lpstr>PowerPoint Presentation</vt:lpstr>
      <vt:lpstr>PowerPoint Presentation</vt:lpstr>
      <vt:lpstr>Entity Types and Entity Sets</vt:lpstr>
      <vt:lpstr>PowerPoint Presentation</vt:lpstr>
      <vt:lpstr>Key Attributes of an Entity Type</vt:lpstr>
      <vt:lpstr>Value Sets (Domains) of Attributes</vt:lpstr>
      <vt:lpstr>Relationship</vt:lpstr>
      <vt:lpstr>PowerPoint Presentation</vt:lpstr>
      <vt:lpstr>PowerPoint Presentation</vt:lpstr>
      <vt:lpstr>Role Names and Recursive Relationships</vt:lpstr>
      <vt:lpstr>PowerPoint Presentation</vt:lpstr>
      <vt:lpstr>Constraints on Binary Relationship Types</vt:lpstr>
      <vt:lpstr>Cardinality Ratios for Binary Relationships</vt:lpstr>
      <vt:lpstr>PowerPoint Presentation</vt:lpstr>
      <vt:lpstr>PowerPoint Presentation</vt:lpstr>
      <vt:lpstr>Participation Constraints</vt:lpstr>
      <vt:lpstr>PowerPoint Presentation</vt:lpstr>
      <vt:lpstr>Weak Entity Types</vt:lpstr>
      <vt:lpstr>PowerPoint Presentation</vt:lpstr>
      <vt:lpstr>ER Diagram for BANK database</vt:lpstr>
      <vt:lpstr>PowerPoint Presentation</vt:lpstr>
      <vt:lpstr>PowerPoint Presentation</vt:lpstr>
      <vt:lpstr>Consider the ER schema for the MOVIES database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 Diagram</dc:title>
  <dc:creator>JOY KEREN</dc:creator>
  <cp:lastModifiedBy>JOY KEREN</cp:lastModifiedBy>
  <cp:revision>37</cp:revision>
  <dcterms:created xsi:type="dcterms:W3CDTF">2020-06-28T16:19:12Z</dcterms:created>
  <dcterms:modified xsi:type="dcterms:W3CDTF">2020-07-02T04:44:32Z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0x01010061CB7F9B39126B44B7BD3B2FD680B58E</vt:lpwstr>
  </property>
</Properties>
</file>