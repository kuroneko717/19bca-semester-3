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C2DB-1582-49B3-AE17-B64510948399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777-546D-42F5-95F3-F28EA8E6B27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316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C2DB-1582-49B3-AE17-B64510948399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777-546D-42F5-95F3-F28EA8E6B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00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C2DB-1582-49B3-AE17-B64510948399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777-546D-42F5-95F3-F28EA8E6B27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3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C2DB-1582-49B3-AE17-B64510948399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777-546D-42F5-95F3-F28EA8E6B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47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C2DB-1582-49B3-AE17-B64510948399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777-546D-42F5-95F3-F28EA8E6B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288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C2DB-1582-49B3-AE17-B64510948399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777-546D-42F5-95F3-F28EA8E6B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759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C2DB-1582-49B3-AE17-B64510948399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777-546D-42F5-95F3-F28EA8E6B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5280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77DC2DB-1582-49B3-AE17-B64510948399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795777-546D-42F5-95F3-F28EA8E6B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2222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C2DB-1582-49B3-AE17-B64510948399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777-546D-42F5-95F3-F28EA8E6B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828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C2DB-1582-49B3-AE17-B64510948399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777-546D-42F5-95F3-F28EA8E6B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55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C2DB-1582-49B3-AE17-B64510948399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777-546D-42F5-95F3-F28EA8E6B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157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77DC2DB-1582-49B3-AE17-B64510948399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B795777-546D-42F5-95F3-F28EA8E6B27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555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9600" b="1" u="sng" dirty="0" smtClean="0"/>
              <a:t>Keys in DBMS</a:t>
            </a:r>
            <a:endParaRPr lang="en-IN" sz="96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680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What are Keys in DBMS?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/>
              <a:t>KEYS in DBMS is an attribute or set of attributes which helps you to identify a </a:t>
            </a:r>
            <a:r>
              <a:rPr lang="en-IN" sz="2400" dirty="0" smtClean="0"/>
              <a:t>  row(tuple</a:t>
            </a:r>
            <a:r>
              <a:rPr lang="en-IN" sz="2400" dirty="0"/>
              <a:t>) in a relation(table). </a:t>
            </a:r>
            <a:endParaRPr lang="en-IN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 smtClean="0"/>
              <a:t>They </a:t>
            </a:r>
            <a:r>
              <a:rPr lang="en-IN" sz="2400" dirty="0"/>
              <a:t>allow you to find the relation between two tables. </a:t>
            </a:r>
            <a:endParaRPr lang="en-IN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 smtClean="0"/>
              <a:t>Keys </a:t>
            </a:r>
            <a:r>
              <a:rPr lang="en-IN" sz="2400" dirty="0"/>
              <a:t>help you uniquely identify a row in a table by a combination of one or more columns in that table.</a:t>
            </a:r>
          </a:p>
        </p:txBody>
      </p:sp>
    </p:spTree>
    <p:extLst>
      <p:ext uri="{BB962C8B-B14F-4D97-AF65-F5344CB8AC3E}">
        <p14:creationId xmlns:p14="http://schemas.microsoft.com/office/powerpoint/2010/main" val="1756777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909" y="0"/>
            <a:ext cx="10058400" cy="633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58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89779"/>
              </p:ext>
            </p:extLst>
          </p:nvPr>
        </p:nvGraphicFramePr>
        <p:xfrm>
          <a:off x="1177636" y="1508134"/>
          <a:ext cx="10224655" cy="2286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20758">
                  <a:extLst>
                    <a:ext uri="{9D8B030D-6E8A-4147-A177-3AD203B41FA5}">
                      <a16:colId xmlns:a16="http://schemas.microsoft.com/office/drawing/2014/main" val="1489281001"/>
                    </a:ext>
                  </a:extLst>
                </a:gridCol>
                <a:gridCol w="1791863">
                  <a:extLst>
                    <a:ext uri="{9D8B030D-6E8A-4147-A177-3AD203B41FA5}">
                      <a16:colId xmlns:a16="http://schemas.microsoft.com/office/drawing/2014/main" val="2570777355"/>
                    </a:ext>
                  </a:extLst>
                </a:gridCol>
                <a:gridCol w="1330041">
                  <a:extLst>
                    <a:ext uri="{9D8B030D-6E8A-4147-A177-3AD203B41FA5}">
                      <a16:colId xmlns:a16="http://schemas.microsoft.com/office/drawing/2014/main" val="113619807"/>
                    </a:ext>
                  </a:extLst>
                </a:gridCol>
                <a:gridCol w="1588662">
                  <a:extLst>
                    <a:ext uri="{9D8B030D-6E8A-4147-A177-3AD203B41FA5}">
                      <a16:colId xmlns:a16="http://schemas.microsoft.com/office/drawing/2014/main" val="801194136"/>
                    </a:ext>
                  </a:extLst>
                </a:gridCol>
                <a:gridCol w="1459354">
                  <a:extLst>
                    <a:ext uri="{9D8B030D-6E8A-4147-A177-3AD203B41FA5}">
                      <a16:colId xmlns:a16="http://schemas.microsoft.com/office/drawing/2014/main" val="4033648867"/>
                    </a:ext>
                  </a:extLst>
                </a:gridCol>
                <a:gridCol w="2733977">
                  <a:extLst>
                    <a:ext uri="{9D8B030D-6E8A-4147-A177-3AD203B41FA5}">
                      <a16:colId xmlns:a16="http://schemas.microsoft.com/office/drawing/2014/main" val="4270758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Name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err="1" smtClean="0"/>
                        <a:t>BirthDate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Address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err="1" smtClean="0"/>
                        <a:t>Phone_No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Gender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err="1" smtClean="0"/>
                        <a:t>Customer_ID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904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ABC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12-10-1990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*******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XXXXX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F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1234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208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XYZ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03-08-1994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*******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XXXXX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M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5678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784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MNO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12-10-2000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/>
                        <a:t>*******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XXXXX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F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1023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813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ABC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26-03-2004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/>
                        <a:t>*******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XXXXX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F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9658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140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808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Why we need a Key?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/>
              <a:t>Keys help you to identify any row of data in a table. In a real-world application, a table could contain thousands of records. Moreover, the records could be duplicated. Keys ensure that you can uniquely identify a table record despite these challenges.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/>
              <a:t>Allows you to establish a relationship between and identify the relation between tables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/>
              <a:t>Help you to enforce identity and integrity in the relationship.</a:t>
            </a:r>
          </a:p>
        </p:txBody>
      </p:sp>
    </p:spTree>
    <p:extLst>
      <p:ext uri="{BB962C8B-B14F-4D97-AF65-F5344CB8AC3E}">
        <p14:creationId xmlns:p14="http://schemas.microsoft.com/office/powerpoint/2010/main" val="2481106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14400"/>
            <a:ext cx="10058400" cy="822960"/>
          </a:xfrm>
        </p:spPr>
        <p:txBody>
          <a:bodyPr/>
          <a:lstStyle/>
          <a:p>
            <a:r>
              <a:rPr lang="en-IN" b="1" u="sng" dirty="0"/>
              <a:t>Types of Keys in </a:t>
            </a:r>
            <a:r>
              <a:rPr lang="en-IN" b="1" u="sng" dirty="0" smtClean="0"/>
              <a:t>DBMS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Autofit/>
          </a:bodyPr>
          <a:lstStyle/>
          <a:p>
            <a:pPr algn="just"/>
            <a:r>
              <a:rPr lang="en-IN" sz="2400" dirty="0"/>
              <a:t>There are mainly seven different types of Keys in </a:t>
            </a:r>
            <a:r>
              <a:rPr lang="en-IN" sz="2400" dirty="0" smtClean="0"/>
              <a:t>DBMS</a:t>
            </a:r>
          </a:p>
          <a:p>
            <a:pPr marL="457200" indent="-457200" algn="just">
              <a:buAutoNum type="arabicPeriod"/>
            </a:pPr>
            <a:r>
              <a:rPr lang="en-IN" sz="2400" dirty="0" smtClean="0"/>
              <a:t>Super Key</a:t>
            </a:r>
          </a:p>
          <a:p>
            <a:pPr marL="457200" indent="-457200" algn="just">
              <a:buAutoNum type="arabicPeriod"/>
            </a:pPr>
            <a:r>
              <a:rPr lang="en-IN" sz="2400" dirty="0" smtClean="0"/>
              <a:t>Candidate key</a:t>
            </a:r>
          </a:p>
          <a:p>
            <a:pPr marL="457200" indent="-457200" algn="just">
              <a:buAutoNum type="arabicPeriod"/>
            </a:pPr>
            <a:r>
              <a:rPr lang="en-IN" sz="2400" dirty="0" smtClean="0"/>
              <a:t>Primary key</a:t>
            </a:r>
          </a:p>
          <a:p>
            <a:pPr marL="457200" indent="-457200" algn="just">
              <a:buAutoNum type="arabicPeriod"/>
            </a:pPr>
            <a:r>
              <a:rPr lang="en-IN" sz="2400" dirty="0" smtClean="0"/>
              <a:t>Alternative key</a:t>
            </a:r>
          </a:p>
          <a:p>
            <a:pPr marL="457200" indent="-457200" algn="just">
              <a:buAutoNum type="arabicPeriod"/>
            </a:pPr>
            <a:r>
              <a:rPr lang="en-IN" sz="2400" dirty="0" smtClean="0"/>
              <a:t>Foreign key</a:t>
            </a:r>
          </a:p>
          <a:p>
            <a:pPr marL="457200" indent="-457200" algn="just">
              <a:buAutoNum type="arabicPeriod"/>
            </a:pPr>
            <a:r>
              <a:rPr lang="en-IN" sz="2400" dirty="0" smtClean="0"/>
              <a:t>Composite key</a:t>
            </a:r>
          </a:p>
          <a:p>
            <a:pPr marL="457200" indent="-457200" algn="just">
              <a:buAutoNum type="arabicPeriod"/>
            </a:pPr>
            <a:r>
              <a:rPr lang="en-IN" sz="2400" dirty="0" smtClean="0"/>
              <a:t>Compound key</a:t>
            </a:r>
          </a:p>
          <a:p>
            <a:pPr marL="457200" indent="-457200" algn="just">
              <a:buAutoNum type="arabicPeriod"/>
            </a:pPr>
            <a:r>
              <a:rPr lang="en-IN" sz="2400" dirty="0" smtClean="0"/>
              <a:t>Surrogate key</a:t>
            </a:r>
          </a:p>
          <a:p>
            <a:pPr marL="457200" indent="-457200" algn="just">
              <a:buAutoNum type="arabicPeriod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49948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What is the Super </a:t>
            </a:r>
            <a:r>
              <a:rPr lang="en-IN" b="1" u="sng" dirty="0" smtClean="0"/>
              <a:t>key?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58084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A </a:t>
            </a:r>
            <a:r>
              <a:rPr lang="en-IN" sz="2400" dirty="0" smtClean="0"/>
              <a:t>super key </a:t>
            </a:r>
            <a:r>
              <a:rPr lang="en-IN" sz="2400" dirty="0"/>
              <a:t>is a group of single or multiple keys which identifies rows in a </a:t>
            </a:r>
            <a:r>
              <a:rPr lang="en-IN" sz="2400" dirty="0" smtClean="0"/>
              <a:t>table.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 smtClean="0"/>
              <a:t>A </a:t>
            </a:r>
            <a:r>
              <a:rPr lang="en-IN" sz="2400" dirty="0"/>
              <a:t>Super key may have additional attributes that are not needed for unique identification</a:t>
            </a:r>
            <a:r>
              <a:rPr lang="en-IN" sz="24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endParaRPr lang="en-IN" sz="2400" dirty="0" smtClean="0"/>
          </a:p>
          <a:p>
            <a:pPr>
              <a:buFont typeface="Wingdings" panose="05000000000000000000" pitchFamily="2" charset="2"/>
              <a:buChar char="Ø"/>
            </a:pPr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 err="1" smtClean="0"/>
              <a:t>Phone_No</a:t>
            </a:r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 err="1" smtClean="0"/>
              <a:t>Customer_ID</a:t>
            </a:r>
            <a:endParaRPr lang="en-IN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 err="1" smtClean="0"/>
              <a:t>Phone_No</a:t>
            </a:r>
            <a:r>
              <a:rPr lang="en-IN" sz="2400" dirty="0" smtClean="0"/>
              <a:t>, </a:t>
            </a:r>
            <a:r>
              <a:rPr lang="en-IN" sz="2400" dirty="0" err="1" smtClean="0"/>
              <a:t>Customer_ID</a:t>
            </a:r>
            <a:endParaRPr lang="en-IN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 err="1" smtClean="0"/>
              <a:t>Phone_Number</a:t>
            </a:r>
            <a:r>
              <a:rPr lang="en-IN" sz="2400" dirty="0" smtClean="0"/>
              <a:t>, Name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 err="1" smtClean="0"/>
              <a:t>Customer_ID</a:t>
            </a:r>
            <a:r>
              <a:rPr lang="en-IN" sz="2400" dirty="0" smtClean="0"/>
              <a:t>, Name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 err="1" smtClean="0"/>
              <a:t>Phone_No</a:t>
            </a:r>
            <a:r>
              <a:rPr lang="en-IN" sz="2400" dirty="0" smtClean="0"/>
              <a:t>, </a:t>
            </a:r>
            <a:r>
              <a:rPr lang="en-IN" sz="2400" dirty="0" err="1" smtClean="0"/>
              <a:t>Customer_ID</a:t>
            </a:r>
            <a:r>
              <a:rPr lang="en-IN" sz="2400" dirty="0" smtClean="0"/>
              <a:t> and Name</a:t>
            </a:r>
            <a:endParaRPr lang="en-IN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589310"/>
              </p:ext>
            </p:extLst>
          </p:nvPr>
        </p:nvGraphicFramePr>
        <p:xfrm>
          <a:off x="1679174" y="2871499"/>
          <a:ext cx="857319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07433">
                  <a:extLst>
                    <a:ext uri="{9D8B030D-6E8A-4147-A177-3AD203B41FA5}">
                      <a16:colId xmlns:a16="http://schemas.microsoft.com/office/drawing/2014/main" val="2618866260"/>
                    </a:ext>
                  </a:extLst>
                </a:gridCol>
                <a:gridCol w="1502445">
                  <a:extLst>
                    <a:ext uri="{9D8B030D-6E8A-4147-A177-3AD203B41FA5}">
                      <a16:colId xmlns:a16="http://schemas.microsoft.com/office/drawing/2014/main" val="246377882"/>
                    </a:ext>
                  </a:extLst>
                </a:gridCol>
                <a:gridCol w="1115215">
                  <a:extLst>
                    <a:ext uri="{9D8B030D-6E8A-4147-A177-3AD203B41FA5}">
                      <a16:colId xmlns:a16="http://schemas.microsoft.com/office/drawing/2014/main" val="1307436497"/>
                    </a:ext>
                  </a:extLst>
                </a:gridCol>
                <a:gridCol w="1332064">
                  <a:extLst>
                    <a:ext uri="{9D8B030D-6E8A-4147-A177-3AD203B41FA5}">
                      <a16:colId xmlns:a16="http://schemas.microsoft.com/office/drawing/2014/main" val="516068493"/>
                    </a:ext>
                  </a:extLst>
                </a:gridCol>
                <a:gridCol w="1223642">
                  <a:extLst>
                    <a:ext uri="{9D8B030D-6E8A-4147-A177-3AD203B41FA5}">
                      <a16:colId xmlns:a16="http://schemas.microsoft.com/office/drawing/2014/main" val="3257008374"/>
                    </a:ext>
                  </a:extLst>
                </a:gridCol>
                <a:gridCol w="2292391">
                  <a:extLst>
                    <a:ext uri="{9D8B030D-6E8A-4147-A177-3AD203B41FA5}">
                      <a16:colId xmlns:a16="http://schemas.microsoft.com/office/drawing/2014/main" val="4029375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err="1" smtClean="0"/>
                        <a:t>BirthDate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Address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err="1" smtClean="0"/>
                        <a:t>Phone_No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Gender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err="1" smtClean="0"/>
                        <a:t>Customer_ID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024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399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21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What is a Candidate Key?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A set </a:t>
            </a:r>
            <a:r>
              <a:rPr lang="en-IN" dirty="0"/>
              <a:t>of attributes that uniquely identify tuples in a table. </a:t>
            </a:r>
            <a:endParaRPr lang="en-IN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Candidate </a:t>
            </a:r>
            <a:r>
              <a:rPr lang="en-IN" dirty="0"/>
              <a:t>Key is a super key with no repeated attributes. </a:t>
            </a:r>
            <a:endParaRPr lang="en-IN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The </a:t>
            </a:r>
            <a:r>
              <a:rPr lang="en-IN" dirty="0"/>
              <a:t>Primary key should be selected from the candidate keys. Every table must have at least a single candidate key. A table can </a:t>
            </a:r>
            <a:r>
              <a:rPr lang="en-IN" dirty="0" smtClean="0"/>
              <a:t>have </a:t>
            </a:r>
            <a:r>
              <a:rPr lang="en-IN" dirty="0"/>
              <a:t>multiple candidate keys but only a single primary key</a:t>
            </a:r>
            <a:r>
              <a:rPr lang="en-IN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It must contain unique values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Must </a:t>
            </a:r>
            <a:r>
              <a:rPr lang="en-IN" dirty="0"/>
              <a:t>not contain null values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It should contain minimum fields to ensure uniqueness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Uniquely identify each record in a table</a:t>
            </a:r>
          </a:p>
        </p:txBody>
      </p:sp>
    </p:spTree>
    <p:extLst>
      <p:ext uri="{BB962C8B-B14F-4D97-AF65-F5344CB8AC3E}">
        <p14:creationId xmlns:p14="http://schemas.microsoft.com/office/powerpoint/2010/main" val="196108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What is a Primary </a:t>
            </a:r>
            <a:r>
              <a:rPr lang="en-IN" b="1" u="sng" dirty="0" smtClean="0"/>
              <a:t>Key?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PRIMARY KEY is a column or group of columns in a table that uniquely identify every row in that table. </a:t>
            </a:r>
            <a:endParaRPr lang="en-IN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The </a:t>
            </a:r>
            <a:r>
              <a:rPr lang="en-IN" dirty="0"/>
              <a:t>Primary Key can't be a duplicate </a:t>
            </a:r>
            <a:r>
              <a:rPr lang="en-IN" dirty="0" smtClean="0"/>
              <a:t>i.e. the </a:t>
            </a:r>
            <a:r>
              <a:rPr lang="en-IN" dirty="0"/>
              <a:t>same value can't appear more than once in the table. </a:t>
            </a:r>
            <a:endParaRPr lang="en-IN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A </a:t>
            </a:r>
            <a:r>
              <a:rPr lang="en-IN" dirty="0"/>
              <a:t>table cannot have more than one primary key</a:t>
            </a:r>
            <a:r>
              <a:rPr lang="en-IN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Two rows can't have the same primary key value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It must for every row to have a primary key value.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The primary key field cannot be null.</a:t>
            </a:r>
          </a:p>
        </p:txBody>
      </p:sp>
    </p:spTree>
    <p:extLst>
      <p:ext uri="{BB962C8B-B14F-4D97-AF65-F5344CB8AC3E}">
        <p14:creationId xmlns:p14="http://schemas.microsoft.com/office/powerpoint/2010/main" val="129356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What is the Alternate key?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A table can have multiple choices for a primary key but only one can be set as the primary key. </a:t>
            </a:r>
            <a:endParaRPr lang="en-IN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 smtClean="0"/>
              <a:t>All </a:t>
            </a:r>
            <a:r>
              <a:rPr lang="en-IN" sz="2400" dirty="0"/>
              <a:t>the keys which are not primary key are called an Alternate Key</a:t>
            </a:r>
            <a:r>
              <a:rPr lang="en-IN" sz="24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411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What is the Foreign key?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FOREIGN KEY is a column that creates a relationship between two tables. </a:t>
            </a:r>
            <a:endParaRPr lang="en-IN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Primary key of another table acts as a candidate key in another table is called as foreign key. 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020370"/>
              </p:ext>
            </p:extLst>
          </p:nvPr>
        </p:nvGraphicFramePr>
        <p:xfrm>
          <a:off x="1679174" y="2871499"/>
          <a:ext cx="857319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07433">
                  <a:extLst>
                    <a:ext uri="{9D8B030D-6E8A-4147-A177-3AD203B41FA5}">
                      <a16:colId xmlns:a16="http://schemas.microsoft.com/office/drawing/2014/main" val="2618866260"/>
                    </a:ext>
                  </a:extLst>
                </a:gridCol>
                <a:gridCol w="1502445">
                  <a:extLst>
                    <a:ext uri="{9D8B030D-6E8A-4147-A177-3AD203B41FA5}">
                      <a16:colId xmlns:a16="http://schemas.microsoft.com/office/drawing/2014/main" val="246377882"/>
                    </a:ext>
                  </a:extLst>
                </a:gridCol>
                <a:gridCol w="1115215">
                  <a:extLst>
                    <a:ext uri="{9D8B030D-6E8A-4147-A177-3AD203B41FA5}">
                      <a16:colId xmlns:a16="http://schemas.microsoft.com/office/drawing/2014/main" val="1307436497"/>
                    </a:ext>
                  </a:extLst>
                </a:gridCol>
                <a:gridCol w="1332064">
                  <a:extLst>
                    <a:ext uri="{9D8B030D-6E8A-4147-A177-3AD203B41FA5}">
                      <a16:colId xmlns:a16="http://schemas.microsoft.com/office/drawing/2014/main" val="516068493"/>
                    </a:ext>
                  </a:extLst>
                </a:gridCol>
                <a:gridCol w="1223642">
                  <a:extLst>
                    <a:ext uri="{9D8B030D-6E8A-4147-A177-3AD203B41FA5}">
                      <a16:colId xmlns:a16="http://schemas.microsoft.com/office/drawing/2014/main" val="3257008374"/>
                    </a:ext>
                  </a:extLst>
                </a:gridCol>
                <a:gridCol w="2292391">
                  <a:extLst>
                    <a:ext uri="{9D8B030D-6E8A-4147-A177-3AD203B41FA5}">
                      <a16:colId xmlns:a16="http://schemas.microsoft.com/office/drawing/2014/main" val="4029375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err="1" smtClean="0"/>
                        <a:t>BirthDate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Address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err="1" smtClean="0"/>
                        <a:t>Phone_No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Gender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err="1" smtClean="0"/>
                        <a:t>Customer_ID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024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39913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859811"/>
              </p:ext>
            </p:extLst>
          </p:nvPr>
        </p:nvGraphicFramePr>
        <p:xfrm>
          <a:off x="1679174" y="3999456"/>
          <a:ext cx="847621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507371">
                  <a:extLst>
                    <a:ext uri="{9D8B030D-6E8A-4147-A177-3AD203B41FA5}">
                      <a16:colId xmlns:a16="http://schemas.microsoft.com/office/drawing/2014/main" val="2618866260"/>
                    </a:ext>
                  </a:extLst>
                </a:gridCol>
                <a:gridCol w="2313710">
                  <a:extLst>
                    <a:ext uri="{9D8B030D-6E8A-4147-A177-3AD203B41FA5}">
                      <a16:colId xmlns:a16="http://schemas.microsoft.com/office/drawing/2014/main" val="246377882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1307436497"/>
                    </a:ext>
                  </a:extLst>
                </a:gridCol>
                <a:gridCol w="1454728">
                  <a:extLst>
                    <a:ext uri="{9D8B030D-6E8A-4147-A177-3AD203B41FA5}">
                      <a16:colId xmlns:a16="http://schemas.microsoft.com/office/drawing/2014/main" val="516068493"/>
                    </a:ext>
                  </a:extLst>
                </a:gridCol>
                <a:gridCol w="1704111">
                  <a:extLst>
                    <a:ext uri="{9D8B030D-6E8A-4147-A177-3AD203B41FA5}">
                      <a16:colId xmlns:a16="http://schemas.microsoft.com/office/drawing/2014/main" val="4029375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Account</a:t>
                      </a:r>
                      <a:r>
                        <a:rPr lang="en-IN" sz="1800" baseline="0" dirty="0" smtClean="0"/>
                        <a:t> No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Account</a:t>
                      </a:r>
                      <a:r>
                        <a:rPr lang="en-IN" sz="1800" baseline="0" dirty="0" smtClean="0"/>
                        <a:t> Holder 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Account</a:t>
                      </a:r>
                      <a:r>
                        <a:rPr lang="en-IN" sz="1800" baseline="0" dirty="0" smtClean="0"/>
                        <a:t> Type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Min</a:t>
                      </a:r>
                      <a:r>
                        <a:rPr lang="en-IN" sz="1800" baseline="0" dirty="0" smtClean="0"/>
                        <a:t> Balance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err="1" smtClean="0"/>
                        <a:t>Customer_ID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024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399135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7827819" y="2763125"/>
            <a:ext cx="1814945" cy="63123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8340439" y="3847056"/>
            <a:ext cx="1814945" cy="63123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1371601" y="3857414"/>
            <a:ext cx="1814945" cy="63123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/>
          <p:cNvCxnSpPr>
            <a:stCxn id="6" idx="6"/>
          </p:cNvCxnSpPr>
          <p:nvPr/>
        </p:nvCxnSpPr>
        <p:spPr>
          <a:xfrm flipV="1">
            <a:off x="9642764" y="3078744"/>
            <a:ext cx="85898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01745" y="2894078"/>
            <a:ext cx="1454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Primary Key</a:t>
            </a:r>
            <a:endParaRPr lang="en-IN" dirty="0"/>
          </a:p>
        </p:txBody>
      </p:sp>
      <p:cxnSp>
        <p:nvCxnSpPr>
          <p:cNvPr id="12" name="Straight Arrow Connector 11"/>
          <p:cNvCxnSpPr>
            <a:stCxn id="7" idx="6"/>
          </p:cNvCxnSpPr>
          <p:nvPr/>
        </p:nvCxnSpPr>
        <p:spPr>
          <a:xfrm>
            <a:off x="10155384" y="4162676"/>
            <a:ext cx="775851" cy="133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84131" y="3988367"/>
            <a:ext cx="1454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Foreign Key</a:t>
            </a:r>
            <a:endParaRPr lang="en-IN" dirty="0"/>
          </a:p>
        </p:txBody>
      </p:sp>
      <p:cxnSp>
        <p:nvCxnSpPr>
          <p:cNvPr id="16" name="Straight Arrow Connector 15"/>
          <p:cNvCxnSpPr>
            <a:stCxn id="8" idx="4"/>
          </p:cNvCxnSpPr>
          <p:nvPr/>
        </p:nvCxnSpPr>
        <p:spPr>
          <a:xfrm flipH="1">
            <a:off x="2279073" y="4488653"/>
            <a:ext cx="1" cy="498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54483" y="5045667"/>
            <a:ext cx="1781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Primary Key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957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/>
      <p:bldP spid="13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701637" y="471055"/>
            <a:ext cx="6650182" cy="52785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/>
          <p:cNvSpPr/>
          <p:nvPr/>
        </p:nvSpPr>
        <p:spPr>
          <a:xfrm>
            <a:off x="3567546" y="1340428"/>
            <a:ext cx="5146963" cy="3706090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/>
          <p:cNvSpPr/>
          <p:nvPr/>
        </p:nvSpPr>
        <p:spPr>
          <a:xfrm>
            <a:off x="4239489" y="2181668"/>
            <a:ext cx="1648693" cy="239683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6359234" y="2181668"/>
            <a:ext cx="1648693" cy="239683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4738252" y="1534074"/>
            <a:ext cx="3532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CANDIDATE KEY</a:t>
            </a:r>
            <a:endParaRPr lang="en-IN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063836" y="886480"/>
            <a:ext cx="3532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SUPER KEY</a:t>
            </a:r>
            <a:endParaRPr lang="en-IN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239490" y="2898534"/>
            <a:ext cx="16486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/>
              <a:t>PRIMARY KEY</a:t>
            </a:r>
            <a:endParaRPr lang="en-IN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227616" y="2926667"/>
            <a:ext cx="19119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/>
              <a:t>ALTERNATE KEY</a:t>
            </a:r>
            <a:endParaRPr lang="en-IN" sz="2800" b="1" dirty="0"/>
          </a:p>
        </p:txBody>
      </p:sp>
      <p:sp>
        <p:nvSpPr>
          <p:cNvPr id="10" name="Oval 9"/>
          <p:cNvSpPr/>
          <p:nvPr/>
        </p:nvSpPr>
        <p:spPr>
          <a:xfrm>
            <a:off x="4710540" y="3797867"/>
            <a:ext cx="2992585" cy="101744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101936" y="4102477"/>
            <a:ext cx="2279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/>
              <a:t>FOREIGN KEY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36557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 animBg="1"/>
      <p:bldP spid="11" grpId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CB7F9B39126B44B7BD3B2FD680B58E" ma:contentTypeVersion="9" ma:contentTypeDescription="Create a new document." ma:contentTypeScope="" ma:versionID="695fcc8670f16edd2d6e06ac62cfa7aa">
  <xsd:schema xmlns:xsd="http://www.w3.org/2001/XMLSchema" xmlns:xs="http://www.w3.org/2001/XMLSchema" xmlns:p="http://schemas.microsoft.com/office/2006/metadata/properties" xmlns:ns2="a8a1418d-81b5-43f6-8c3e-510d562b22b4" targetNamespace="http://schemas.microsoft.com/office/2006/metadata/properties" ma:root="true" ma:fieldsID="0b8bb81026c94debfa35635f867341d7" ns2:_="">
    <xsd:import namespace="a8a1418d-81b5-43f6-8c3e-510d562b22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a1418d-81b5-43f6-8c3e-510d562b22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E68756-4328-48F1-8ED6-F9F471E45D27}"/>
</file>

<file path=customXml/itemProps2.xml><?xml version="1.0" encoding="utf-8"?>
<ds:datastoreItem xmlns:ds="http://schemas.openxmlformats.org/officeDocument/2006/customXml" ds:itemID="{DD6EDF17-8EAE-40CF-BF4C-063FB5747325}"/>
</file>

<file path=customXml/itemProps3.xml><?xml version="1.0" encoding="utf-8"?>
<ds:datastoreItem xmlns:ds="http://schemas.openxmlformats.org/officeDocument/2006/customXml" ds:itemID="{99F21D6A-1B53-48B1-B192-00C87FCB44DE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101</TotalTime>
  <Words>552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Calibri Light</vt:lpstr>
      <vt:lpstr>Wingdings</vt:lpstr>
      <vt:lpstr>Retrospect</vt:lpstr>
      <vt:lpstr>Keys in DBMS</vt:lpstr>
      <vt:lpstr>What are Keys in DBMS?</vt:lpstr>
      <vt:lpstr>PowerPoint Presentation</vt:lpstr>
      <vt:lpstr>PowerPoint Presentation</vt:lpstr>
      <vt:lpstr>Why we need a Key?</vt:lpstr>
      <vt:lpstr>Types of Keys in DBMS</vt:lpstr>
      <vt:lpstr>What is the Super key?</vt:lpstr>
      <vt:lpstr>What is a Candidate Key?</vt:lpstr>
      <vt:lpstr>What is a Primary Key?</vt:lpstr>
      <vt:lpstr>What is the Alternate key?</vt:lpstr>
      <vt:lpstr>What is the Foreign key?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Keys in DBMS</dc:title>
  <dc:creator>JOY KEREN</dc:creator>
  <cp:lastModifiedBy>JOY KEREN</cp:lastModifiedBy>
  <cp:revision>6</cp:revision>
  <dcterms:created xsi:type="dcterms:W3CDTF">2020-07-12T08:30:59Z</dcterms:created>
  <dcterms:modified xsi:type="dcterms:W3CDTF">2020-07-12T10:12:25Z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0x01010061CB7F9B39126B44B7BD3B2FD680B58E</vt:lpwstr>
  </property>
</Properties>
</file>