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3.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3" r:id="rId1"/>
  </p:sldMasterIdLst>
  <p:sldIdLst>
    <p:sldId id="257" r:id="rId2"/>
    <p:sldId id="256" r:id="rId3"/>
    <p:sldId id="259" r:id="rId4"/>
    <p:sldId id="258" r:id="rId5"/>
    <p:sldId id="262" r:id="rId6"/>
    <p:sldId id="260" r:id="rId7"/>
    <p:sldId id="263" r:id="rId8"/>
    <p:sldId id="261"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9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942BCED-7C69-4BDD-A8D6-2D646B36F90F}" type="datetimeFigureOut">
              <a:rPr lang="en-IN" smtClean="0"/>
              <a:t>20-08-2020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rIns="45720"/>
          <a:lstStyle/>
          <a:p>
            <a:fld id="{0B927274-9D50-4547-8035-01D2EE95B02A}" type="slidenum">
              <a:rPr lang="en-IN" smtClean="0"/>
              <a:t>‹#›</a:t>
            </a:fld>
            <a:endParaRPr lang="en-IN"/>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909111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42BCED-7C69-4BDD-A8D6-2D646B36F90F}" type="datetimeFigureOut">
              <a:rPr lang="en-IN" smtClean="0"/>
              <a:t>20-08-2020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927274-9D50-4547-8035-01D2EE95B02A}" type="slidenum">
              <a:rPr lang="en-IN" smtClean="0"/>
              <a:t>‹#›</a:t>
            </a:fld>
            <a:endParaRPr lang="en-IN"/>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197533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942BCED-7C69-4BDD-A8D6-2D646B36F90F}" type="datetimeFigureOut">
              <a:rPr lang="en-IN" smtClean="0"/>
              <a:t>20-08-2020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927274-9D50-4547-8035-01D2EE95B02A}" type="slidenum">
              <a:rPr lang="en-IN" smtClean="0"/>
              <a:t>‹#›</a:t>
            </a:fld>
            <a:endParaRPr lang="en-IN"/>
          </a:p>
        </p:txBody>
      </p:sp>
    </p:spTree>
    <p:extLst>
      <p:ext uri="{BB962C8B-B14F-4D97-AF65-F5344CB8AC3E}">
        <p14:creationId xmlns:p14="http://schemas.microsoft.com/office/powerpoint/2010/main" val="475415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942BCED-7C69-4BDD-A8D6-2D646B36F90F}" type="datetimeFigureOut">
              <a:rPr lang="en-IN" smtClean="0"/>
              <a:t>20-08-2020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927274-9D50-4547-8035-01D2EE95B02A}" type="slidenum">
              <a:rPr lang="en-IN" smtClean="0"/>
              <a:t>‹#›</a:t>
            </a:fld>
            <a:endParaRPr lang="en-IN"/>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755157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942BCED-7C69-4BDD-A8D6-2D646B36F90F}" type="datetimeFigureOut">
              <a:rPr lang="en-IN" smtClean="0"/>
              <a:t>20-08-2020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B927274-9D50-4547-8035-01D2EE95B02A}" type="slidenum">
              <a:rPr lang="en-IN" smtClean="0"/>
              <a:t>‹#›</a:t>
            </a:fld>
            <a:endParaRPr lang="en-IN"/>
          </a:p>
        </p:txBody>
      </p:sp>
    </p:spTree>
    <p:extLst>
      <p:ext uri="{BB962C8B-B14F-4D97-AF65-F5344CB8AC3E}">
        <p14:creationId xmlns:p14="http://schemas.microsoft.com/office/powerpoint/2010/main" val="56589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942BCED-7C69-4BDD-A8D6-2D646B36F90F}" type="datetimeFigureOut">
              <a:rPr lang="en-IN" smtClean="0"/>
              <a:t>20-08-2020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B927274-9D50-4547-8035-01D2EE95B02A}" type="slidenum">
              <a:rPr lang="en-IN" smtClean="0"/>
              <a:t>‹#›</a:t>
            </a:fld>
            <a:endParaRPr lang="en-IN"/>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578000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7942BCED-7C69-4BDD-A8D6-2D646B36F90F}" type="datetimeFigureOut">
              <a:rPr lang="en-IN" smtClean="0"/>
              <a:t>20-08-2020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B927274-9D50-4547-8035-01D2EE95B02A}" type="slidenum">
              <a:rPr lang="en-IN" smtClean="0"/>
              <a:t>‹#›</a:t>
            </a:fld>
            <a:endParaRPr lang="en-IN"/>
          </a:p>
        </p:txBody>
      </p:sp>
    </p:spTree>
    <p:extLst>
      <p:ext uri="{BB962C8B-B14F-4D97-AF65-F5344CB8AC3E}">
        <p14:creationId xmlns:p14="http://schemas.microsoft.com/office/powerpoint/2010/main" val="2590102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42BCED-7C69-4BDD-A8D6-2D646B36F90F}" type="datetimeFigureOut">
              <a:rPr lang="en-IN" smtClean="0"/>
              <a:t>20-08-2020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927274-9D50-4547-8035-01D2EE95B02A}" type="slidenum">
              <a:rPr lang="en-IN" smtClean="0"/>
              <a:t>‹#›</a:t>
            </a:fld>
            <a:endParaRPr lang="en-IN"/>
          </a:p>
        </p:txBody>
      </p:sp>
    </p:spTree>
    <p:extLst>
      <p:ext uri="{BB962C8B-B14F-4D97-AF65-F5344CB8AC3E}">
        <p14:creationId xmlns:p14="http://schemas.microsoft.com/office/powerpoint/2010/main" val="2645062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42BCED-7C69-4BDD-A8D6-2D646B36F90F}" type="datetimeFigureOut">
              <a:rPr lang="en-IN" smtClean="0"/>
              <a:t>20-08-2020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927274-9D50-4547-8035-01D2EE95B02A}" type="slidenum">
              <a:rPr lang="en-IN" smtClean="0"/>
              <a:t>‹#›</a:t>
            </a:fld>
            <a:endParaRPr lang="en-IN"/>
          </a:p>
        </p:txBody>
      </p:sp>
    </p:spTree>
    <p:extLst>
      <p:ext uri="{BB962C8B-B14F-4D97-AF65-F5344CB8AC3E}">
        <p14:creationId xmlns:p14="http://schemas.microsoft.com/office/powerpoint/2010/main" val="2556016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42BCED-7C69-4BDD-A8D6-2D646B36F90F}" type="datetimeFigureOut">
              <a:rPr lang="en-IN" smtClean="0"/>
              <a:t>20-08-2020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927274-9D50-4547-8035-01D2EE95B02A}" type="slidenum">
              <a:rPr lang="en-IN" smtClean="0"/>
              <a:t>‹#›</a:t>
            </a:fld>
            <a:endParaRPr lang="en-IN"/>
          </a:p>
        </p:txBody>
      </p:sp>
    </p:spTree>
    <p:extLst>
      <p:ext uri="{BB962C8B-B14F-4D97-AF65-F5344CB8AC3E}">
        <p14:creationId xmlns:p14="http://schemas.microsoft.com/office/powerpoint/2010/main" val="1254868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42BCED-7C69-4BDD-A8D6-2D646B36F90F}" type="datetimeFigureOut">
              <a:rPr lang="en-IN" smtClean="0"/>
              <a:t>20-08-2020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927274-9D50-4547-8035-01D2EE95B02A}" type="slidenum">
              <a:rPr lang="en-IN" smtClean="0"/>
              <a:t>‹#›</a:t>
            </a:fld>
            <a:endParaRPr lang="en-IN"/>
          </a:p>
        </p:txBody>
      </p:sp>
    </p:spTree>
    <p:extLst>
      <p:ext uri="{BB962C8B-B14F-4D97-AF65-F5344CB8AC3E}">
        <p14:creationId xmlns:p14="http://schemas.microsoft.com/office/powerpoint/2010/main" val="2163525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Eigth level</a:t>
            </a:r>
          </a:p>
          <a:p>
            <a:pPr lvl="8"/>
            <a:r>
              <a:rPr lang="en-US" dirty="0"/>
              <a:t>Ninth level</a:t>
            </a:r>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7942BCED-7C69-4BDD-A8D6-2D646B36F90F}" type="datetimeFigureOut">
              <a:rPr lang="en-IN" smtClean="0"/>
              <a:t>20-08-2020</a:t>
            </a:fld>
            <a:endParaRPr lang="en-IN"/>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0B927274-9D50-4547-8035-01D2EE95B02A}" type="slidenum">
              <a:rPr lang="en-IN" smtClean="0"/>
              <a:t>‹#›</a:t>
            </a:fld>
            <a:endParaRPr lang="en-IN"/>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74553028"/>
      </p:ext>
    </p:extLst>
  </p:cSld>
  <p:clrMap bg1="dk1" tx1="lt1" bg2="dk2" tx2="lt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13709" y="3366654"/>
            <a:ext cx="6345382" cy="2330903"/>
          </a:xfrm>
        </p:spPr>
        <p:txBody>
          <a:bodyPr>
            <a:normAutofit/>
          </a:bodyPr>
          <a:lstStyle/>
          <a:p>
            <a:r>
              <a:rPr lang="en-IN" sz="7200" b="1" u="sng" dirty="0" smtClean="0"/>
              <a:t>Attribute Data Types</a:t>
            </a:r>
            <a:endParaRPr lang="en-IN" sz="7200" b="1" u="sng" dirty="0"/>
          </a:p>
        </p:txBody>
      </p:sp>
    </p:spTree>
    <p:extLst>
      <p:ext uri="{BB962C8B-B14F-4D97-AF65-F5344CB8AC3E}">
        <p14:creationId xmlns:p14="http://schemas.microsoft.com/office/powerpoint/2010/main" val="2250377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82981" y="748145"/>
            <a:ext cx="8728363" cy="5735782"/>
          </a:xfrm>
        </p:spPr>
        <p:txBody>
          <a:bodyPr>
            <a:normAutofit/>
          </a:bodyPr>
          <a:lstStyle/>
          <a:p>
            <a:pPr marL="342900" indent="-342900" algn="just"/>
            <a:r>
              <a:rPr lang="en-IN" sz="2200" dirty="0"/>
              <a:t>SQL Data Types define the type of value that can be stored in a table column. For example, if we want a column to store only integer values, then we can define it’s data type as </a:t>
            </a:r>
            <a:r>
              <a:rPr lang="en-IN" sz="2200" dirty="0" smtClean="0"/>
              <a:t>int.</a:t>
            </a:r>
          </a:p>
          <a:p>
            <a:pPr marL="342900" indent="-342900" algn="just"/>
            <a:r>
              <a:rPr lang="en-IN" sz="2200" dirty="0" smtClean="0"/>
              <a:t>The basic data types available for attributes include </a:t>
            </a:r>
          </a:p>
          <a:p>
            <a:pPr lvl="1" algn="just"/>
            <a:r>
              <a:rPr lang="en-IN" sz="2200" dirty="0" smtClean="0"/>
              <a:t>numeric, </a:t>
            </a:r>
          </a:p>
          <a:p>
            <a:pPr lvl="1" algn="just"/>
            <a:r>
              <a:rPr lang="en-IN" sz="2200" dirty="0" smtClean="0"/>
              <a:t>character string, </a:t>
            </a:r>
          </a:p>
          <a:p>
            <a:pPr lvl="1" algn="just"/>
            <a:r>
              <a:rPr lang="en-IN" sz="2200" dirty="0" smtClean="0"/>
              <a:t>bit string, </a:t>
            </a:r>
          </a:p>
          <a:p>
            <a:pPr lvl="1" algn="just"/>
            <a:r>
              <a:rPr lang="en-IN" sz="2200" dirty="0" smtClean="0"/>
              <a:t>Boolean, </a:t>
            </a:r>
          </a:p>
          <a:p>
            <a:pPr lvl="1" algn="just"/>
            <a:r>
              <a:rPr lang="en-IN" sz="2200" dirty="0" smtClean="0"/>
              <a:t>Date and time.</a:t>
            </a:r>
          </a:p>
          <a:p>
            <a:pPr algn="just"/>
            <a:endParaRPr lang="en-IN" sz="2200" dirty="0"/>
          </a:p>
        </p:txBody>
      </p:sp>
    </p:spTree>
    <p:extLst>
      <p:ext uri="{BB962C8B-B14F-4D97-AF65-F5344CB8AC3E}">
        <p14:creationId xmlns:p14="http://schemas.microsoft.com/office/powerpoint/2010/main" val="2419771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68582" y="0"/>
            <a:ext cx="9448799" cy="7086600"/>
          </a:xfrm>
          <a:prstGeom prst="rect">
            <a:avLst/>
          </a:prstGeom>
        </p:spPr>
      </p:pic>
    </p:spTree>
    <p:extLst>
      <p:ext uri="{BB962C8B-B14F-4D97-AF65-F5344CB8AC3E}">
        <p14:creationId xmlns:p14="http://schemas.microsoft.com/office/powerpoint/2010/main" val="3664206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4400" b="1" u="sng" dirty="0"/>
              <a:t>Numeric</a:t>
            </a:r>
            <a:endParaRPr lang="en-IN" sz="4400" u="sng" dirty="0"/>
          </a:p>
        </p:txBody>
      </p:sp>
      <p:sp>
        <p:nvSpPr>
          <p:cNvPr id="3" name="Content Placeholder 2"/>
          <p:cNvSpPr>
            <a:spLocks noGrp="1"/>
          </p:cNvSpPr>
          <p:nvPr>
            <p:ph idx="1"/>
          </p:nvPr>
        </p:nvSpPr>
        <p:spPr>
          <a:xfrm>
            <a:off x="2611808" y="1634837"/>
            <a:ext cx="8264010" cy="4415108"/>
          </a:xfrm>
        </p:spPr>
        <p:txBody>
          <a:bodyPr>
            <a:normAutofit/>
          </a:bodyPr>
          <a:lstStyle/>
          <a:p>
            <a:pPr algn="just"/>
            <a:r>
              <a:rPr lang="en-IN" sz="2400" dirty="0"/>
              <a:t>Numeric data types include integer numbers of various sizes (INTEGER </a:t>
            </a:r>
            <a:r>
              <a:rPr lang="en-IN" sz="2400" dirty="0" smtClean="0"/>
              <a:t>or INT</a:t>
            </a:r>
            <a:r>
              <a:rPr lang="en-IN" sz="2400" dirty="0"/>
              <a:t>, and SMALLINT) and floating-point (real) numbers of various </a:t>
            </a:r>
            <a:r>
              <a:rPr lang="en-IN" sz="2400" dirty="0" smtClean="0"/>
              <a:t>precision (FLOAT </a:t>
            </a:r>
            <a:r>
              <a:rPr lang="en-IN" sz="2400" dirty="0"/>
              <a:t>or REAL, and DOUBLE PRECISION</a:t>
            </a:r>
            <a:r>
              <a:rPr lang="en-IN" sz="2400" dirty="0" smtClean="0"/>
              <a:t>).</a:t>
            </a:r>
          </a:p>
          <a:p>
            <a:pPr algn="just"/>
            <a:r>
              <a:rPr lang="en-IN" sz="2400" dirty="0"/>
              <a:t>Formatted numbers can </a:t>
            </a:r>
            <a:r>
              <a:rPr lang="en-IN" sz="2400" dirty="0" smtClean="0"/>
              <a:t>be declared </a:t>
            </a:r>
            <a:r>
              <a:rPr lang="en-IN" sz="2400" dirty="0"/>
              <a:t>by using DECIMAL(</a:t>
            </a:r>
            <a:r>
              <a:rPr lang="en-IN" sz="2400" dirty="0" err="1"/>
              <a:t>i,j</a:t>
            </a:r>
            <a:r>
              <a:rPr lang="en-IN" sz="2400" dirty="0"/>
              <a:t>)—or DEC(</a:t>
            </a:r>
            <a:r>
              <a:rPr lang="en-IN" sz="2400" dirty="0" err="1"/>
              <a:t>i,j</a:t>
            </a:r>
            <a:r>
              <a:rPr lang="en-IN" sz="2400" dirty="0"/>
              <a:t>) or NUMERIC(</a:t>
            </a:r>
            <a:r>
              <a:rPr lang="en-IN" sz="2400" dirty="0" err="1"/>
              <a:t>i,j</a:t>
            </a:r>
            <a:r>
              <a:rPr lang="en-IN" sz="2400" dirty="0"/>
              <a:t>)—where </a:t>
            </a:r>
            <a:r>
              <a:rPr lang="en-IN" sz="2400" dirty="0" err="1"/>
              <a:t>i</a:t>
            </a:r>
            <a:r>
              <a:rPr lang="en-IN" sz="2400" dirty="0"/>
              <a:t>, </a:t>
            </a:r>
            <a:r>
              <a:rPr lang="en-IN" sz="2400" dirty="0" smtClean="0"/>
              <a:t>the precision</a:t>
            </a:r>
            <a:r>
              <a:rPr lang="en-IN" sz="2400" dirty="0"/>
              <a:t>, is the total number of decimal digits and j, the scale, is the </a:t>
            </a:r>
            <a:r>
              <a:rPr lang="en-IN" sz="2400" dirty="0" smtClean="0"/>
              <a:t>number of </a:t>
            </a:r>
            <a:r>
              <a:rPr lang="en-IN" sz="2400" dirty="0"/>
              <a:t>digits after the decimal point.</a:t>
            </a:r>
          </a:p>
        </p:txBody>
      </p:sp>
    </p:spTree>
    <p:extLst>
      <p:ext uri="{BB962C8B-B14F-4D97-AF65-F5344CB8AC3E}">
        <p14:creationId xmlns:p14="http://schemas.microsoft.com/office/powerpoint/2010/main" val="211783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0185" t="32221" r="46486" b="18655"/>
          <a:stretch/>
        </p:blipFill>
        <p:spPr>
          <a:xfrm>
            <a:off x="2223655" y="220084"/>
            <a:ext cx="7744691" cy="6417833"/>
          </a:xfrm>
          <a:prstGeom prst="rect">
            <a:avLst/>
          </a:prstGeom>
        </p:spPr>
      </p:pic>
    </p:spTree>
    <p:extLst>
      <p:ext uri="{BB962C8B-B14F-4D97-AF65-F5344CB8AC3E}">
        <p14:creationId xmlns:p14="http://schemas.microsoft.com/office/powerpoint/2010/main" val="626139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4400" b="1" u="sng" dirty="0"/>
              <a:t>Character-string</a:t>
            </a:r>
          </a:p>
        </p:txBody>
      </p:sp>
      <p:sp>
        <p:nvSpPr>
          <p:cNvPr id="3" name="Content Placeholder 2"/>
          <p:cNvSpPr>
            <a:spLocks noGrp="1"/>
          </p:cNvSpPr>
          <p:nvPr>
            <p:ph idx="1"/>
          </p:nvPr>
        </p:nvSpPr>
        <p:spPr>
          <a:xfrm>
            <a:off x="2286000" y="1717964"/>
            <a:ext cx="8922327" cy="4331980"/>
          </a:xfrm>
        </p:spPr>
        <p:txBody>
          <a:bodyPr>
            <a:noAutofit/>
          </a:bodyPr>
          <a:lstStyle/>
          <a:p>
            <a:pPr algn="just"/>
            <a:r>
              <a:rPr lang="en-IN" sz="2200" dirty="0"/>
              <a:t>Character-string data types are either fixed </a:t>
            </a:r>
            <a:r>
              <a:rPr lang="en-IN" sz="2200" dirty="0" smtClean="0"/>
              <a:t>length CHAR(n</a:t>
            </a:r>
            <a:r>
              <a:rPr lang="en-IN" sz="2200" dirty="0"/>
              <a:t>) </a:t>
            </a:r>
            <a:r>
              <a:rPr lang="en-IN" sz="2200" dirty="0" smtClean="0"/>
              <a:t>or CHARACTER(n</a:t>
            </a:r>
            <a:r>
              <a:rPr lang="en-IN" sz="2200" dirty="0"/>
              <a:t>), where n is the number of </a:t>
            </a:r>
            <a:r>
              <a:rPr lang="en-IN" sz="2200" dirty="0" smtClean="0"/>
              <a:t>characters or </a:t>
            </a:r>
            <a:r>
              <a:rPr lang="en-IN" sz="2200" dirty="0"/>
              <a:t>varying </a:t>
            </a:r>
            <a:r>
              <a:rPr lang="en-IN" sz="2200" dirty="0" smtClean="0"/>
              <a:t>length VARCHAR(n</a:t>
            </a:r>
            <a:r>
              <a:rPr lang="en-IN" sz="2200" dirty="0"/>
              <a:t>) or CHAR VARYING(n) or CHARACTER VARYING(n), where n </a:t>
            </a:r>
            <a:r>
              <a:rPr lang="en-IN" sz="2200" dirty="0" smtClean="0"/>
              <a:t>is the </a:t>
            </a:r>
            <a:r>
              <a:rPr lang="en-IN" sz="2200" dirty="0"/>
              <a:t>maximum number of characters</a:t>
            </a:r>
            <a:r>
              <a:rPr lang="en-IN" sz="2200" dirty="0" smtClean="0"/>
              <a:t>.</a:t>
            </a:r>
          </a:p>
          <a:p>
            <a:pPr algn="just"/>
            <a:r>
              <a:rPr lang="en-IN" sz="2200" dirty="0"/>
              <a:t>For </a:t>
            </a:r>
            <a:r>
              <a:rPr lang="en-IN" sz="2200" dirty="0" smtClean="0"/>
              <a:t>example, if </a:t>
            </a:r>
            <a:r>
              <a:rPr lang="en-IN" sz="2200" dirty="0"/>
              <a:t>the value </a:t>
            </a:r>
            <a:r>
              <a:rPr lang="en-IN" sz="2200" dirty="0" smtClean="0"/>
              <a:t>‘Keren’ </a:t>
            </a:r>
            <a:r>
              <a:rPr lang="en-IN" sz="2200" dirty="0"/>
              <a:t>is for an attribute of type CHAR(10), it </a:t>
            </a:r>
            <a:r>
              <a:rPr lang="en-IN" sz="2200" dirty="0" smtClean="0"/>
              <a:t>is padded </a:t>
            </a:r>
            <a:r>
              <a:rPr lang="en-IN" sz="2200" dirty="0"/>
              <a:t>with five blank characters to </a:t>
            </a:r>
            <a:r>
              <a:rPr lang="en-IN" sz="2200" dirty="0" smtClean="0"/>
              <a:t>become  ‘Keren     ’.</a:t>
            </a:r>
          </a:p>
          <a:p>
            <a:pPr algn="just"/>
            <a:r>
              <a:rPr lang="en-IN" sz="2200" dirty="0"/>
              <a:t>There is also a </a:t>
            </a:r>
            <a:r>
              <a:rPr lang="en-IN" sz="2200" dirty="0" smtClean="0"/>
              <a:t>concatenation operator </a:t>
            </a:r>
            <a:r>
              <a:rPr lang="en-IN" sz="2200" dirty="0"/>
              <a:t>denoted by || (double vertical bar) that can concatenate two </a:t>
            </a:r>
            <a:r>
              <a:rPr lang="en-IN" sz="2200" dirty="0" smtClean="0"/>
              <a:t>strings in </a:t>
            </a:r>
            <a:r>
              <a:rPr lang="en-IN" sz="2200" dirty="0"/>
              <a:t>SQL. </a:t>
            </a:r>
            <a:endParaRPr lang="en-IN" sz="2200" dirty="0" smtClean="0"/>
          </a:p>
          <a:p>
            <a:pPr algn="just"/>
            <a:r>
              <a:rPr lang="en-IN" sz="2200" dirty="0" smtClean="0"/>
              <a:t>For </a:t>
            </a:r>
            <a:r>
              <a:rPr lang="en-IN" sz="2200" dirty="0"/>
              <a:t>example, ‘</a:t>
            </a:r>
            <a:r>
              <a:rPr lang="en-IN" sz="2200" dirty="0" err="1"/>
              <a:t>abc</a:t>
            </a:r>
            <a:r>
              <a:rPr lang="en-IN" sz="2200" dirty="0"/>
              <a:t>’ || ‘XYZ’ results in a single string ‘</a:t>
            </a:r>
            <a:r>
              <a:rPr lang="en-IN" sz="2200" dirty="0" err="1"/>
              <a:t>abcXYZ</a:t>
            </a:r>
            <a:r>
              <a:rPr lang="en-IN" sz="2200" dirty="0"/>
              <a:t>’.</a:t>
            </a:r>
          </a:p>
        </p:txBody>
      </p:sp>
    </p:spTree>
    <p:extLst>
      <p:ext uri="{BB962C8B-B14F-4D97-AF65-F5344CB8AC3E}">
        <p14:creationId xmlns:p14="http://schemas.microsoft.com/office/powerpoint/2010/main" val="417588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0185" t="28504" r="34134" b="45738"/>
          <a:stretch/>
        </p:blipFill>
        <p:spPr>
          <a:xfrm>
            <a:off x="1080448" y="1814945"/>
            <a:ext cx="10182781" cy="3228109"/>
          </a:xfrm>
          <a:prstGeom prst="rect">
            <a:avLst/>
          </a:prstGeom>
        </p:spPr>
      </p:pic>
    </p:spTree>
    <p:extLst>
      <p:ext uri="{BB962C8B-B14F-4D97-AF65-F5344CB8AC3E}">
        <p14:creationId xmlns:p14="http://schemas.microsoft.com/office/powerpoint/2010/main" val="984929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4400" b="1" u="sng" dirty="0"/>
              <a:t>Bit-string</a:t>
            </a:r>
          </a:p>
        </p:txBody>
      </p:sp>
      <p:sp>
        <p:nvSpPr>
          <p:cNvPr id="3" name="Content Placeholder 2"/>
          <p:cNvSpPr>
            <a:spLocks noGrp="1"/>
          </p:cNvSpPr>
          <p:nvPr>
            <p:ph idx="1"/>
          </p:nvPr>
        </p:nvSpPr>
        <p:spPr>
          <a:xfrm>
            <a:off x="2396836" y="1662545"/>
            <a:ext cx="8173303" cy="4387399"/>
          </a:xfrm>
        </p:spPr>
        <p:txBody>
          <a:bodyPr>
            <a:normAutofit/>
          </a:bodyPr>
          <a:lstStyle/>
          <a:p>
            <a:pPr algn="just"/>
            <a:r>
              <a:rPr lang="en-IN" sz="2400" dirty="0"/>
              <a:t>Bit-string data types are either of fixed length </a:t>
            </a:r>
            <a:r>
              <a:rPr lang="en-IN" sz="2400" dirty="0" smtClean="0"/>
              <a:t>‘n’ BIT(n) or varying length BIT </a:t>
            </a:r>
            <a:r>
              <a:rPr lang="en-IN" sz="2400" dirty="0"/>
              <a:t>VARYING(n), where n is the maximum number of bits</a:t>
            </a:r>
            <a:r>
              <a:rPr lang="en-IN" sz="2400" dirty="0" smtClean="0"/>
              <a:t>.</a:t>
            </a:r>
          </a:p>
          <a:p>
            <a:pPr algn="just"/>
            <a:r>
              <a:rPr lang="en-IN" sz="2400" dirty="0"/>
              <a:t>B</a:t>
            </a:r>
            <a:r>
              <a:rPr lang="en-IN" sz="2400" dirty="0" smtClean="0"/>
              <a:t>it strings </a:t>
            </a:r>
            <a:r>
              <a:rPr lang="en-IN" sz="2400" dirty="0"/>
              <a:t>are placed between single quotes but preceded by a B to distinguish them from character </a:t>
            </a:r>
            <a:r>
              <a:rPr lang="en-IN" sz="2400" dirty="0" smtClean="0"/>
              <a:t>strings.</a:t>
            </a:r>
          </a:p>
          <a:p>
            <a:pPr algn="just"/>
            <a:r>
              <a:rPr lang="en-IN" sz="2400" dirty="0" smtClean="0"/>
              <a:t>for </a:t>
            </a:r>
            <a:r>
              <a:rPr lang="en-IN" sz="2400" dirty="0"/>
              <a:t>example, B‘10101’.</a:t>
            </a:r>
          </a:p>
        </p:txBody>
      </p:sp>
    </p:spTree>
    <p:extLst>
      <p:ext uri="{BB962C8B-B14F-4D97-AF65-F5344CB8AC3E}">
        <p14:creationId xmlns:p14="http://schemas.microsoft.com/office/powerpoint/2010/main" val="469795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0185" t="19034" r="40842" b="55398"/>
          <a:stretch/>
        </p:blipFill>
        <p:spPr>
          <a:xfrm>
            <a:off x="1089890" y="1547565"/>
            <a:ext cx="10201565" cy="3762871"/>
          </a:xfrm>
          <a:prstGeom prst="rect">
            <a:avLst/>
          </a:prstGeom>
        </p:spPr>
      </p:pic>
    </p:spTree>
    <p:extLst>
      <p:ext uri="{BB962C8B-B14F-4D97-AF65-F5344CB8AC3E}">
        <p14:creationId xmlns:p14="http://schemas.microsoft.com/office/powerpoint/2010/main" val="1420448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4400" b="1" u="sng" dirty="0"/>
              <a:t>Boolean</a:t>
            </a:r>
          </a:p>
        </p:txBody>
      </p:sp>
      <p:sp>
        <p:nvSpPr>
          <p:cNvPr id="3" name="Content Placeholder 2"/>
          <p:cNvSpPr>
            <a:spLocks noGrp="1"/>
          </p:cNvSpPr>
          <p:nvPr>
            <p:ph idx="1"/>
          </p:nvPr>
        </p:nvSpPr>
        <p:spPr>
          <a:xfrm>
            <a:off x="2611808" y="1607128"/>
            <a:ext cx="8402556" cy="2632364"/>
          </a:xfrm>
        </p:spPr>
        <p:txBody>
          <a:bodyPr>
            <a:normAutofit/>
          </a:bodyPr>
          <a:lstStyle/>
          <a:p>
            <a:pPr algn="just"/>
            <a:r>
              <a:rPr lang="en-IN" sz="2400" dirty="0"/>
              <a:t>A Boolean data type has the traditional values of TRUE or FALSE. </a:t>
            </a:r>
            <a:endParaRPr lang="en-IN" sz="2400" dirty="0" smtClean="0"/>
          </a:p>
          <a:p>
            <a:pPr algn="just"/>
            <a:r>
              <a:rPr lang="en-IN" sz="2400" dirty="0" smtClean="0"/>
              <a:t>In SQL, because </a:t>
            </a:r>
            <a:r>
              <a:rPr lang="en-IN" sz="2400" dirty="0"/>
              <a:t>of the presence of NULL values, a three-valued logic is used, so </a:t>
            </a:r>
            <a:r>
              <a:rPr lang="en-IN" sz="2400" dirty="0" smtClean="0"/>
              <a:t>a third </a:t>
            </a:r>
            <a:r>
              <a:rPr lang="en-IN" sz="2400" dirty="0"/>
              <a:t>possible value for a Boolean data type is UNKNOWN.</a:t>
            </a:r>
          </a:p>
        </p:txBody>
      </p:sp>
    </p:spTree>
    <p:extLst>
      <p:ext uri="{BB962C8B-B14F-4D97-AF65-F5344CB8AC3E}">
        <p14:creationId xmlns:p14="http://schemas.microsoft.com/office/powerpoint/2010/main" val="3975279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2470" y="571462"/>
            <a:ext cx="7958331" cy="1077229"/>
          </a:xfrm>
        </p:spPr>
        <p:txBody>
          <a:bodyPr>
            <a:normAutofit/>
          </a:bodyPr>
          <a:lstStyle/>
          <a:p>
            <a:pPr algn="l"/>
            <a:r>
              <a:rPr lang="en-IN" sz="4400" b="1" u="sng" dirty="0" smtClean="0"/>
              <a:t>DATE and TIME</a:t>
            </a:r>
            <a:endParaRPr lang="en-IN" sz="4400" b="1" u="sng" dirty="0"/>
          </a:p>
        </p:txBody>
      </p:sp>
      <p:sp>
        <p:nvSpPr>
          <p:cNvPr id="3" name="Content Placeholder 2"/>
          <p:cNvSpPr>
            <a:spLocks noGrp="1"/>
          </p:cNvSpPr>
          <p:nvPr>
            <p:ph idx="1"/>
          </p:nvPr>
        </p:nvSpPr>
        <p:spPr>
          <a:xfrm>
            <a:off x="1898073" y="1454727"/>
            <a:ext cx="9227127" cy="5098473"/>
          </a:xfrm>
        </p:spPr>
        <p:txBody>
          <a:bodyPr>
            <a:noAutofit/>
          </a:bodyPr>
          <a:lstStyle/>
          <a:p>
            <a:pPr algn="just"/>
            <a:r>
              <a:rPr lang="en-IN" sz="2200" dirty="0"/>
              <a:t>The DATE data type has ten positions, and its components are </a:t>
            </a:r>
            <a:r>
              <a:rPr lang="en-IN" sz="2200" dirty="0" smtClean="0"/>
              <a:t>YEAR, MONTH</a:t>
            </a:r>
            <a:r>
              <a:rPr lang="en-IN" sz="2200" dirty="0"/>
              <a:t>, and DAY in the form YYYY-MM-DD. </a:t>
            </a:r>
            <a:endParaRPr lang="en-IN" sz="2200" dirty="0" smtClean="0"/>
          </a:p>
          <a:p>
            <a:pPr algn="just"/>
            <a:r>
              <a:rPr lang="en-IN" sz="2200" dirty="0" smtClean="0"/>
              <a:t>The </a:t>
            </a:r>
            <a:r>
              <a:rPr lang="en-IN" sz="2200" dirty="0"/>
              <a:t>TIME data type has </a:t>
            </a:r>
            <a:r>
              <a:rPr lang="en-IN" sz="2200" dirty="0" smtClean="0"/>
              <a:t>at least </a:t>
            </a:r>
            <a:r>
              <a:rPr lang="en-IN" sz="2200" dirty="0"/>
              <a:t>eight positions, with the components HOUR, MINUTE, and SECOND </a:t>
            </a:r>
            <a:r>
              <a:rPr lang="en-IN" sz="2200" dirty="0" smtClean="0"/>
              <a:t>in the </a:t>
            </a:r>
            <a:r>
              <a:rPr lang="en-IN" sz="2200" dirty="0"/>
              <a:t>form </a:t>
            </a:r>
            <a:r>
              <a:rPr lang="en-IN" sz="2200" dirty="0" smtClean="0"/>
              <a:t>HH:MM:SS.</a:t>
            </a:r>
          </a:p>
          <a:p>
            <a:pPr algn="just"/>
            <a:r>
              <a:rPr lang="en-IN" sz="2200" dirty="0"/>
              <a:t>A TIME WITH TIME ZONE data </a:t>
            </a:r>
            <a:r>
              <a:rPr lang="en-IN" sz="2200" dirty="0" smtClean="0"/>
              <a:t>type includes </a:t>
            </a:r>
            <a:r>
              <a:rPr lang="en-IN" sz="2200" dirty="0"/>
              <a:t>an additional six positions for specifying the displacement from </a:t>
            </a:r>
            <a:r>
              <a:rPr lang="en-IN" sz="2200" dirty="0" smtClean="0"/>
              <a:t>the standard </a:t>
            </a:r>
            <a:r>
              <a:rPr lang="en-IN" sz="2200" dirty="0"/>
              <a:t>universal time zone, which is in the range +13:00 to –12:59 in </a:t>
            </a:r>
            <a:r>
              <a:rPr lang="en-IN" sz="2200" dirty="0" smtClean="0"/>
              <a:t>units of </a:t>
            </a:r>
            <a:r>
              <a:rPr lang="en-IN" sz="2200" dirty="0"/>
              <a:t>HOURS:MINUTES. </a:t>
            </a:r>
            <a:endParaRPr lang="en-IN" sz="2200" dirty="0" smtClean="0"/>
          </a:p>
          <a:p>
            <a:pPr algn="just"/>
            <a:r>
              <a:rPr lang="en-IN" sz="2200" dirty="0" smtClean="0"/>
              <a:t>If </a:t>
            </a:r>
            <a:r>
              <a:rPr lang="en-IN" sz="2200" dirty="0"/>
              <a:t>WITH TIME ZONE is not included, the default is </a:t>
            </a:r>
            <a:r>
              <a:rPr lang="en-IN" sz="2200" dirty="0" smtClean="0"/>
              <a:t>the local </a:t>
            </a:r>
            <a:r>
              <a:rPr lang="en-IN" sz="2200" dirty="0"/>
              <a:t>time zone for the SQL session.</a:t>
            </a:r>
          </a:p>
        </p:txBody>
      </p:sp>
    </p:spTree>
    <p:extLst>
      <p:ext uri="{BB962C8B-B14F-4D97-AF65-F5344CB8AC3E}">
        <p14:creationId xmlns:p14="http://schemas.microsoft.com/office/powerpoint/2010/main" val="2593694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0185" t="25852" r="29875" b="41761"/>
          <a:stretch/>
        </p:blipFill>
        <p:spPr>
          <a:xfrm>
            <a:off x="1114764" y="1579418"/>
            <a:ext cx="10145656" cy="3699165"/>
          </a:xfrm>
          <a:prstGeom prst="rect">
            <a:avLst/>
          </a:prstGeom>
        </p:spPr>
      </p:pic>
    </p:spTree>
    <p:extLst>
      <p:ext uri="{BB962C8B-B14F-4D97-AF65-F5344CB8AC3E}">
        <p14:creationId xmlns:p14="http://schemas.microsoft.com/office/powerpoint/2010/main" val="17385787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0292" t="27935" r="52342" b="46875"/>
          <a:stretch/>
        </p:blipFill>
        <p:spPr>
          <a:xfrm>
            <a:off x="1759527" y="1184832"/>
            <a:ext cx="8672946" cy="4488336"/>
          </a:xfrm>
          <a:prstGeom prst="rect">
            <a:avLst/>
          </a:prstGeom>
        </p:spPr>
      </p:pic>
    </p:spTree>
    <p:extLst>
      <p:ext uri="{BB962C8B-B14F-4D97-AF65-F5344CB8AC3E}">
        <p14:creationId xmlns:p14="http://schemas.microsoft.com/office/powerpoint/2010/main" val="23970359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4000" b="1" u="sng" dirty="0" smtClean="0"/>
              <a:t>Points to be noted:</a:t>
            </a:r>
            <a:endParaRPr lang="en-IN" sz="4000" b="1" u="sng" dirty="0"/>
          </a:p>
        </p:txBody>
      </p:sp>
      <p:sp>
        <p:nvSpPr>
          <p:cNvPr id="3" name="Content Placeholder 2"/>
          <p:cNvSpPr>
            <a:spLocks noGrp="1"/>
          </p:cNvSpPr>
          <p:nvPr>
            <p:ph idx="1"/>
          </p:nvPr>
        </p:nvSpPr>
        <p:spPr>
          <a:xfrm>
            <a:off x="1454728" y="1620981"/>
            <a:ext cx="9531928" cy="4807527"/>
          </a:xfrm>
        </p:spPr>
        <p:txBody>
          <a:bodyPr>
            <a:normAutofit/>
          </a:bodyPr>
          <a:lstStyle/>
          <a:p>
            <a:r>
              <a:rPr lang="en-IN" dirty="0"/>
              <a:t>Not all data types are supported by every relational database vendors. For example, Oracle database doesn’t support DATETIME and MySQL doesn’t support CLOB data type. So while designing database schema and writing </a:t>
            </a:r>
            <a:r>
              <a:rPr lang="en-IN" dirty="0" err="1"/>
              <a:t>sql</a:t>
            </a:r>
            <a:r>
              <a:rPr lang="en-IN" dirty="0"/>
              <a:t> queries, make sure to check if the data types are supported or not.</a:t>
            </a:r>
          </a:p>
          <a:p>
            <a:r>
              <a:rPr lang="en-IN" dirty="0"/>
              <a:t>Data types listed here doesn’t include all the data types, these are the most popularly used data types. Some relational database vendors have their own data types that might be not listed here. For example, Microsoft SQL Server has money and </a:t>
            </a:r>
            <a:r>
              <a:rPr lang="en-IN" dirty="0" err="1"/>
              <a:t>smallmoney</a:t>
            </a:r>
            <a:r>
              <a:rPr lang="en-IN" dirty="0"/>
              <a:t> data </a:t>
            </a:r>
            <a:r>
              <a:rPr lang="en-IN" dirty="0" smtClean="0"/>
              <a:t>types.</a:t>
            </a:r>
          </a:p>
          <a:p>
            <a:r>
              <a:rPr lang="en-IN" dirty="0" smtClean="0"/>
              <a:t>Every </a:t>
            </a:r>
            <a:r>
              <a:rPr lang="en-IN" dirty="0"/>
              <a:t>relational database vendor has it’s own maximum size limit for different data </a:t>
            </a:r>
            <a:r>
              <a:rPr lang="en-IN" dirty="0" smtClean="0"/>
              <a:t>types</a:t>
            </a:r>
            <a:r>
              <a:rPr lang="en-IN" dirty="0"/>
              <a:t>.</a:t>
            </a:r>
          </a:p>
        </p:txBody>
      </p:sp>
    </p:spTree>
    <p:extLst>
      <p:ext uri="{BB962C8B-B14F-4D97-AF65-F5344CB8AC3E}">
        <p14:creationId xmlns:p14="http://schemas.microsoft.com/office/powerpoint/2010/main" val="35424064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82E"/>
      </a:dk2>
      <a:lt2>
        <a:srgbClr val="C2F5FC"/>
      </a:lt2>
      <a:accent1>
        <a:srgbClr val="4091F3"/>
      </a:accent1>
      <a:accent2>
        <a:srgbClr val="8BBCF1"/>
      </a:accent2>
      <a:accent3>
        <a:srgbClr val="CB6A6A"/>
      </a:accent3>
      <a:accent4>
        <a:srgbClr val="C567AF"/>
      </a:accent4>
      <a:accent5>
        <a:srgbClr val="A684F9"/>
      </a:accent5>
      <a:accent6>
        <a:srgbClr val="A9ACEE"/>
      </a:accent6>
      <a:hlink>
        <a:srgbClr val="6D9CC5"/>
      </a:hlink>
      <a:folHlink>
        <a:srgbClr val="6D82A0"/>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178B2DAB-5DDE-4060-A857-D2E1CDA9250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CB7F9B39126B44B7BD3B2FD680B58E" ma:contentTypeVersion="9" ma:contentTypeDescription="Create a new document." ma:contentTypeScope="" ma:versionID="695fcc8670f16edd2d6e06ac62cfa7aa">
  <xsd:schema xmlns:xsd="http://www.w3.org/2001/XMLSchema" xmlns:xs="http://www.w3.org/2001/XMLSchema" xmlns:p="http://schemas.microsoft.com/office/2006/metadata/properties" xmlns:ns2="a8a1418d-81b5-43f6-8c3e-510d562b22b4" targetNamespace="http://schemas.microsoft.com/office/2006/metadata/properties" ma:root="true" ma:fieldsID="0b8bb81026c94debfa35635f867341d7" ns2:_="">
    <xsd:import namespace="a8a1418d-81b5-43f6-8c3e-510d562b22b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a1418d-81b5-43f6-8c3e-510d562b22b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9BA7A0D-3BAB-4880-8AA6-4DA817BAB5E1}"/>
</file>

<file path=customXml/itemProps2.xml><?xml version="1.0" encoding="utf-8"?>
<ds:datastoreItem xmlns:ds="http://schemas.openxmlformats.org/officeDocument/2006/customXml" ds:itemID="{835DC332-E654-4F1D-AA24-B73FE5057539}"/>
</file>

<file path=customXml/itemProps3.xml><?xml version="1.0" encoding="utf-8"?>
<ds:datastoreItem xmlns:ds="http://schemas.openxmlformats.org/officeDocument/2006/customXml" ds:itemID="{1629D461-8CDE-4BE1-819C-6C4756F08DB9}"/>
</file>

<file path=docProps/app.xml><?xml version="1.0" encoding="utf-8"?>
<Properties xmlns="http://schemas.openxmlformats.org/officeDocument/2006/extended-properties" xmlns:vt="http://schemas.openxmlformats.org/officeDocument/2006/docPropsVTypes">
  <Template>Madison</Template>
  <TotalTime>55</TotalTime>
  <Words>582</Words>
  <Application>Microsoft Office PowerPoint</Application>
  <PresentationFormat>Widescreen</PresentationFormat>
  <Paragraphs>32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MS Shell Dlg 2</vt:lpstr>
      <vt:lpstr>Wingdings</vt:lpstr>
      <vt:lpstr>Wingdings 3</vt:lpstr>
      <vt:lpstr>Madison</vt:lpstr>
      <vt:lpstr>Attribute Data Types</vt:lpstr>
      <vt:lpstr>PowerPoint Presentation</vt:lpstr>
      <vt:lpstr>PowerPoint Presentation</vt:lpstr>
      <vt:lpstr>Numeric</vt:lpstr>
      <vt:lpstr>PowerPoint Presentation</vt:lpstr>
      <vt:lpstr>Character-string</vt:lpstr>
      <vt:lpstr>PowerPoint Presentation</vt:lpstr>
      <vt:lpstr>Bit-string</vt:lpstr>
      <vt:lpstr>PowerPoint Presentation</vt:lpstr>
      <vt:lpstr>Boolean</vt:lpstr>
      <vt:lpstr>DATE and TIME</vt:lpstr>
      <vt:lpstr>PowerPoint Presentation</vt:lpstr>
      <vt:lpstr>PowerPoint Presentation</vt:lpstr>
      <vt:lpstr>Points to be noted: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Attribute Data Types</dc:title>
  <dc:creator>JOY KEREN</dc:creator>
  <cp:lastModifiedBy>JOY KEREN</cp:lastModifiedBy>
  <cp:revision>11</cp:revision>
  <dcterms:created xsi:type="dcterms:W3CDTF">2020-08-19T18:32:38Z</dcterms:created>
  <dcterms:modified xsi:type="dcterms:W3CDTF">2020-08-20T03:23:10Z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0x01010061CB7F9B39126B44B7BD3B2FD680B58E</vt:lpwstr>
  </property>
</Properties>
</file>