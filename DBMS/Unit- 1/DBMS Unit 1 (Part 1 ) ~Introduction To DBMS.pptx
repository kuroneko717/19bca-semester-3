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36"/>
  </p:notesMasterIdLst>
  <p:sldIdLst>
    <p:sldId id="256" r:id="rId2"/>
    <p:sldId id="277" r:id="rId3"/>
    <p:sldId id="281" r:id="rId4"/>
    <p:sldId id="278" r:id="rId5"/>
    <p:sldId id="279" r:id="rId6"/>
    <p:sldId id="280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57" r:id="rId15"/>
    <p:sldId id="258" r:id="rId16"/>
    <p:sldId id="259" r:id="rId17"/>
    <p:sldId id="289" r:id="rId18"/>
    <p:sldId id="260" r:id="rId19"/>
    <p:sldId id="261" r:id="rId20"/>
    <p:sldId id="262" r:id="rId21"/>
    <p:sldId id="267" r:id="rId22"/>
    <p:sldId id="263" r:id="rId23"/>
    <p:sldId id="268" r:id="rId24"/>
    <p:sldId id="265" r:id="rId25"/>
    <p:sldId id="266" r:id="rId26"/>
    <p:sldId id="264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234" autoAdjust="0"/>
  </p:normalViewPr>
  <p:slideViewPr>
    <p:cSldViewPr snapToGrid="0">
      <p:cViewPr varScale="1">
        <p:scale>
          <a:sx n="65" d="100"/>
          <a:sy n="65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784E8-AE19-4F42-BE22-A38DBA4FE8DD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E59A1-1213-414A-92F5-B1E1E76FB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525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database can be of any size and complexity. </a:t>
            </a:r>
          </a:p>
          <a:p>
            <a:r>
              <a:rPr lang="en-I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database may be generated and maintained manually or it may be computerized.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16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database definition or descriptive information is also stored by the DBMS in the form of a database </a:t>
            </a:r>
            <a:r>
              <a:rPr lang="en-I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catalog</a:t>
            </a:r>
            <a:r>
              <a:rPr lang="en-I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 dictionary; it is called </a:t>
            </a:r>
            <a:r>
              <a:rPr lang="en-IN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meta-data</a:t>
            </a:r>
            <a:r>
              <a:rPr lang="en-I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883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</a:t>
            </a:r>
            <a:r>
              <a:rPr lang="en-IN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program </a:t>
            </a:r>
            <a:r>
              <a:rPr lang="en-I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accesses the database by sending queries or requests for data to the DBMS.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13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In any organization where many people use the same resources, there is a need for a chief administrator to oversee and manage these resources.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18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 smtClean="0"/>
              <a:t>These tasks are mostly undertaken before the database is actually implemented and populated with data.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 smtClean="0"/>
              <a:t>It is the responsibility of database designers to communicate with all prospective database users in order to understand their requirements and to create a design that meets these requirements.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 smtClean="0"/>
              <a:t>In many cases, the designers are on the staff of the DBA and may be assigned other staff responsibilities after the database design is completed.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241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the database primarily exists for their use.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740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smtClean="0"/>
              <a:t>One of the main characteristics of the database approach is to support data abstraction so that different users can perceive data at their preferred level of detail.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164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 smtClean="0"/>
              <a:t>Most data models also include a set of </a:t>
            </a:r>
            <a:r>
              <a:rPr lang="en-IN" b="1" dirty="0" smtClean="0"/>
              <a:t>basic operations</a:t>
            </a:r>
            <a:endParaRPr lang="en-IN" dirty="0" smtClean="0"/>
          </a:p>
          <a:p>
            <a:endParaRPr lang="en-I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35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Concepts provided by low-level data models are generally meant for computer specialists, not for end users.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800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entity has a real world property called attribute and attribute define by a set of values called domain. For example, in a university a student is an entity, university is the database, name and age and sex are the attributes. The relationships among entities define the logical association between entities.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818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department is the parent entity called root and it has several children entities like students, professors and many more.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7E59A1-1213-414A-92F5-B1E1E76FB85F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382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9732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6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94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46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54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0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131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2347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07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93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56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9953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404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838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87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486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80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958BC-23CE-4338-B524-6DF4981CE345}" type="datetimeFigureOut">
              <a:rPr lang="en-IN" smtClean="0"/>
              <a:t>18-06-2020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D69D2-5428-40CC-8DCE-BAC8A4F62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0702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30385" y="1902542"/>
            <a:ext cx="9052131" cy="3406878"/>
          </a:xfrm>
        </p:spPr>
        <p:txBody>
          <a:bodyPr>
            <a:noAutofit/>
          </a:bodyPr>
          <a:lstStyle/>
          <a:p>
            <a:r>
              <a:rPr lang="en-IN" sz="7200" b="1" dirty="0" smtClean="0"/>
              <a:t>Introduction to dbms and dbms architecture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264203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1884" y="1002890"/>
            <a:ext cx="10500851" cy="513243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 database is a collection of related </a:t>
            </a:r>
            <a:r>
              <a:rPr lang="en-IN" dirty="0" smtClean="0"/>
              <a:t>data. </a:t>
            </a:r>
          </a:p>
          <a:p>
            <a:r>
              <a:rPr lang="en-IN" dirty="0" smtClean="0"/>
              <a:t>Data - known </a:t>
            </a:r>
            <a:r>
              <a:rPr lang="en-IN" dirty="0"/>
              <a:t>facts that can </a:t>
            </a:r>
            <a:r>
              <a:rPr lang="en-IN" dirty="0" smtClean="0"/>
              <a:t>be recorded </a:t>
            </a:r>
            <a:r>
              <a:rPr lang="en-IN" dirty="0"/>
              <a:t>and that have implicit meaning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A database has the following implicit properties:</a:t>
            </a:r>
          </a:p>
          <a:p>
            <a:pPr marL="0" indent="0">
              <a:buNone/>
            </a:pPr>
            <a:r>
              <a:rPr lang="en-IN" dirty="0"/>
              <a:t>■ A database represents some aspect of the real world, sometimes called </a:t>
            </a:r>
            <a:r>
              <a:rPr lang="en-IN" dirty="0" smtClean="0"/>
              <a:t>the </a:t>
            </a:r>
            <a:r>
              <a:rPr lang="en-IN" b="1" dirty="0" smtClean="0"/>
              <a:t>miniworld</a:t>
            </a:r>
            <a:r>
              <a:rPr lang="en-IN" dirty="0" smtClean="0"/>
              <a:t>. </a:t>
            </a:r>
            <a:r>
              <a:rPr lang="en-IN" dirty="0"/>
              <a:t>Changes to the </a:t>
            </a:r>
            <a:r>
              <a:rPr lang="en-IN" dirty="0" smtClean="0"/>
              <a:t>miniworld</a:t>
            </a:r>
            <a:r>
              <a:rPr lang="en-IN" dirty="0"/>
              <a:t> </a:t>
            </a:r>
            <a:r>
              <a:rPr lang="en-IN" dirty="0" smtClean="0"/>
              <a:t>are </a:t>
            </a:r>
            <a:r>
              <a:rPr lang="en-IN" dirty="0"/>
              <a:t>reflected in the database.</a:t>
            </a:r>
          </a:p>
          <a:p>
            <a:pPr marL="0" indent="0">
              <a:buNone/>
            </a:pPr>
            <a:r>
              <a:rPr lang="en-IN" dirty="0"/>
              <a:t>■ A database is a logically coherent collection of data with some </a:t>
            </a:r>
            <a:r>
              <a:rPr lang="en-IN" dirty="0" smtClean="0"/>
              <a:t>inherent meaning</a:t>
            </a:r>
            <a:r>
              <a:rPr lang="en-IN" dirty="0"/>
              <a:t>. A random assortment of data cannot correctly be referred to as </a:t>
            </a:r>
            <a:r>
              <a:rPr lang="en-IN" dirty="0" smtClean="0"/>
              <a:t>a database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■ A database is designed, built, and populated with data for a specific </a:t>
            </a:r>
            <a:r>
              <a:rPr lang="en-IN" dirty="0" smtClean="0"/>
              <a:t>purpose. It </a:t>
            </a:r>
            <a:r>
              <a:rPr lang="en-IN" dirty="0"/>
              <a:t>has an intended group of users and some preconceived applications </a:t>
            </a:r>
            <a:r>
              <a:rPr lang="en-IN" dirty="0" smtClean="0"/>
              <a:t>in which </a:t>
            </a:r>
            <a:r>
              <a:rPr lang="en-IN" dirty="0"/>
              <a:t>these users are interested.</a:t>
            </a:r>
          </a:p>
        </p:txBody>
      </p:sp>
    </p:spTree>
    <p:extLst>
      <p:ext uri="{BB962C8B-B14F-4D97-AF65-F5344CB8AC3E}">
        <p14:creationId xmlns:p14="http://schemas.microsoft.com/office/powerpoint/2010/main" val="413379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0239" t="27117" r="35074" b="11189"/>
          <a:stretch/>
        </p:blipFill>
        <p:spPr>
          <a:xfrm>
            <a:off x="2733368" y="66368"/>
            <a:ext cx="6725264" cy="672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15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77547"/>
          </a:xfrm>
        </p:spPr>
        <p:txBody>
          <a:bodyPr/>
          <a:lstStyle/>
          <a:p>
            <a:r>
              <a:rPr lang="en-IN" b="1" u="sng" dirty="0" smtClean="0"/>
              <a:t>Database Management system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48580"/>
            <a:ext cx="10500852" cy="4557251"/>
          </a:xfrm>
        </p:spPr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database management system (DBMS) </a:t>
            </a:r>
            <a:r>
              <a:rPr lang="en-IN" dirty="0"/>
              <a:t>is a collection of programs that </a:t>
            </a:r>
            <a:r>
              <a:rPr lang="en-IN" dirty="0" smtClean="0"/>
              <a:t>enables users </a:t>
            </a:r>
            <a:r>
              <a:rPr lang="en-IN" dirty="0"/>
              <a:t>to create and maintain a database.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DBMS is a </a:t>
            </a:r>
            <a:r>
              <a:rPr lang="en-IN" i="1" dirty="0"/>
              <a:t>general-purpose software </a:t>
            </a:r>
            <a:r>
              <a:rPr lang="en-IN" i="1" dirty="0" smtClean="0"/>
              <a:t>system </a:t>
            </a:r>
            <a:r>
              <a:rPr lang="en-IN" dirty="0" smtClean="0"/>
              <a:t>that </a:t>
            </a:r>
            <a:r>
              <a:rPr lang="en-IN" dirty="0"/>
              <a:t>facilitates the processes of </a:t>
            </a:r>
            <a:r>
              <a:rPr lang="en-IN" i="1" dirty="0"/>
              <a:t>defining, constructing, manipulating, </a:t>
            </a:r>
            <a:r>
              <a:rPr lang="en-IN" dirty="0"/>
              <a:t>and </a:t>
            </a:r>
            <a:r>
              <a:rPr lang="en-IN" i="1" dirty="0" smtClean="0"/>
              <a:t>sharing </a:t>
            </a:r>
            <a:r>
              <a:rPr lang="en-IN" dirty="0" smtClean="0"/>
              <a:t>databases </a:t>
            </a:r>
            <a:r>
              <a:rPr lang="en-IN" dirty="0"/>
              <a:t>among various users and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77239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914400"/>
            <a:ext cx="9905999" cy="5088193"/>
          </a:xfrm>
        </p:spPr>
        <p:txBody>
          <a:bodyPr>
            <a:normAutofit/>
          </a:bodyPr>
          <a:lstStyle/>
          <a:p>
            <a:r>
              <a:rPr lang="en-IN" b="1" dirty="0"/>
              <a:t>Defining </a:t>
            </a:r>
            <a:r>
              <a:rPr lang="en-IN" dirty="0"/>
              <a:t>a database involves </a:t>
            </a:r>
            <a:r>
              <a:rPr lang="en-IN" dirty="0" smtClean="0"/>
              <a:t>specifying the </a:t>
            </a:r>
            <a:r>
              <a:rPr lang="en-IN" dirty="0"/>
              <a:t>data types, structures, and constraints of the data to be stored in the database</a:t>
            </a:r>
            <a:r>
              <a:rPr lang="en-IN" dirty="0" smtClean="0"/>
              <a:t>.</a:t>
            </a:r>
          </a:p>
          <a:p>
            <a:r>
              <a:rPr lang="en-IN" b="1" dirty="0" smtClean="0"/>
              <a:t>Constructing </a:t>
            </a:r>
            <a:r>
              <a:rPr lang="en-IN" dirty="0" smtClean="0"/>
              <a:t>the </a:t>
            </a:r>
            <a:r>
              <a:rPr lang="en-IN" dirty="0"/>
              <a:t>database is the process of storing the data on some storage medium </a:t>
            </a:r>
            <a:r>
              <a:rPr lang="en-IN" dirty="0" smtClean="0"/>
              <a:t>that is controlled by the DBMS.</a:t>
            </a:r>
          </a:p>
          <a:p>
            <a:r>
              <a:rPr lang="en-IN" b="1" dirty="0"/>
              <a:t>Manipulating </a:t>
            </a:r>
            <a:r>
              <a:rPr lang="en-IN" dirty="0"/>
              <a:t>a database includes functions such as </a:t>
            </a:r>
            <a:r>
              <a:rPr lang="en-IN" dirty="0" smtClean="0"/>
              <a:t>querying the </a:t>
            </a:r>
            <a:r>
              <a:rPr lang="en-IN" dirty="0"/>
              <a:t>database to retrieve specific data, updating the database to reflect changes in </a:t>
            </a:r>
            <a:r>
              <a:rPr lang="en-IN" dirty="0" smtClean="0"/>
              <a:t>the miniworld.</a:t>
            </a:r>
          </a:p>
          <a:p>
            <a:r>
              <a:rPr lang="en-IN" b="1" dirty="0"/>
              <a:t>Sharing </a:t>
            </a:r>
            <a:r>
              <a:rPr lang="en-IN" dirty="0"/>
              <a:t>a database allows </a:t>
            </a:r>
            <a:r>
              <a:rPr lang="en-IN" dirty="0" smtClean="0"/>
              <a:t>multiple users </a:t>
            </a:r>
            <a:r>
              <a:rPr lang="en-IN" dirty="0"/>
              <a:t>and programs to access the database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361965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2304" t="24295" r="46751" b="14012"/>
          <a:stretch/>
        </p:blipFill>
        <p:spPr>
          <a:xfrm>
            <a:off x="1666566" y="159964"/>
            <a:ext cx="5810866" cy="65132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88594" y="2508660"/>
            <a:ext cx="263996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N" sz="2800" b="1" dirty="0">
                <a:latin typeface="+mj-lt"/>
              </a:rPr>
              <a:t>A simplified </a:t>
            </a:r>
            <a:r>
              <a:rPr lang="en-IN" sz="2800" b="1" dirty="0" smtClean="0">
                <a:latin typeface="+mj-lt"/>
              </a:rPr>
              <a:t>database system </a:t>
            </a:r>
            <a:r>
              <a:rPr lang="en-IN" sz="2800" b="1" dirty="0">
                <a:latin typeface="+mj-lt"/>
              </a:rPr>
              <a:t>environment.</a:t>
            </a:r>
          </a:p>
        </p:txBody>
      </p:sp>
    </p:spTree>
    <p:extLst>
      <p:ext uri="{BB962C8B-B14F-4D97-AF65-F5344CB8AC3E}">
        <p14:creationId xmlns:p14="http://schemas.microsoft.com/office/powerpoint/2010/main" val="46561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46570"/>
            <a:ext cx="9905998" cy="1478570"/>
          </a:xfrm>
        </p:spPr>
        <p:txBody>
          <a:bodyPr/>
          <a:lstStyle/>
          <a:p>
            <a:r>
              <a:rPr lang="en-IN" b="1" u="sng" dirty="0"/>
              <a:t>Characteristics of the Database Approach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356852"/>
            <a:ext cx="9905999" cy="482272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Self-describing nature of a database </a:t>
            </a:r>
            <a:r>
              <a:rPr lang="en-IN" dirty="0" smtClean="0"/>
              <a:t>system</a:t>
            </a:r>
          </a:p>
          <a:p>
            <a:pPr lvl="1"/>
            <a:r>
              <a:rPr lang="en-IN" dirty="0"/>
              <a:t>definition is stored in the DBMS </a:t>
            </a:r>
            <a:r>
              <a:rPr lang="en-IN" dirty="0" err="1" smtClean="0"/>
              <a:t>catalog</a:t>
            </a:r>
            <a:r>
              <a:rPr lang="en-IN" dirty="0" smtClean="0"/>
              <a:t>, which </a:t>
            </a:r>
            <a:r>
              <a:rPr lang="en-IN" dirty="0"/>
              <a:t>contains information such as the structure of each file, the type and </a:t>
            </a:r>
            <a:r>
              <a:rPr lang="en-IN" dirty="0" smtClean="0"/>
              <a:t>storage format </a:t>
            </a:r>
            <a:r>
              <a:rPr lang="en-IN" dirty="0"/>
              <a:t>of each data item, and various constraints on the </a:t>
            </a:r>
            <a:r>
              <a:rPr lang="en-IN" dirty="0" smtClean="0"/>
              <a:t>data.</a:t>
            </a:r>
            <a:endParaRPr lang="en-IN" dirty="0"/>
          </a:p>
          <a:p>
            <a:r>
              <a:rPr lang="en-IN" dirty="0" smtClean="0"/>
              <a:t>Insulation </a:t>
            </a:r>
            <a:r>
              <a:rPr lang="en-IN" dirty="0"/>
              <a:t>between programs and data, and data </a:t>
            </a:r>
            <a:r>
              <a:rPr lang="en-IN" dirty="0" smtClean="0"/>
              <a:t>abstraction</a:t>
            </a:r>
          </a:p>
          <a:p>
            <a:pPr lvl="1"/>
            <a:r>
              <a:rPr lang="en-IN" dirty="0" smtClean="0"/>
              <a:t>Program-data independence</a:t>
            </a:r>
            <a:endParaRPr lang="en-IN" dirty="0"/>
          </a:p>
          <a:p>
            <a:r>
              <a:rPr lang="en-IN" dirty="0" smtClean="0"/>
              <a:t>Support </a:t>
            </a:r>
            <a:r>
              <a:rPr lang="en-IN" dirty="0"/>
              <a:t>of multiple views of the </a:t>
            </a:r>
            <a:r>
              <a:rPr lang="en-IN" dirty="0" smtClean="0"/>
              <a:t>data</a:t>
            </a:r>
          </a:p>
          <a:p>
            <a:pPr lvl="1"/>
            <a:r>
              <a:rPr lang="en-IN" dirty="0"/>
              <a:t>A view may be a subset of the database or it may </a:t>
            </a:r>
            <a:r>
              <a:rPr lang="en-IN" dirty="0" smtClean="0"/>
              <a:t>contain virtual </a:t>
            </a:r>
            <a:r>
              <a:rPr lang="en-IN" dirty="0"/>
              <a:t>data that is derived from the database files but is not explicitly stored.</a:t>
            </a:r>
            <a:endParaRPr lang="en-IN" dirty="0" smtClean="0"/>
          </a:p>
          <a:p>
            <a:r>
              <a:rPr lang="en-IN" dirty="0" smtClean="0"/>
              <a:t>Sharing </a:t>
            </a:r>
            <a:r>
              <a:rPr lang="en-IN" dirty="0"/>
              <a:t>of data and multiuser transaction </a:t>
            </a:r>
            <a:r>
              <a:rPr lang="en-IN" dirty="0" smtClean="0"/>
              <a:t>processing</a:t>
            </a:r>
          </a:p>
          <a:p>
            <a:pPr lvl="1"/>
            <a:r>
              <a:rPr lang="en-IN" dirty="0" smtClean="0"/>
              <a:t>ACID Properties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06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1511" t="34576" r="47884" b="15625"/>
          <a:stretch/>
        </p:blipFill>
        <p:spPr>
          <a:xfrm>
            <a:off x="2389238" y="61069"/>
            <a:ext cx="7211961" cy="659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2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374" y="633267"/>
            <a:ext cx="9905998" cy="974308"/>
          </a:xfrm>
        </p:spPr>
        <p:txBody>
          <a:bodyPr/>
          <a:lstStyle/>
          <a:p>
            <a:r>
              <a:rPr lang="en-IN" b="1" u="sng" dirty="0" smtClean="0"/>
              <a:t>Database users: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0374" y="1607574"/>
            <a:ext cx="10250998" cy="4527755"/>
          </a:xfrm>
        </p:spPr>
        <p:txBody>
          <a:bodyPr/>
          <a:lstStyle/>
          <a:p>
            <a:r>
              <a:rPr lang="en-IN" i="1" dirty="0"/>
              <a:t>A</a:t>
            </a:r>
            <a:r>
              <a:rPr lang="en-IN" i="1" dirty="0" smtClean="0"/>
              <a:t>ctors </a:t>
            </a:r>
            <a:r>
              <a:rPr lang="en-IN" i="1" dirty="0"/>
              <a:t>on the </a:t>
            </a:r>
            <a:r>
              <a:rPr lang="en-IN" i="1" dirty="0" smtClean="0"/>
              <a:t>scene – actively involves day to day database activities</a:t>
            </a:r>
          </a:p>
          <a:p>
            <a:pPr lvl="1"/>
            <a:r>
              <a:rPr lang="en-IN" b="1" dirty="0"/>
              <a:t>Database </a:t>
            </a:r>
            <a:r>
              <a:rPr lang="en-IN" b="1" dirty="0" smtClean="0"/>
              <a:t>Administrators</a:t>
            </a:r>
          </a:p>
          <a:p>
            <a:pPr lvl="1"/>
            <a:r>
              <a:rPr lang="en-IN" b="1" dirty="0"/>
              <a:t>Database </a:t>
            </a:r>
            <a:r>
              <a:rPr lang="en-IN" b="1" dirty="0" smtClean="0"/>
              <a:t>Designers</a:t>
            </a:r>
          </a:p>
          <a:p>
            <a:pPr lvl="1"/>
            <a:r>
              <a:rPr lang="en-IN" b="1" dirty="0"/>
              <a:t>End </a:t>
            </a:r>
            <a:r>
              <a:rPr lang="en-IN" b="1" dirty="0" smtClean="0"/>
              <a:t>Users</a:t>
            </a:r>
          </a:p>
          <a:p>
            <a:pPr lvl="1"/>
            <a:r>
              <a:rPr lang="en-IN" b="1" dirty="0"/>
              <a:t>System Analysts and Application </a:t>
            </a:r>
            <a:r>
              <a:rPr lang="en-IN" b="1" dirty="0" smtClean="0"/>
              <a:t>Programmers (Software </a:t>
            </a:r>
            <a:r>
              <a:rPr lang="en-IN" b="1" dirty="0"/>
              <a:t>Engineers)</a:t>
            </a:r>
          </a:p>
          <a:p>
            <a:r>
              <a:rPr lang="en-IN" i="1" dirty="0" smtClean="0"/>
              <a:t>Actors behind </a:t>
            </a:r>
            <a:r>
              <a:rPr lang="en-IN" i="1" dirty="0"/>
              <a:t>the </a:t>
            </a:r>
            <a:r>
              <a:rPr lang="en-IN" i="1" dirty="0" smtClean="0"/>
              <a:t>scene – maintain the database environment system</a:t>
            </a:r>
          </a:p>
          <a:p>
            <a:pPr lvl="1"/>
            <a:r>
              <a:rPr lang="en-IN" b="1" dirty="0"/>
              <a:t>DBMS system designers and </a:t>
            </a:r>
            <a:r>
              <a:rPr lang="en-IN" b="1" dirty="0" smtClean="0"/>
              <a:t>implementers</a:t>
            </a:r>
          </a:p>
          <a:p>
            <a:pPr lvl="1"/>
            <a:r>
              <a:rPr lang="en-IN" b="1" dirty="0"/>
              <a:t>Tool </a:t>
            </a:r>
            <a:r>
              <a:rPr lang="en-IN" b="1" dirty="0" smtClean="0"/>
              <a:t>developers</a:t>
            </a:r>
          </a:p>
          <a:p>
            <a:pPr lvl="1"/>
            <a:r>
              <a:rPr lang="en-IN" b="1" dirty="0"/>
              <a:t>Operators and maintenance personnel</a:t>
            </a:r>
            <a:endParaRPr lang="en-IN" i="1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328269"/>
          </a:xfrm>
        </p:spPr>
        <p:txBody>
          <a:bodyPr/>
          <a:lstStyle/>
          <a:p>
            <a:r>
              <a:rPr lang="en-IN" b="1" u="sng" dirty="0"/>
              <a:t>Database Administrators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25561"/>
            <a:ext cx="9905999" cy="4395020"/>
          </a:xfrm>
        </p:spPr>
        <p:txBody>
          <a:bodyPr>
            <a:normAutofit/>
          </a:bodyPr>
          <a:lstStyle/>
          <a:p>
            <a:r>
              <a:rPr lang="en-IN" dirty="0" smtClean="0"/>
              <a:t>In </a:t>
            </a:r>
            <a:r>
              <a:rPr lang="en-IN" dirty="0"/>
              <a:t>a database </a:t>
            </a:r>
            <a:r>
              <a:rPr lang="en-IN" dirty="0" smtClean="0"/>
              <a:t>environment, the </a:t>
            </a:r>
            <a:r>
              <a:rPr lang="en-IN" dirty="0"/>
              <a:t>primary resource is the database itself, and the secondary resource is </a:t>
            </a:r>
            <a:r>
              <a:rPr lang="en-IN" dirty="0" smtClean="0"/>
              <a:t>the DBMS </a:t>
            </a:r>
            <a:r>
              <a:rPr lang="en-IN" dirty="0"/>
              <a:t>and related software. Administering these resources is the responsibility </a:t>
            </a:r>
            <a:r>
              <a:rPr lang="en-IN" dirty="0" smtClean="0"/>
              <a:t>of the </a:t>
            </a:r>
            <a:r>
              <a:rPr lang="en-IN" dirty="0"/>
              <a:t>database administrator (DBA).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DBA is responsible for authorizing </a:t>
            </a:r>
            <a:r>
              <a:rPr lang="en-IN" dirty="0" smtClean="0"/>
              <a:t>access to </a:t>
            </a:r>
            <a:r>
              <a:rPr lang="en-IN" dirty="0"/>
              <a:t>the database, coordinating and monitoring its use, and acquiring software </a:t>
            </a:r>
            <a:r>
              <a:rPr lang="en-IN" dirty="0" smtClean="0"/>
              <a:t>and hardware </a:t>
            </a:r>
            <a:r>
              <a:rPr lang="en-IN" dirty="0"/>
              <a:t>resources as needed.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DBA is accountable for problems such as </a:t>
            </a:r>
            <a:r>
              <a:rPr lang="en-IN" dirty="0" smtClean="0"/>
              <a:t>security breaches </a:t>
            </a:r>
            <a:r>
              <a:rPr lang="en-IN" dirty="0"/>
              <a:t>and poor system response time. In large organizations, the DBA </a:t>
            </a:r>
            <a:r>
              <a:rPr lang="en-IN" dirty="0" smtClean="0"/>
              <a:t>is assisted </a:t>
            </a:r>
            <a:r>
              <a:rPr lang="en-IN" dirty="0"/>
              <a:t>by a staff that carries out these functions.</a:t>
            </a:r>
          </a:p>
        </p:txBody>
      </p:sp>
    </p:spTree>
    <p:extLst>
      <p:ext uri="{BB962C8B-B14F-4D97-AF65-F5344CB8AC3E}">
        <p14:creationId xmlns:p14="http://schemas.microsoft.com/office/powerpoint/2010/main" val="171832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Database Designers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10813"/>
            <a:ext cx="9905999" cy="4586748"/>
          </a:xfrm>
        </p:spPr>
        <p:txBody>
          <a:bodyPr>
            <a:normAutofit/>
          </a:bodyPr>
          <a:lstStyle/>
          <a:p>
            <a:r>
              <a:rPr lang="en-IN" dirty="0"/>
              <a:t>R</a:t>
            </a:r>
            <a:r>
              <a:rPr lang="en-IN" dirty="0" smtClean="0"/>
              <a:t>esponsible </a:t>
            </a:r>
            <a:r>
              <a:rPr lang="en-IN" dirty="0"/>
              <a:t>for identifying the data to be stored in the </a:t>
            </a:r>
            <a:r>
              <a:rPr lang="en-IN" dirty="0" smtClean="0"/>
              <a:t>database and </a:t>
            </a:r>
            <a:r>
              <a:rPr lang="en-IN" dirty="0"/>
              <a:t>for choosing appropriate structures to represent and store this data. </a:t>
            </a:r>
            <a:endParaRPr lang="en-IN" dirty="0" smtClean="0"/>
          </a:p>
          <a:p>
            <a:r>
              <a:rPr lang="en-IN" dirty="0" smtClean="0"/>
              <a:t>Database </a:t>
            </a:r>
            <a:r>
              <a:rPr lang="en-IN" dirty="0"/>
              <a:t>designers typically interact with each potential </a:t>
            </a:r>
            <a:r>
              <a:rPr lang="en-IN" dirty="0" smtClean="0"/>
              <a:t>group of </a:t>
            </a:r>
            <a:r>
              <a:rPr lang="en-IN" dirty="0"/>
              <a:t>users and develop </a:t>
            </a:r>
            <a:r>
              <a:rPr lang="en-IN" b="1" dirty="0"/>
              <a:t>views </a:t>
            </a:r>
            <a:r>
              <a:rPr lang="en-IN" dirty="0"/>
              <a:t>of the database that meet the data and </a:t>
            </a:r>
            <a:r>
              <a:rPr lang="en-IN" dirty="0" smtClean="0"/>
              <a:t>processing requirements </a:t>
            </a:r>
            <a:r>
              <a:rPr lang="en-IN" dirty="0"/>
              <a:t>of these groups. </a:t>
            </a:r>
            <a:endParaRPr lang="en-IN" dirty="0" smtClean="0"/>
          </a:p>
          <a:p>
            <a:r>
              <a:rPr lang="en-IN" dirty="0" smtClean="0"/>
              <a:t>Each </a:t>
            </a:r>
            <a:r>
              <a:rPr lang="en-IN" dirty="0"/>
              <a:t>view is then </a:t>
            </a:r>
            <a:r>
              <a:rPr lang="en-IN" dirty="0" smtClean="0"/>
              <a:t>analysed </a:t>
            </a:r>
            <a:r>
              <a:rPr lang="en-IN" dirty="0"/>
              <a:t>and </a:t>
            </a:r>
            <a:r>
              <a:rPr lang="en-IN" i="1" dirty="0"/>
              <a:t>integrated </a:t>
            </a:r>
            <a:r>
              <a:rPr lang="en-IN" dirty="0"/>
              <a:t>with </a:t>
            </a:r>
            <a:r>
              <a:rPr lang="en-IN" dirty="0" smtClean="0"/>
              <a:t>the views </a:t>
            </a:r>
            <a:r>
              <a:rPr lang="en-IN" dirty="0"/>
              <a:t>of other user groups. The final database design must be capable of </a:t>
            </a:r>
            <a:r>
              <a:rPr lang="en-IN" dirty="0" smtClean="0"/>
              <a:t>supporting the </a:t>
            </a:r>
            <a:r>
              <a:rPr lang="en-IN" dirty="0"/>
              <a:t>requirements of all user groups.</a:t>
            </a:r>
          </a:p>
        </p:txBody>
      </p:sp>
    </p:spTree>
    <p:extLst>
      <p:ext uri="{BB962C8B-B14F-4D97-AF65-F5344CB8AC3E}">
        <p14:creationId xmlns:p14="http://schemas.microsoft.com/office/powerpoint/2010/main" val="401254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9587" y="618518"/>
            <a:ext cx="9557824" cy="826824"/>
          </a:xfrm>
        </p:spPr>
        <p:txBody>
          <a:bodyPr/>
          <a:lstStyle/>
          <a:p>
            <a:r>
              <a:rPr lang="en-IN" b="1" u="sng" dirty="0"/>
              <a:t>End Users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45341"/>
            <a:ext cx="10126356" cy="49849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End users </a:t>
            </a:r>
            <a:r>
              <a:rPr lang="en-IN" dirty="0"/>
              <a:t>are the people whose jobs require access to the database for </a:t>
            </a:r>
            <a:r>
              <a:rPr lang="en-IN" dirty="0" smtClean="0"/>
              <a:t>querying, updating</a:t>
            </a:r>
            <a:r>
              <a:rPr lang="en-IN" dirty="0"/>
              <a:t>, and generating </a:t>
            </a:r>
            <a:r>
              <a:rPr lang="en-IN" dirty="0" smtClean="0"/>
              <a:t>reports. </a:t>
            </a:r>
          </a:p>
          <a:p>
            <a:r>
              <a:rPr lang="en-IN" b="1" dirty="0"/>
              <a:t>Casual end users </a:t>
            </a:r>
            <a:r>
              <a:rPr lang="en-IN" dirty="0"/>
              <a:t>occasionally access the database, but they may need </a:t>
            </a:r>
            <a:r>
              <a:rPr lang="en-IN" dirty="0" smtClean="0"/>
              <a:t>different information </a:t>
            </a:r>
            <a:r>
              <a:rPr lang="en-IN" dirty="0"/>
              <a:t>each time. They use a sophisticated database query </a:t>
            </a:r>
            <a:r>
              <a:rPr lang="en-IN" dirty="0" smtClean="0"/>
              <a:t>language to </a:t>
            </a:r>
            <a:r>
              <a:rPr lang="en-IN" dirty="0"/>
              <a:t>specify their requests and are typically middle- or high-level </a:t>
            </a:r>
            <a:r>
              <a:rPr lang="en-IN" dirty="0" smtClean="0"/>
              <a:t>managers.</a:t>
            </a:r>
            <a:endParaRPr lang="en-IN" dirty="0"/>
          </a:p>
          <a:p>
            <a:r>
              <a:rPr lang="en-IN" b="1" dirty="0" smtClean="0"/>
              <a:t>Naive </a:t>
            </a:r>
            <a:r>
              <a:rPr lang="en-IN" dirty="0"/>
              <a:t>or </a:t>
            </a:r>
            <a:r>
              <a:rPr lang="en-IN" b="1" dirty="0"/>
              <a:t>parametric end </a:t>
            </a:r>
            <a:r>
              <a:rPr lang="en-IN" b="1" dirty="0" smtClean="0"/>
              <a:t>users, their </a:t>
            </a:r>
            <a:r>
              <a:rPr lang="en-IN" dirty="0" smtClean="0"/>
              <a:t>main </a:t>
            </a:r>
            <a:r>
              <a:rPr lang="en-IN" dirty="0"/>
              <a:t>job function revolves around constantly querying </a:t>
            </a:r>
            <a:r>
              <a:rPr lang="en-IN" dirty="0" smtClean="0"/>
              <a:t>and updating </a:t>
            </a:r>
            <a:r>
              <a:rPr lang="en-IN" dirty="0"/>
              <a:t>the database, using standard types of queries and </a:t>
            </a:r>
            <a:r>
              <a:rPr lang="en-IN" dirty="0" smtClean="0"/>
              <a:t>updates - called </a:t>
            </a:r>
            <a:r>
              <a:rPr lang="en-IN" b="1" dirty="0" smtClean="0"/>
              <a:t>canned transactions - </a:t>
            </a:r>
            <a:r>
              <a:rPr lang="en-IN" dirty="0" smtClean="0"/>
              <a:t>that </a:t>
            </a:r>
            <a:r>
              <a:rPr lang="en-IN" dirty="0"/>
              <a:t>have been carefully programmed and tested. </a:t>
            </a:r>
            <a:endParaRPr lang="en-IN" dirty="0" smtClean="0"/>
          </a:p>
          <a:p>
            <a:r>
              <a:rPr lang="en-IN" b="1" dirty="0"/>
              <a:t>Sophisticated end users </a:t>
            </a:r>
            <a:r>
              <a:rPr lang="en-IN" dirty="0"/>
              <a:t>include engineers, scientists, business analysts, </a:t>
            </a:r>
            <a:r>
              <a:rPr lang="en-IN" dirty="0" smtClean="0"/>
              <a:t>and others </a:t>
            </a:r>
            <a:r>
              <a:rPr lang="en-IN" dirty="0"/>
              <a:t>who thoroughly familiarize themselves with the facilities of </a:t>
            </a:r>
            <a:r>
              <a:rPr lang="en-IN" dirty="0" smtClean="0"/>
              <a:t>the DBMS </a:t>
            </a:r>
            <a:r>
              <a:rPr lang="en-IN" dirty="0"/>
              <a:t>in order to implement their own applications to meet their </a:t>
            </a:r>
            <a:r>
              <a:rPr lang="en-IN" dirty="0" smtClean="0"/>
              <a:t>complex requirements.</a:t>
            </a:r>
          </a:p>
          <a:p>
            <a:r>
              <a:rPr lang="en-IN" b="1" dirty="0"/>
              <a:t>Standalone users </a:t>
            </a:r>
            <a:r>
              <a:rPr lang="en-IN" dirty="0"/>
              <a:t>maintain personal databases by using ready-made </a:t>
            </a:r>
            <a:r>
              <a:rPr lang="en-IN" dirty="0" smtClean="0"/>
              <a:t>program packages </a:t>
            </a:r>
            <a:r>
              <a:rPr lang="en-IN" dirty="0"/>
              <a:t>that provide easy-to-use menu-based or </a:t>
            </a:r>
            <a:r>
              <a:rPr lang="en-IN" dirty="0" smtClean="0"/>
              <a:t>graphics-based interfaces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391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903" y="618518"/>
            <a:ext cx="10736826" cy="1478570"/>
          </a:xfrm>
        </p:spPr>
        <p:txBody>
          <a:bodyPr>
            <a:normAutofit/>
          </a:bodyPr>
          <a:lstStyle/>
          <a:p>
            <a:r>
              <a:rPr lang="en-IN" sz="3400" b="1" u="sng" dirty="0"/>
              <a:t>System Analysts and </a:t>
            </a:r>
            <a:r>
              <a:rPr lang="en-IN" sz="3400" b="1" u="sng" dirty="0" smtClean="0"/>
              <a:t>Application Programmers</a:t>
            </a:r>
            <a:endParaRPr lang="en-IN" sz="34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386" y="1991032"/>
            <a:ext cx="10146891" cy="4483509"/>
          </a:xfrm>
        </p:spPr>
        <p:txBody>
          <a:bodyPr>
            <a:normAutofit/>
          </a:bodyPr>
          <a:lstStyle/>
          <a:p>
            <a:r>
              <a:rPr lang="en-IN" b="1" dirty="0"/>
              <a:t>System analysts </a:t>
            </a:r>
            <a:r>
              <a:rPr lang="en-IN" dirty="0"/>
              <a:t>determine the requirements of end users, especially naive </a:t>
            </a:r>
            <a:r>
              <a:rPr lang="en-IN" dirty="0" smtClean="0"/>
              <a:t>and parametric </a:t>
            </a:r>
            <a:r>
              <a:rPr lang="en-IN" dirty="0"/>
              <a:t>end users, and develop specifications for standard canned </a:t>
            </a:r>
            <a:r>
              <a:rPr lang="en-IN" dirty="0" smtClean="0"/>
              <a:t>transactions that </a:t>
            </a:r>
            <a:r>
              <a:rPr lang="en-IN" dirty="0"/>
              <a:t>meet these requirements. </a:t>
            </a:r>
            <a:endParaRPr lang="en-IN" dirty="0" smtClean="0"/>
          </a:p>
          <a:p>
            <a:r>
              <a:rPr lang="en-IN" b="1" dirty="0" smtClean="0"/>
              <a:t>Application </a:t>
            </a:r>
            <a:r>
              <a:rPr lang="en-IN" b="1" dirty="0"/>
              <a:t>programmers </a:t>
            </a:r>
            <a:r>
              <a:rPr lang="en-IN" dirty="0"/>
              <a:t>implement these </a:t>
            </a:r>
            <a:r>
              <a:rPr lang="en-IN" dirty="0" smtClean="0"/>
              <a:t>specifications as </a:t>
            </a:r>
            <a:r>
              <a:rPr lang="en-IN" dirty="0"/>
              <a:t>programs; then they test, debug, document, and maintain these </a:t>
            </a:r>
            <a:r>
              <a:rPr lang="en-IN" dirty="0" smtClean="0"/>
              <a:t>canned transactions</a:t>
            </a:r>
            <a:r>
              <a:rPr lang="en-IN" dirty="0"/>
              <a:t>. </a:t>
            </a:r>
            <a:endParaRPr lang="en-IN" dirty="0" smtClean="0"/>
          </a:p>
          <a:p>
            <a:r>
              <a:rPr lang="en-IN" dirty="0" smtClean="0"/>
              <a:t>Such </a:t>
            </a:r>
            <a:r>
              <a:rPr lang="en-IN" dirty="0"/>
              <a:t>analysts and programmers—commonly referred to as </a:t>
            </a:r>
            <a:r>
              <a:rPr lang="en-IN" b="1" dirty="0" smtClean="0"/>
              <a:t>software developers </a:t>
            </a:r>
            <a:r>
              <a:rPr lang="en-IN" dirty="0"/>
              <a:t>or </a:t>
            </a:r>
            <a:r>
              <a:rPr lang="en-IN" b="1" dirty="0"/>
              <a:t>software engineers</a:t>
            </a:r>
            <a:r>
              <a:rPr lang="en-IN" dirty="0"/>
              <a:t>—should be familiar with the full range </a:t>
            </a:r>
            <a:r>
              <a:rPr lang="en-IN" dirty="0" smtClean="0"/>
              <a:t>of capabilities </a:t>
            </a:r>
            <a:r>
              <a:rPr lang="en-IN" dirty="0"/>
              <a:t>provided by the DBMS to accomplish their tasks.</a:t>
            </a:r>
          </a:p>
        </p:txBody>
      </p:sp>
    </p:spTree>
    <p:extLst>
      <p:ext uri="{BB962C8B-B14F-4D97-AF65-F5344CB8AC3E}">
        <p14:creationId xmlns:p14="http://schemas.microsoft.com/office/powerpoint/2010/main" val="191349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Advantages of Using the DBMS Approach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95055"/>
            <a:ext cx="9905999" cy="4488872"/>
          </a:xfrm>
        </p:spPr>
        <p:txBody>
          <a:bodyPr>
            <a:normAutofit/>
          </a:bodyPr>
          <a:lstStyle/>
          <a:p>
            <a:r>
              <a:rPr lang="en-IN" b="1" dirty="0"/>
              <a:t>Controlling </a:t>
            </a:r>
            <a:r>
              <a:rPr lang="en-IN" b="1" dirty="0" smtClean="0"/>
              <a:t>Redundancy</a:t>
            </a:r>
          </a:p>
          <a:p>
            <a:r>
              <a:rPr lang="en-IN" b="1" dirty="0"/>
              <a:t>Restricting Unauthorized </a:t>
            </a:r>
            <a:r>
              <a:rPr lang="en-IN" b="1" dirty="0" smtClean="0"/>
              <a:t>Access</a:t>
            </a:r>
          </a:p>
          <a:p>
            <a:r>
              <a:rPr lang="en-IN" b="1" dirty="0" smtClean="0"/>
              <a:t>Providing </a:t>
            </a:r>
            <a:r>
              <a:rPr lang="en-IN" b="1" dirty="0"/>
              <a:t>Storage Structures and </a:t>
            </a:r>
            <a:r>
              <a:rPr lang="en-IN" b="1" dirty="0" smtClean="0"/>
              <a:t>Search </a:t>
            </a:r>
            <a:r>
              <a:rPr lang="fr-FR" b="1" dirty="0" smtClean="0"/>
              <a:t>Techniques </a:t>
            </a:r>
            <a:r>
              <a:rPr lang="fr-FR" b="1" dirty="0"/>
              <a:t>for </a:t>
            </a:r>
            <a:r>
              <a:rPr lang="fr-FR" b="1" dirty="0" err="1" smtClean="0"/>
              <a:t>Query</a:t>
            </a:r>
            <a:r>
              <a:rPr lang="fr-FR" b="1" dirty="0" smtClean="0"/>
              <a:t> </a:t>
            </a:r>
            <a:r>
              <a:rPr lang="fr-FR" b="1" dirty="0" err="1" smtClean="0"/>
              <a:t>Processing</a:t>
            </a:r>
            <a:endParaRPr lang="fr-FR" b="1" dirty="0" smtClean="0"/>
          </a:p>
          <a:p>
            <a:r>
              <a:rPr lang="en-IN" b="1" dirty="0"/>
              <a:t>Providing Backup and </a:t>
            </a:r>
            <a:r>
              <a:rPr lang="en-IN" b="1" dirty="0" smtClean="0"/>
              <a:t>Recovery</a:t>
            </a:r>
          </a:p>
          <a:p>
            <a:r>
              <a:rPr lang="en-IN" b="1" dirty="0"/>
              <a:t>Providing Multiple User </a:t>
            </a:r>
            <a:r>
              <a:rPr lang="en-IN" b="1" dirty="0" smtClean="0"/>
              <a:t>Interfaces</a:t>
            </a:r>
          </a:p>
          <a:p>
            <a:r>
              <a:rPr lang="en-IN" b="1" dirty="0"/>
              <a:t>Representing Complex Relationships among </a:t>
            </a:r>
            <a:r>
              <a:rPr lang="en-IN" b="1" dirty="0" smtClean="0"/>
              <a:t>Data</a:t>
            </a:r>
          </a:p>
          <a:p>
            <a:r>
              <a:rPr lang="en-IN" b="1" dirty="0"/>
              <a:t>Enforcing Integrity Constraints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10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When Not to Use a DBMS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High initial investment in hardware, software, and </a:t>
            </a:r>
            <a:r>
              <a:rPr lang="en-IN" dirty="0" smtClean="0"/>
              <a:t>training</a:t>
            </a:r>
            <a:endParaRPr lang="en-IN" dirty="0"/>
          </a:p>
          <a:p>
            <a:r>
              <a:rPr lang="en-IN" dirty="0" smtClean="0"/>
              <a:t>Overhead </a:t>
            </a:r>
            <a:r>
              <a:rPr lang="en-IN" dirty="0"/>
              <a:t>for providing security, concurrency control, recovery, </a:t>
            </a:r>
            <a:r>
              <a:rPr lang="en-IN" dirty="0" smtClean="0"/>
              <a:t>and integrity functions</a:t>
            </a:r>
          </a:p>
          <a:p>
            <a:r>
              <a:rPr lang="en-IN" dirty="0"/>
              <a:t>Simple, well-defined database applications that are not expected to change </a:t>
            </a:r>
            <a:r>
              <a:rPr lang="en-IN" dirty="0" smtClean="0"/>
              <a:t>at all</a:t>
            </a:r>
          </a:p>
          <a:p>
            <a:r>
              <a:rPr lang="en-IN" dirty="0"/>
              <a:t>Embedded systems with limited storage capacity, where a </a:t>
            </a:r>
            <a:r>
              <a:rPr lang="en-IN" dirty="0" smtClean="0"/>
              <a:t>general-purpose DBMS </a:t>
            </a:r>
            <a:r>
              <a:rPr lang="en-IN" dirty="0"/>
              <a:t>would not fit</a:t>
            </a:r>
          </a:p>
          <a:p>
            <a:r>
              <a:rPr lang="en-IN" dirty="0" smtClean="0"/>
              <a:t>No </a:t>
            </a:r>
            <a:r>
              <a:rPr lang="en-IN" dirty="0"/>
              <a:t>multiple-user access to data</a:t>
            </a:r>
          </a:p>
        </p:txBody>
      </p:sp>
    </p:spTree>
    <p:extLst>
      <p:ext uri="{BB962C8B-B14F-4D97-AF65-F5344CB8AC3E}">
        <p14:creationId xmlns:p14="http://schemas.microsoft.com/office/powerpoint/2010/main" val="40120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Database System </a:t>
            </a:r>
            <a:r>
              <a:rPr lang="en-IN" b="1" u="sng" dirty="0" smtClean="0"/>
              <a:t>Architecture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10330152" cy="3541714"/>
          </a:xfrm>
        </p:spPr>
        <p:txBody>
          <a:bodyPr>
            <a:normAutofit/>
          </a:bodyPr>
          <a:lstStyle/>
          <a:p>
            <a:r>
              <a:rPr lang="en-IN" dirty="0"/>
              <a:t>A</a:t>
            </a:r>
            <a:r>
              <a:rPr lang="en-IN" dirty="0" smtClean="0"/>
              <a:t>rchitecture </a:t>
            </a:r>
            <a:r>
              <a:rPr lang="en-IN" dirty="0"/>
              <a:t>of DBMS packages has </a:t>
            </a:r>
            <a:r>
              <a:rPr lang="en-IN" dirty="0" smtClean="0"/>
              <a:t>evolved </a:t>
            </a:r>
          </a:p>
          <a:p>
            <a:r>
              <a:rPr lang="en-IN" dirty="0"/>
              <a:t>C</a:t>
            </a:r>
            <a:r>
              <a:rPr lang="en-IN" dirty="0" smtClean="0"/>
              <a:t>lient/server </a:t>
            </a:r>
            <a:r>
              <a:rPr lang="en-IN" dirty="0"/>
              <a:t>system </a:t>
            </a:r>
            <a:r>
              <a:rPr lang="en-IN" dirty="0" smtClean="0"/>
              <a:t>architecture</a:t>
            </a:r>
          </a:p>
          <a:p>
            <a:r>
              <a:rPr lang="en-IN" dirty="0"/>
              <a:t>T</a:t>
            </a:r>
            <a:r>
              <a:rPr lang="en-IN" dirty="0" smtClean="0"/>
              <a:t>he </a:t>
            </a:r>
            <a:r>
              <a:rPr lang="en-IN" dirty="0"/>
              <a:t>system functionality is </a:t>
            </a:r>
            <a:r>
              <a:rPr lang="en-IN" dirty="0" smtClean="0"/>
              <a:t>distributed between </a:t>
            </a:r>
            <a:r>
              <a:rPr lang="en-IN" dirty="0"/>
              <a:t>two types of modules</a:t>
            </a:r>
            <a:r>
              <a:rPr lang="en-IN" dirty="0" smtClean="0"/>
              <a:t>.</a:t>
            </a:r>
          </a:p>
          <a:p>
            <a:pPr lvl="1"/>
            <a:r>
              <a:rPr lang="en-IN" sz="2400" dirty="0"/>
              <a:t>C</a:t>
            </a:r>
            <a:r>
              <a:rPr lang="en-IN" sz="2400" dirty="0" smtClean="0"/>
              <a:t>lient </a:t>
            </a:r>
            <a:r>
              <a:rPr lang="en-IN" sz="2400" dirty="0"/>
              <a:t>module </a:t>
            </a:r>
            <a:r>
              <a:rPr lang="en-IN" sz="2400" dirty="0" smtClean="0"/>
              <a:t>: designed to run </a:t>
            </a:r>
            <a:r>
              <a:rPr lang="en-IN" sz="2400" dirty="0"/>
              <a:t>on a user workstation or personal computer</a:t>
            </a:r>
            <a:r>
              <a:rPr lang="en-IN" sz="2400" dirty="0" smtClean="0"/>
              <a:t>.</a:t>
            </a:r>
          </a:p>
          <a:p>
            <a:pPr lvl="1"/>
            <a:r>
              <a:rPr lang="en-IN" sz="2400" dirty="0"/>
              <a:t>S</a:t>
            </a:r>
            <a:r>
              <a:rPr lang="en-IN" sz="2400" dirty="0" smtClean="0"/>
              <a:t>erver module</a:t>
            </a:r>
            <a:r>
              <a:rPr lang="en-IN" sz="2400" dirty="0"/>
              <a:t> </a:t>
            </a:r>
            <a:r>
              <a:rPr lang="en-IN" sz="2400" dirty="0" smtClean="0"/>
              <a:t>: handles </a:t>
            </a:r>
            <a:r>
              <a:rPr lang="en-IN" sz="2400" dirty="0"/>
              <a:t>data storage, access, search, </a:t>
            </a:r>
            <a:r>
              <a:rPr lang="en-IN" sz="2400" dirty="0" smtClean="0"/>
              <a:t>and other functions.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8446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84" y="144901"/>
            <a:ext cx="6223820" cy="655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17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 Models, Schemas, and Instances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u="sng" dirty="0"/>
              <a:t>Data </a:t>
            </a:r>
            <a:r>
              <a:rPr lang="en-IN" sz="3200" b="1" u="sng" dirty="0" smtClean="0"/>
              <a:t>abstraction</a:t>
            </a:r>
            <a:r>
              <a:rPr lang="en-IN" sz="3200" b="1" dirty="0" smtClean="0"/>
              <a:t> : </a:t>
            </a:r>
            <a:r>
              <a:rPr lang="en-IN" dirty="0" smtClean="0"/>
              <a:t>generally </a:t>
            </a:r>
            <a:r>
              <a:rPr lang="en-IN" dirty="0"/>
              <a:t>refers to the suppression </a:t>
            </a:r>
            <a:r>
              <a:rPr lang="en-IN" dirty="0" smtClean="0"/>
              <a:t>of details </a:t>
            </a:r>
            <a:r>
              <a:rPr lang="en-IN" dirty="0"/>
              <a:t>of data organization and storage, and the highlighting of the essential </a:t>
            </a:r>
            <a:r>
              <a:rPr lang="en-IN" dirty="0" smtClean="0"/>
              <a:t>features for </a:t>
            </a:r>
            <a:r>
              <a:rPr lang="en-IN" dirty="0"/>
              <a:t>an improved understanding of data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85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752168"/>
            <a:ext cx="10229594" cy="50390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200" b="1" u="sng" dirty="0"/>
              <a:t>D</a:t>
            </a:r>
            <a:r>
              <a:rPr lang="en-IN" sz="3200" b="1" u="sng" dirty="0" smtClean="0"/>
              <a:t>ata model</a:t>
            </a:r>
            <a:r>
              <a:rPr lang="en-IN" dirty="0" smtClean="0"/>
              <a:t>: </a:t>
            </a:r>
          </a:p>
          <a:p>
            <a:pPr algn="just"/>
            <a:r>
              <a:rPr lang="en-IN" dirty="0"/>
              <a:t>C</a:t>
            </a:r>
            <a:r>
              <a:rPr lang="en-IN" dirty="0" smtClean="0"/>
              <a:t>ollection </a:t>
            </a:r>
            <a:r>
              <a:rPr lang="en-IN" dirty="0"/>
              <a:t>of concepts </a:t>
            </a:r>
            <a:r>
              <a:rPr lang="en-IN" dirty="0" smtClean="0"/>
              <a:t>that can </a:t>
            </a:r>
            <a:r>
              <a:rPr lang="en-IN" dirty="0"/>
              <a:t>be used to describe the structure of a </a:t>
            </a:r>
            <a:r>
              <a:rPr lang="en-IN" dirty="0" smtClean="0"/>
              <a:t>database</a:t>
            </a:r>
          </a:p>
          <a:p>
            <a:pPr algn="just"/>
            <a:r>
              <a:rPr lang="en-IN" dirty="0"/>
              <a:t>P</a:t>
            </a:r>
            <a:r>
              <a:rPr lang="en-IN" dirty="0" smtClean="0"/>
              <a:t>rovides </a:t>
            </a:r>
            <a:r>
              <a:rPr lang="en-IN" dirty="0"/>
              <a:t>the necessary </a:t>
            </a:r>
            <a:r>
              <a:rPr lang="en-IN" dirty="0" smtClean="0"/>
              <a:t>means to </a:t>
            </a:r>
            <a:r>
              <a:rPr lang="en-IN" dirty="0"/>
              <a:t>achieve </a:t>
            </a:r>
            <a:r>
              <a:rPr lang="en-IN" dirty="0" smtClean="0"/>
              <a:t>data </a:t>
            </a:r>
            <a:r>
              <a:rPr lang="en-IN" dirty="0"/>
              <a:t>abstraction</a:t>
            </a:r>
            <a:r>
              <a:rPr lang="en-IN" dirty="0" smtClean="0"/>
              <a:t>.</a:t>
            </a:r>
            <a:endParaRPr lang="en-IN" dirty="0"/>
          </a:p>
          <a:p>
            <a:pPr algn="just"/>
            <a:r>
              <a:rPr lang="en-IN" dirty="0"/>
              <a:t>By </a:t>
            </a:r>
            <a:r>
              <a:rPr lang="en-IN" i="1" dirty="0"/>
              <a:t>structure of a database </a:t>
            </a:r>
            <a:r>
              <a:rPr lang="en-IN" dirty="0"/>
              <a:t>we mean the data types, </a:t>
            </a:r>
            <a:r>
              <a:rPr lang="en-IN" dirty="0" smtClean="0"/>
              <a:t>relationships, and </a:t>
            </a:r>
            <a:r>
              <a:rPr lang="en-IN" dirty="0"/>
              <a:t>constraints that apply to the data</a:t>
            </a:r>
            <a:r>
              <a:rPr lang="en-IN" dirty="0" smtClean="0"/>
              <a:t>.</a:t>
            </a:r>
          </a:p>
          <a:p>
            <a:pPr algn="just"/>
            <a:endParaRPr lang="en-IN" dirty="0"/>
          </a:p>
          <a:p>
            <a:pPr marL="0" indent="0" algn="just">
              <a:buNone/>
            </a:pPr>
            <a:r>
              <a:rPr lang="en-IN" dirty="0" smtClean="0"/>
              <a:t>Data model defines how the logical structure of a database is modelled. </a:t>
            </a:r>
            <a:r>
              <a:rPr lang="en-IN" dirty="0"/>
              <a:t>Data models show that how the data is connected and stored in the system. It shows the relationship between data</a:t>
            </a:r>
            <a:r>
              <a:rPr lang="en-IN" b="1" dirty="0"/>
              <a:t>.</a:t>
            </a:r>
            <a:endParaRPr lang="en-IN" dirty="0"/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60099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10" y="1165122"/>
            <a:ext cx="10736095" cy="443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6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Categories of Data Models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High-level (conceptual data models</a:t>
            </a:r>
            <a:r>
              <a:rPr lang="en-IN" dirty="0" smtClean="0"/>
              <a:t>)</a:t>
            </a:r>
          </a:p>
          <a:p>
            <a:r>
              <a:rPr lang="en-IN" dirty="0"/>
              <a:t>Low-level (physical data models</a:t>
            </a:r>
            <a:r>
              <a:rPr lang="en-IN" dirty="0" smtClean="0"/>
              <a:t>)</a:t>
            </a:r>
          </a:p>
          <a:p>
            <a:r>
              <a:rPr lang="en-IN" dirty="0"/>
              <a:t>representational (</a:t>
            </a:r>
            <a:r>
              <a:rPr lang="en-IN" dirty="0" smtClean="0"/>
              <a:t>implementation</a:t>
            </a:r>
            <a:r>
              <a:rPr lang="en-IN" dirty="0"/>
              <a:t> </a:t>
            </a:r>
            <a:r>
              <a:rPr lang="en-IN" dirty="0" smtClean="0"/>
              <a:t>data models)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237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High-level </a:t>
            </a:r>
            <a:r>
              <a:rPr lang="en-IN" u="sng" dirty="0"/>
              <a:t>(</a:t>
            </a:r>
            <a:r>
              <a:rPr lang="en-IN" b="1" u="sng" dirty="0"/>
              <a:t>conceptual data models)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694113"/>
          </a:xfrm>
        </p:spPr>
        <p:txBody>
          <a:bodyPr>
            <a:normAutofit fontScale="92500"/>
          </a:bodyPr>
          <a:lstStyle/>
          <a:p>
            <a:pPr algn="just"/>
            <a:r>
              <a:rPr lang="en-IN" dirty="0"/>
              <a:t>P</a:t>
            </a:r>
            <a:r>
              <a:rPr lang="en-IN" dirty="0" smtClean="0"/>
              <a:t>rovide </a:t>
            </a:r>
            <a:r>
              <a:rPr lang="en-IN" dirty="0"/>
              <a:t>concepts that are close to the way many users </a:t>
            </a:r>
            <a:r>
              <a:rPr lang="en-IN" dirty="0" smtClean="0"/>
              <a:t>perceive data</a:t>
            </a:r>
          </a:p>
          <a:p>
            <a:pPr algn="just"/>
            <a:r>
              <a:rPr lang="en-IN" dirty="0"/>
              <a:t>Conceptual data models use concepts such as entities, attributes, and relationships.</a:t>
            </a:r>
          </a:p>
          <a:p>
            <a:pPr algn="just"/>
            <a:r>
              <a:rPr lang="en-IN" dirty="0"/>
              <a:t>An </a:t>
            </a:r>
            <a:r>
              <a:rPr lang="en-IN" b="1" dirty="0"/>
              <a:t>entity </a:t>
            </a:r>
            <a:r>
              <a:rPr lang="en-IN" dirty="0"/>
              <a:t>represents a real-world object or </a:t>
            </a:r>
            <a:r>
              <a:rPr lang="en-IN" dirty="0" smtClean="0"/>
              <a:t>concept that </a:t>
            </a:r>
            <a:r>
              <a:rPr lang="en-IN" dirty="0"/>
              <a:t>is described in the database. </a:t>
            </a:r>
            <a:endParaRPr lang="en-IN" dirty="0" smtClean="0"/>
          </a:p>
          <a:p>
            <a:pPr algn="just"/>
            <a:r>
              <a:rPr lang="en-IN" dirty="0" smtClean="0"/>
              <a:t>An </a:t>
            </a:r>
            <a:r>
              <a:rPr lang="en-IN" b="1" dirty="0"/>
              <a:t>attribute </a:t>
            </a:r>
            <a:r>
              <a:rPr lang="en-IN" dirty="0"/>
              <a:t>represents </a:t>
            </a:r>
            <a:r>
              <a:rPr lang="en-IN" dirty="0" smtClean="0"/>
              <a:t>some property that describes </a:t>
            </a:r>
            <a:r>
              <a:rPr lang="en-IN" dirty="0"/>
              <a:t>an </a:t>
            </a:r>
            <a:r>
              <a:rPr lang="en-IN" dirty="0" smtClean="0"/>
              <a:t>entity.</a:t>
            </a:r>
          </a:p>
          <a:p>
            <a:pPr algn="just"/>
            <a:r>
              <a:rPr lang="en-IN" dirty="0" smtClean="0"/>
              <a:t>A </a:t>
            </a:r>
            <a:r>
              <a:rPr lang="en-IN" b="1" dirty="0"/>
              <a:t>relationship </a:t>
            </a:r>
            <a:r>
              <a:rPr lang="en-IN" dirty="0"/>
              <a:t>among two or more entities represents an association </a:t>
            </a:r>
            <a:r>
              <a:rPr lang="en-IN" dirty="0" smtClean="0"/>
              <a:t>among the entities.</a:t>
            </a:r>
            <a:endParaRPr lang="en-IN" dirty="0"/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90417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Entity Relationship Data </a:t>
            </a:r>
            <a:r>
              <a:rPr lang="en-IN" b="1" u="sng" dirty="0" smtClean="0"/>
              <a:t>Model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407" y="2174081"/>
            <a:ext cx="3716594" cy="3694113"/>
          </a:xfrm>
        </p:spPr>
        <p:txBody>
          <a:bodyPr/>
          <a:lstStyle/>
          <a:p>
            <a:r>
              <a:rPr lang="en-IN" dirty="0"/>
              <a:t>Entity and their attributes</a:t>
            </a:r>
          </a:p>
          <a:p>
            <a:r>
              <a:rPr lang="en-IN" dirty="0"/>
              <a:t>Relationships among entities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027" y="1964353"/>
            <a:ext cx="7329947" cy="431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2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Low-level </a:t>
            </a:r>
            <a:r>
              <a:rPr lang="en-IN" u="sng" dirty="0"/>
              <a:t>(</a:t>
            </a:r>
            <a:r>
              <a:rPr lang="en-IN" b="1" u="sng" dirty="0"/>
              <a:t>physical data models)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</a:t>
            </a:r>
            <a:r>
              <a:rPr lang="en-IN" dirty="0" smtClean="0"/>
              <a:t>rovide </a:t>
            </a:r>
            <a:r>
              <a:rPr lang="en-IN" dirty="0"/>
              <a:t>concepts that describe the details of how data is stored on the computer storage media</a:t>
            </a:r>
          </a:p>
          <a:p>
            <a:r>
              <a:rPr lang="en-IN" dirty="0"/>
              <a:t>Concepts provided by low-level data models are generally meant </a:t>
            </a:r>
            <a:r>
              <a:rPr lang="en-IN" dirty="0" smtClean="0"/>
              <a:t>for computer </a:t>
            </a:r>
            <a:r>
              <a:rPr lang="en-IN" dirty="0"/>
              <a:t>specialists, not for end users.</a:t>
            </a:r>
          </a:p>
        </p:txBody>
      </p:sp>
    </p:spTree>
    <p:extLst>
      <p:ext uri="{BB962C8B-B14F-4D97-AF65-F5344CB8AC3E}">
        <p14:creationId xmlns:p14="http://schemas.microsoft.com/office/powerpoint/2010/main" val="69714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386" y="722670"/>
            <a:ext cx="10235381" cy="1374417"/>
          </a:xfrm>
        </p:spPr>
        <p:txBody>
          <a:bodyPr/>
          <a:lstStyle/>
          <a:p>
            <a:r>
              <a:rPr lang="en-IN" b="1" u="sng" dirty="0" smtClean="0"/>
              <a:t>representational data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Between these two extremes is a class of </a:t>
            </a:r>
            <a:r>
              <a:rPr lang="en-IN" u="sng" dirty="0"/>
              <a:t>representational (implementation) data models</a:t>
            </a:r>
            <a:r>
              <a:rPr lang="en-IN" dirty="0"/>
              <a:t>, which provide concepts that may be easily understood by end users and hide </a:t>
            </a:r>
            <a:r>
              <a:rPr lang="en-IN" u="sng" dirty="0"/>
              <a:t>many details </a:t>
            </a:r>
            <a:r>
              <a:rPr lang="en-IN" dirty="0"/>
              <a:t>of data storage on disk</a:t>
            </a:r>
            <a:r>
              <a:rPr lang="en-IN" dirty="0" smtClean="0"/>
              <a:t>.</a:t>
            </a:r>
          </a:p>
          <a:p>
            <a:pPr algn="just"/>
            <a:r>
              <a:rPr lang="en-IN" dirty="0"/>
              <a:t>I</a:t>
            </a:r>
            <a:r>
              <a:rPr lang="en-IN" dirty="0" smtClean="0"/>
              <a:t>mplementation </a:t>
            </a:r>
            <a:r>
              <a:rPr lang="en-IN" dirty="0"/>
              <a:t>data models are the models used most </a:t>
            </a:r>
            <a:r>
              <a:rPr lang="en-IN" dirty="0" smtClean="0"/>
              <a:t>frequently in </a:t>
            </a:r>
            <a:r>
              <a:rPr lang="en-IN" dirty="0"/>
              <a:t>traditional commercial DBMSs. </a:t>
            </a:r>
            <a:endParaRPr lang="en-IN" dirty="0" smtClean="0"/>
          </a:p>
          <a:p>
            <a:pPr algn="just"/>
            <a:r>
              <a:rPr lang="en-IN" dirty="0" smtClean="0"/>
              <a:t>These </a:t>
            </a:r>
            <a:r>
              <a:rPr lang="en-IN" dirty="0"/>
              <a:t>include the widely used </a:t>
            </a:r>
            <a:r>
              <a:rPr lang="en-IN" dirty="0" smtClean="0"/>
              <a:t>relational data </a:t>
            </a:r>
            <a:r>
              <a:rPr lang="en-IN" dirty="0"/>
              <a:t>model, </a:t>
            </a:r>
            <a:r>
              <a:rPr lang="en-IN" dirty="0" smtClean="0"/>
              <a:t>the </a:t>
            </a:r>
            <a:r>
              <a:rPr lang="en-IN" dirty="0"/>
              <a:t>network </a:t>
            </a:r>
            <a:r>
              <a:rPr lang="en-IN" dirty="0" smtClean="0"/>
              <a:t>model and hierarchical models</a:t>
            </a:r>
            <a:r>
              <a:rPr lang="en-IN" dirty="0"/>
              <a:t>.</a:t>
            </a:r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53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Relational Data </a:t>
            </a:r>
            <a:r>
              <a:rPr lang="en-IN" b="1" u="sng" dirty="0" smtClean="0"/>
              <a:t>Model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426" y="2079523"/>
            <a:ext cx="4197677" cy="4146934"/>
          </a:xfrm>
        </p:spPr>
        <p:txBody>
          <a:bodyPr>
            <a:normAutofit fontScale="92500"/>
          </a:bodyPr>
          <a:lstStyle/>
          <a:p>
            <a:r>
              <a:rPr lang="en-IN" dirty="0"/>
              <a:t>T</a:t>
            </a:r>
            <a:r>
              <a:rPr lang="en-IN" dirty="0" smtClean="0"/>
              <a:t>he </a:t>
            </a:r>
            <a:r>
              <a:rPr lang="en-IN" dirty="0"/>
              <a:t>data </a:t>
            </a:r>
            <a:r>
              <a:rPr lang="en-IN" dirty="0" smtClean="0"/>
              <a:t>is </a:t>
            </a:r>
            <a:r>
              <a:rPr lang="en-IN" dirty="0"/>
              <a:t>stored in the tables </a:t>
            </a:r>
          </a:p>
          <a:p>
            <a:r>
              <a:rPr lang="en-IN" dirty="0"/>
              <a:t>Relations can be normalized.</a:t>
            </a:r>
          </a:p>
          <a:p>
            <a:r>
              <a:rPr lang="en-IN" dirty="0"/>
              <a:t>In normalized relations, values saved are atomic values.</a:t>
            </a:r>
          </a:p>
          <a:p>
            <a:r>
              <a:rPr lang="en-IN" dirty="0"/>
              <a:t>Each row in a relation contains a unique value.</a:t>
            </a:r>
          </a:p>
          <a:p>
            <a:r>
              <a:rPr lang="en-IN" dirty="0"/>
              <a:t>Each column in a relation contains values from a same domain.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103" y="1890610"/>
            <a:ext cx="6937354" cy="433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14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Network Data </a:t>
            </a:r>
            <a:r>
              <a:rPr lang="en-IN" b="1" u="sng" dirty="0" smtClean="0"/>
              <a:t>Model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097088"/>
            <a:ext cx="3106122" cy="4082485"/>
          </a:xfrm>
        </p:spPr>
        <p:txBody>
          <a:bodyPr>
            <a:normAutofit/>
          </a:bodyPr>
          <a:lstStyle/>
          <a:p>
            <a:r>
              <a:rPr lang="en-IN" dirty="0"/>
              <a:t>Network model has the entities which are organized in a graphical representation and some entities in the graph can be accessed through several paths.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522" y="1934856"/>
            <a:ext cx="6799876" cy="451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2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Hierarchical Data </a:t>
            </a:r>
            <a:r>
              <a:rPr lang="en-IN" b="1" u="sng" dirty="0" smtClean="0"/>
              <a:t>Model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740310"/>
            <a:ext cx="2663671" cy="4689987"/>
          </a:xfrm>
        </p:spPr>
        <p:txBody>
          <a:bodyPr>
            <a:normAutofit/>
          </a:bodyPr>
          <a:lstStyle/>
          <a:p>
            <a:r>
              <a:rPr lang="en-IN" dirty="0"/>
              <a:t>Hierarchical model has one parent entity with several children entity </a:t>
            </a:r>
            <a:endParaRPr lang="en-IN" dirty="0" smtClean="0"/>
          </a:p>
          <a:p>
            <a:r>
              <a:rPr lang="en-IN" dirty="0"/>
              <a:t>A</a:t>
            </a:r>
            <a:r>
              <a:rPr lang="en-IN" dirty="0" smtClean="0"/>
              <a:t>t </a:t>
            </a:r>
            <a:r>
              <a:rPr lang="en-IN" dirty="0"/>
              <a:t>the top we should have only one entity called root.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124" y="2274069"/>
            <a:ext cx="6592860" cy="263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4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Database Schemas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76284"/>
            <a:ext cx="9905999" cy="3814917"/>
          </a:xfrm>
        </p:spPr>
        <p:txBody>
          <a:bodyPr/>
          <a:lstStyle/>
          <a:p>
            <a:r>
              <a:rPr lang="en-IN" dirty="0"/>
              <a:t>In any data model, it is important to distinguish between the description of the </a:t>
            </a:r>
            <a:r>
              <a:rPr lang="en-IN" dirty="0" smtClean="0"/>
              <a:t>database and </a:t>
            </a:r>
            <a:r>
              <a:rPr lang="en-IN" dirty="0"/>
              <a:t>the database itself</a:t>
            </a:r>
            <a:r>
              <a:rPr lang="en-IN" dirty="0" smtClean="0"/>
              <a:t>.</a:t>
            </a:r>
          </a:p>
          <a:p>
            <a:r>
              <a:rPr lang="en-IN" dirty="0" smtClean="0"/>
              <a:t>The </a:t>
            </a:r>
            <a:r>
              <a:rPr lang="en-IN" dirty="0"/>
              <a:t>description of a database is </a:t>
            </a:r>
            <a:r>
              <a:rPr lang="en-IN" dirty="0" smtClean="0"/>
              <a:t>c</a:t>
            </a:r>
            <a:r>
              <a:rPr lang="en-IN" dirty="0"/>
              <a:t>alled the database </a:t>
            </a:r>
            <a:r>
              <a:rPr lang="en-IN" dirty="0" smtClean="0"/>
              <a:t>schema</a:t>
            </a:r>
          </a:p>
          <a:p>
            <a:r>
              <a:rPr lang="en-IN" dirty="0"/>
              <a:t>A displayed schema is called a </a:t>
            </a:r>
            <a:r>
              <a:rPr lang="en-IN" b="1" dirty="0"/>
              <a:t>schema </a:t>
            </a:r>
            <a:r>
              <a:rPr lang="en-IN" b="1" dirty="0" smtClean="0"/>
              <a:t>diagram i.e. </a:t>
            </a:r>
            <a:r>
              <a:rPr lang="en-IN" dirty="0"/>
              <a:t>structural view(design) of a </a:t>
            </a:r>
            <a:r>
              <a:rPr lang="en-IN" dirty="0" smtClean="0"/>
              <a:t>database.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44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10" t="57895" r="33410" b="6407"/>
          <a:stretch/>
        </p:blipFill>
        <p:spPr>
          <a:xfrm>
            <a:off x="5368414" y="3878825"/>
            <a:ext cx="2138516" cy="23007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8" t="8391" r="4652" b="57055"/>
          <a:stretch/>
        </p:blipFill>
        <p:spPr>
          <a:xfrm>
            <a:off x="7742903" y="936522"/>
            <a:ext cx="2153264" cy="22270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7246" r="59878" b="56598"/>
          <a:stretch/>
        </p:blipFill>
        <p:spPr>
          <a:xfrm>
            <a:off x="2846440" y="884903"/>
            <a:ext cx="2212258" cy="2330245"/>
          </a:xfrm>
          <a:prstGeom prst="rect">
            <a:avLst/>
          </a:prstGeom>
        </p:spPr>
      </p:pic>
      <p:cxnSp>
        <p:nvCxnSpPr>
          <p:cNvPr id="9" name="Straight Connector 8"/>
          <p:cNvCxnSpPr>
            <a:stCxn id="7" idx="3"/>
            <a:endCxn id="6" idx="1"/>
          </p:cNvCxnSpPr>
          <p:nvPr/>
        </p:nvCxnSpPr>
        <p:spPr>
          <a:xfrm flipV="1">
            <a:off x="5058698" y="2050025"/>
            <a:ext cx="2684205" cy="1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7" idx="2"/>
            <a:endCxn id="2" idx="1"/>
          </p:cNvCxnSpPr>
          <p:nvPr/>
        </p:nvCxnSpPr>
        <p:spPr>
          <a:xfrm>
            <a:off x="3952569" y="3215148"/>
            <a:ext cx="1415845" cy="1814051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2"/>
            <a:endCxn id="2" idx="3"/>
          </p:cNvCxnSpPr>
          <p:nvPr/>
        </p:nvCxnSpPr>
        <p:spPr>
          <a:xfrm flipH="1">
            <a:off x="7506930" y="3163528"/>
            <a:ext cx="1312605" cy="1865671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18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9874" t="37400" r="25667" b="28931"/>
          <a:stretch/>
        </p:blipFill>
        <p:spPr>
          <a:xfrm>
            <a:off x="2772696" y="1730268"/>
            <a:ext cx="7875638" cy="43264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25328" y="849331"/>
            <a:ext cx="95323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Minion-Regular"/>
              </a:rPr>
              <a:t>A schema diagram displays only </a:t>
            </a:r>
            <a:r>
              <a:rPr lang="en-IN" sz="2400" dirty="0">
                <a:latin typeface="Minion-Italic"/>
              </a:rPr>
              <a:t>some aspects </a:t>
            </a:r>
            <a:r>
              <a:rPr lang="en-IN" sz="2400" dirty="0">
                <a:latin typeface="Minion-Regular"/>
              </a:rPr>
              <a:t>of a schema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2829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Database state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actual data in a database may change quite </a:t>
            </a:r>
            <a:r>
              <a:rPr lang="en-IN" dirty="0" smtClean="0"/>
              <a:t>frequently.</a:t>
            </a:r>
          </a:p>
          <a:p>
            <a:r>
              <a:rPr lang="en-IN" dirty="0"/>
              <a:t>The data in the database at a particular moment in time is called a </a:t>
            </a:r>
            <a:r>
              <a:rPr lang="en-IN" b="1" dirty="0" smtClean="0"/>
              <a:t>database state </a:t>
            </a:r>
            <a:r>
              <a:rPr lang="en-IN" dirty="0"/>
              <a:t>or </a:t>
            </a:r>
            <a:r>
              <a:rPr lang="en-IN" b="1" dirty="0" smtClean="0"/>
              <a:t>instance in the database.</a:t>
            </a:r>
          </a:p>
          <a:p>
            <a:r>
              <a:rPr lang="en-IN" dirty="0"/>
              <a:t>Database schema defines the variable declarations in tables that belong to a particular database; the value of these variables at a moment of time is called the instance of that database.</a:t>
            </a:r>
          </a:p>
          <a:p>
            <a:endParaRPr lang="en-IN" b="1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601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9559" t="29940" r="23513" b="25503"/>
          <a:stretch/>
        </p:blipFill>
        <p:spPr>
          <a:xfrm>
            <a:off x="938628" y="634181"/>
            <a:ext cx="10692110" cy="57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u="sng" dirty="0"/>
              <a:t>E</a:t>
            </a:r>
            <a:r>
              <a:rPr lang="en-IN" u="sng" dirty="0" smtClean="0"/>
              <a:t>mpty state </a:t>
            </a:r>
            <a:r>
              <a:rPr lang="en-IN" dirty="0" smtClean="0"/>
              <a:t>: </a:t>
            </a:r>
            <a:r>
              <a:rPr lang="en-IN" dirty="0"/>
              <a:t>When we define a new database, we specify its database </a:t>
            </a:r>
            <a:r>
              <a:rPr lang="en-IN" dirty="0" smtClean="0"/>
              <a:t>schema with no data.</a:t>
            </a:r>
          </a:p>
          <a:p>
            <a:r>
              <a:rPr lang="en-IN" u="sng" dirty="0" smtClean="0"/>
              <a:t>Initial state </a:t>
            </a:r>
            <a:r>
              <a:rPr lang="en-IN" dirty="0" smtClean="0"/>
              <a:t>: </a:t>
            </a:r>
            <a:r>
              <a:rPr lang="en-IN" dirty="0"/>
              <a:t>when the database is first </a:t>
            </a:r>
            <a:r>
              <a:rPr lang="en-IN" dirty="0" smtClean="0"/>
              <a:t>loaded with </a:t>
            </a:r>
            <a:r>
              <a:rPr lang="en-IN" dirty="0"/>
              <a:t>the initial data</a:t>
            </a:r>
            <a:r>
              <a:rPr lang="en-IN" dirty="0" smtClean="0"/>
              <a:t>.</a:t>
            </a:r>
          </a:p>
          <a:p>
            <a:r>
              <a:rPr lang="en-IN" u="sng" dirty="0"/>
              <a:t>C</a:t>
            </a:r>
            <a:r>
              <a:rPr lang="en-IN" u="sng" dirty="0" smtClean="0"/>
              <a:t>urrent state </a:t>
            </a:r>
            <a:r>
              <a:rPr lang="en-IN" dirty="0" smtClean="0"/>
              <a:t>: </a:t>
            </a:r>
            <a:r>
              <a:rPr lang="en-IN" dirty="0"/>
              <a:t>At any point in time, the database has </a:t>
            </a:r>
            <a:r>
              <a:rPr lang="en-IN" dirty="0" smtClean="0"/>
              <a:t>a current state</a:t>
            </a:r>
          </a:p>
          <a:p>
            <a:r>
              <a:rPr lang="en-IN" u="sng" dirty="0"/>
              <a:t>V</a:t>
            </a:r>
            <a:r>
              <a:rPr lang="en-IN" u="sng" dirty="0" smtClean="0"/>
              <a:t>alid state </a:t>
            </a:r>
            <a:r>
              <a:rPr lang="en-IN" dirty="0" smtClean="0"/>
              <a:t>: </a:t>
            </a:r>
            <a:r>
              <a:rPr lang="en-IN" dirty="0"/>
              <a:t>state that satisfies the structure and </a:t>
            </a:r>
            <a:r>
              <a:rPr lang="en-IN" dirty="0" smtClean="0"/>
              <a:t>constraints specified </a:t>
            </a:r>
            <a:r>
              <a:rPr lang="en-IN" dirty="0"/>
              <a:t>in the schema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88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CB7F9B39126B44B7BD3B2FD680B58E" ma:contentTypeVersion="0" ma:contentTypeDescription="Create a new document." ma:contentTypeScope="" ma:versionID="dd2e25aaebc382ff1c191756a66b9d2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725370-E780-458B-8BF3-CBDFEF0CF505}"/>
</file>

<file path=customXml/itemProps2.xml><?xml version="1.0" encoding="utf-8"?>
<ds:datastoreItem xmlns:ds="http://schemas.openxmlformats.org/officeDocument/2006/customXml" ds:itemID="{92D7FB4B-46A8-417C-AFD8-399B76861CB7}"/>
</file>

<file path=customXml/itemProps3.xml><?xml version="1.0" encoding="utf-8"?>
<ds:datastoreItem xmlns:ds="http://schemas.openxmlformats.org/officeDocument/2006/customXml" ds:itemID="{54590242-B713-43F4-BFAA-4A1CF9C68C3B}"/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308</TotalTime>
  <Words>1933</Words>
  <Application>Microsoft Office PowerPoint</Application>
  <PresentationFormat>Widescreen</PresentationFormat>
  <Paragraphs>151</Paragraphs>
  <Slides>34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Minion-Italic</vt:lpstr>
      <vt:lpstr>Minion-Regular</vt:lpstr>
      <vt:lpstr>Trebuchet MS</vt:lpstr>
      <vt:lpstr>Tw Cen MT</vt:lpstr>
      <vt:lpstr>Circuit</vt:lpstr>
      <vt:lpstr>Introduction to dbms and dbms architecture</vt:lpstr>
      <vt:lpstr>PowerPoint Presentation</vt:lpstr>
      <vt:lpstr>PowerPoint Presentation</vt:lpstr>
      <vt:lpstr>Database Management system</vt:lpstr>
      <vt:lpstr>PowerPoint Presentation</vt:lpstr>
      <vt:lpstr>PowerPoint Presentation</vt:lpstr>
      <vt:lpstr>Characteristics of the Database Approach</vt:lpstr>
      <vt:lpstr>PowerPoint Presentation</vt:lpstr>
      <vt:lpstr>Database users:</vt:lpstr>
      <vt:lpstr>Database Administrators</vt:lpstr>
      <vt:lpstr>Database Designers</vt:lpstr>
      <vt:lpstr>End Users</vt:lpstr>
      <vt:lpstr>System Analysts and Application Programmers</vt:lpstr>
      <vt:lpstr>Advantages of Using the DBMS Approach</vt:lpstr>
      <vt:lpstr>When Not to Use a DBMS</vt:lpstr>
      <vt:lpstr>Database System Architecture</vt:lpstr>
      <vt:lpstr>PowerPoint Presentation</vt:lpstr>
      <vt:lpstr>Data Models, Schemas, and Instances</vt:lpstr>
      <vt:lpstr>PowerPoint Presentation</vt:lpstr>
      <vt:lpstr>PowerPoint Presentation</vt:lpstr>
      <vt:lpstr>Categories of Data Models</vt:lpstr>
      <vt:lpstr>High-level (conceptual data models)</vt:lpstr>
      <vt:lpstr>Entity Relationship Data Model</vt:lpstr>
      <vt:lpstr>Low-level (physical data models)</vt:lpstr>
      <vt:lpstr>representational data models</vt:lpstr>
      <vt:lpstr>Relational Data Model</vt:lpstr>
      <vt:lpstr>Network Data Model</vt:lpstr>
      <vt:lpstr>Hierarchical Data Model</vt:lpstr>
      <vt:lpstr>Database Schemas</vt:lpstr>
      <vt:lpstr>PowerPoint Presentation</vt:lpstr>
      <vt:lpstr>PowerPoint Presentation</vt:lpstr>
      <vt:lpstr>Database state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 KEREN</dc:creator>
  <cp:lastModifiedBy>JOY KEREN</cp:lastModifiedBy>
  <cp:revision>29</cp:revision>
  <dcterms:created xsi:type="dcterms:W3CDTF">2019-06-18T06:09:37Z</dcterms:created>
  <dcterms:modified xsi:type="dcterms:W3CDTF">2020-06-18T03:07:27Z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0x01010061CB7F9B39126B44B7BD3B2FD680B58E</vt:lpwstr>
  </property>
</Properties>
</file>