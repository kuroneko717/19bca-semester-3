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8" r:id="rId2"/>
    <p:sldId id="257" r:id="rId3"/>
    <p:sldId id="256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48906290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742340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83968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35967"/>
      </p:ext>
    </p:extLst>
  </p:cSld>
  <p:clrMapOvr>
    <a:masterClrMapping/>
  </p:clrMapOvr>
  <p:transition spd="slow">
    <p:cover/>
  </p:transition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457201"/>
      </p:ext>
    </p:extLst>
  </p:cSld>
  <p:clrMapOvr>
    <a:masterClrMapping/>
  </p:clrMapOvr>
  <p:transition spd="slow">
    <p:cover/>
  </p:transition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868136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386031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15853974"/>
      </p:ext>
    </p:extLst>
  </p:cSld>
  <p:clrMapOvr>
    <a:masterClrMapping/>
  </p:clrMapOvr>
  <p:transition spd="slow">
    <p:cover/>
  </p:transition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080124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227666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724498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CE9307-6454-4A07-9B1E-B24850431364}" type="datetimeFigureOut">
              <a:rPr lang="en-IN" smtClean="0"/>
              <a:t>24-06-2020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A86EEC-32D4-4035-A048-F5F16218F6F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3556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dbms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8206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264" y="874203"/>
            <a:ext cx="7463956" cy="58427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02264" y="140916"/>
            <a:ext cx="74639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/>
              <a:t>The three-schema </a:t>
            </a:r>
            <a:r>
              <a:rPr lang="en-IN" sz="2800" b="1" u="sng" dirty="0" smtClean="0"/>
              <a:t>architecture:</a:t>
            </a:r>
            <a:endParaRPr lang="en-IN" sz="2800" b="1" u="sng" dirty="0"/>
          </a:p>
        </p:txBody>
      </p:sp>
    </p:spTree>
    <p:extLst>
      <p:ext uri="{BB962C8B-B14F-4D97-AF65-F5344CB8AC3E}">
        <p14:creationId xmlns:p14="http://schemas.microsoft.com/office/powerpoint/2010/main" val="12178119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78379"/>
          </a:xfrm>
        </p:spPr>
        <p:txBody>
          <a:bodyPr/>
          <a:lstStyle/>
          <a:p>
            <a:r>
              <a:rPr lang="en-IN" u="sng" dirty="0"/>
              <a:t>The Three-Schema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4509" y="1149926"/>
            <a:ext cx="10654145" cy="57080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dirty="0"/>
              <a:t>The goal of the three-schema architecture is to separate </a:t>
            </a:r>
            <a:r>
              <a:rPr lang="en-IN" sz="2200" dirty="0" smtClean="0"/>
              <a:t>the user </a:t>
            </a:r>
            <a:r>
              <a:rPr lang="en-IN" sz="2200" dirty="0"/>
              <a:t>applications from the physical database</a:t>
            </a:r>
            <a:r>
              <a:rPr lang="en-IN" sz="2200" dirty="0" smtClean="0"/>
              <a:t>.</a:t>
            </a:r>
          </a:p>
          <a:p>
            <a:pPr algn="just"/>
            <a:r>
              <a:rPr lang="en-IN" sz="2200" dirty="0"/>
              <a:t>The internal level has an internal </a:t>
            </a:r>
            <a:r>
              <a:rPr lang="en-IN" sz="2200" dirty="0" smtClean="0"/>
              <a:t>schema, which </a:t>
            </a:r>
            <a:r>
              <a:rPr lang="en-IN" sz="2200" dirty="0"/>
              <a:t>describes the physical </a:t>
            </a:r>
            <a:r>
              <a:rPr lang="en-IN" sz="2200" dirty="0" smtClean="0"/>
              <a:t>storage structure </a:t>
            </a:r>
            <a:r>
              <a:rPr lang="en-IN" sz="2200" dirty="0"/>
              <a:t>of the database. The internal schema uses a physical data </a:t>
            </a:r>
            <a:r>
              <a:rPr lang="en-IN" sz="2200" dirty="0" smtClean="0"/>
              <a:t>model and </a:t>
            </a:r>
            <a:r>
              <a:rPr lang="en-IN" sz="2200" dirty="0"/>
              <a:t>describes the complete details of data storage and access paths for </a:t>
            </a:r>
            <a:r>
              <a:rPr lang="en-IN" sz="2200" dirty="0" smtClean="0"/>
              <a:t>the database</a:t>
            </a:r>
            <a:r>
              <a:rPr lang="en-IN" sz="2200" dirty="0"/>
              <a:t>.</a:t>
            </a:r>
          </a:p>
          <a:p>
            <a:pPr algn="just"/>
            <a:r>
              <a:rPr lang="en-IN" sz="2200" dirty="0" smtClean="0"/>
              <a:t>The </a:t>
            </a:r>
            <a:r>
              <a:rPr lang="en-IN" sz="2200" dirty="0"/>
              <a:t>conceptual level has a conceptual schema, which describes the </a:t>
            </a:r>
            <a:r>
              <a:rPr lang="en-IN" sz="2200" dirty="0" smtClean="0"/>
              <a:t>structure of </a:t>
            </a:r>
            <a:r>
              <a:rPr lang="en-IN" sz="2200" dirty="0"/>
              <a:t>the whole database for a community of users. The conceptual </a:t>
            </a:r>
            <a:r>
              <a:rPr lang="en-IN" sz="2200" dirty="0" smtClean="0"/>
              <a:t>schema hides </a:t>
            </a:r>
            <a:r>
              <a:rPr lang="en-IN" sz="2200" dirty="0"/>
              <a:t>the details of physical storage structures and concentrates on </a:t>
            </a:r>
            <a:r>
              <a:rPr lang="en-IN" sz="2200" dirty="0" smtClean="0"/>
              <a:t>describing entities</a:t>
            </a:r>
            <a:r>
              <a:rPr lang="en-IN" sz="2200" dirty="0"/>
              <a:t>, data types, relationships, user operations, and </a:t>
            </a:r>
            <a:r>
              <a:rPr lang="en-IN" sz="2200" dirty="0" smtClean="0"/>
              <a:t>constraints. Usually</a:t>
            </a:r>
            <a:r>
              <a:rPr lang="en-IN" sz="2200" dirty="0"/>
              <a:t>, a representational data model is used to describe the </a:t>
            </a:r>
            <a:r>
              <a:rPr lang="en-IN" sz="2200" dirty="0" smtClean="0"/>
              <a:t>conceptual schema .</a:t>
            </a:r>
          </a:p>
          <a:p>
            <a:pPr algn="just"/>
            <a:r>
              <a:rPr lang="en-IN" sz="2200" dirty="0" smtClean="0"/>
              <a:t>The </a:t>
            </a:r>
            <a:r>
              <a:rPr lang="en-IN" sz="2200" dirty="0"/>
              <a:t>external or view level includes a number of external schemas or </a:t>
            </a:r>
            <a:r>
              <a:rPr lang="en-IN" sz="2200" dirty="0" smtClean="0"/>
              <a:t>user views</a:t>
            </a:r>
            <a:r>
              <a:rPr lang="en-IN" sz="2200" dirty="0"/>
              <a:t>. Each external schema describes the part of the database that a </a:t>
            </a:r>
            <a:r>
              <a:rPr lang="en-IN" sz="2200" dirty="0" smtClean="0"/>
              <a:t>particular user </a:t>
            </a:r>
            <a:r>
              <a:rPr lang="en-IN" sz="2200" dirty="0"/>
              <a:t>group is interested in and hides the rest of the database from </a:t>
            </a:r>
            <a:r>
              <a:rPr lang="en-IN" sz="2200" dirty="0" smtClean="0"/>
              <a:t>that user </a:t>
            </a:r>
            <a:r>
              <a:rPr lang="en-IN" sz="2200" dirty="0"/>
              <a:t>group. A</a:t>
            </a:r>
            <a:r>
              <a:rPr lang="en-IN" sz="2200" dirty="0" smtClean="0"/>
              <a:t>n external schema </a:t>
            </a:r>
            <a:r>
              <a:rPr lang="en-IN" sz="2200" dirty="0"/>
              <a:t>design in a high-level data model.</a:t>
            </a:r>
          </a:p>
        </p:txBody>
      </p:sp>
    </p:spTree>
    <p:extLst>
      <p:ext uri="{BB962C8B-B14F-4D97-AF65-F5344CB8AC3E}">
        <p14:creationId xmlns:p14="http://schemas.microsoft.com/office/powerpoint/2010/main" val="369710421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039091"/>
            <a:ext cx="10178322" cy="4840501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/>
              <a:t>The </a:t>
            </a:r>
            <a:r>
              <a:rPr lang="en-IN" sz="2400" dirty="0"/>
              <a:t>three schemas are only descriptions of data; the stored data </a:t>
            </a:r>
            <a:r>
              <a:rPr lang="en-IN" sz="2400" dirty="0" smtClean="0"/>
              <a:t>that actually </a:t>
            </a:r>
            <a:r>
              <a:rPr lang="en-IN" sz="2400" dirty="0"/>
              <a:t>exists is at the physical level only. In a DBMS based on the </a:t>
            </a:r>
            <a:r>
              <a:rPr lang="en-IN" sz="2400" dirty="0" smtClean="0"/>
              <a:t>three-schema architecture</a:t>
            </a:r>
            <a:r>
              <a:rPr lang="en-IN" sz="2400" dirty="0"/>
              <a:t>, each user group refers to its own external schema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 smtClean="0"/>
              <a:t>The processes </a:t>
            </a:r>
            <a:r>
              <a:rPr lang="en-IN" sz="2400" dirty="0"/>
              <a:t>of transforming requests and results between levels are called mappings.</a:t>
            </a:r>
          </a:p>
        </p:txBody>
      </p:sp>
    </p:spTree>
    <p:extLst>
      <p:ext uri="{BB962C8B-B14F-4D97-AF65-F5344CB8AC3E}">
        <p14:creationId xmlns:p14="http://schemas.microsoft.com/office/powerpoint/2010/main" val="34794742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89215"/>
          </a:xfrm>
        </p:spPr>
        <p:txBody>
          <a:bodyPr/>
          <a:lstStyle/>
          <a:p>
            <a:r>
              <a:rPr lang="en-IN" u="sng" dirty="0"/>
              <a:t>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371601"/>
            <a:ext cx="10178322" cy="4507992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/>
              <a:t>The </a:t>
            </a:r>
            <a:r>
              <a:rPr lang="en-IN" sz="2400" dirty="0"/>
              <a:t>capacity to change the schema at </a:t>
            </a:r>
            <a:r>
              <a:rPr lang="en-IN" sz="2400" dirty="0" smtClean="0"/>
              <a:t>one level </a:t>
            </a:r>
            <a:r>
              <a:rPr lang="en-IN" sz="2400" dirty="0"/>
              <a:t>of a database system without having to change the schema at the next </a:t>
            </a:r>
            <a:r>
              <a:rPr lang="en-IN" sz="2400" dirty="0" smtClean="0"/>
              <a:t>higher level.</a:t>
            </a:r>
          </a:p>
          <a:p>
            <a:pPr algn="just"/>
            <a:r>
              <a:rPr lang="en-IN" sz="2400" dirty="0"/>
              <a:t>Logical data independence is the capacity to change the conceptual </a:t>
            </a:r>
            <a:r>
              <a:rPr lang="en-IN" sz="2400" dirty="0" smtClean="0"/>
              <a:t>schema without </a:t>
            </a:r>
            <a:r>
              <a:rPr lang="en-IN" sz="2400" dirty="0"/>
              <a:t>having to change external schemas or application </a:t>
            </a:r>
            <a:r>
              <a:rPr lang="en-IN" sz="2400" dirty="0" smtClean="0"/>
              <a:t>programs.</a:t>
            </a:r>
          </a:p>
          <a:p>
            <a:pPr algn="just"/>
            <a:r>
              <a:rPr lang="en-IN" sz="2400" dirty="0"/>
              <a:t>Physical data independence is the capacity to change the internal </a:t>
            </a:r>
            <a:r>
              <a:rPr lang="en-IN" sz="2400" dirty="0" smtClean="0"/>
              <a:t>schema without </a:t>
            </a:r>
            <a:r>
              <a:rPr lang="en-IN" sz="2400" dirty="0"/>
              <a:t>having to change the conceptual schema. Hence, the </a:t>
            </a:r>
            <a:r>
              <a:rPr lang="en-IN" sz="2400" dirty="0" smtClean="0"/>
              <a:t>external schemas </a:t>
            </a:r>
            <a:r>
              <a:rPr lang="en-IN" sz="2400" dirty="0"/>
              <a:t>need not be changed as well. </a:t>
            </a:r>
          </a:p>
        </p:txBody>
      </p:sp>
    </p:spTree>
    <p:extLst>
      <p:ext uri="{BB962C8B-B14F-4D97-AF65-F5344CB8AC3E}">
        <p14:creationId xmlns:p14="http://schemas.microsoft.com/office/powerpoint/2010/main" val="36019043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568036"/>
            <a:ext cx="10178322" cy="775856"/>
          </a:xfrm>
        </p:spPr>
        <p:txBody>
          <a:bodyPr>
            <a:normAutofit/>
          </a:bodyPr>
          <a:lstStyle/>
          <a:p>
            <a:r>
              <a:rPr lang="en-IN" sz="4400" u="sng" dirty="0"/>
              <a:t>Database Languages and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343893"/>
            <a:ext cx="10178322" cy="4535700"/>
          </a:xfrm>
        </p:spPr>
        <p:txBody>
          <a:bodyPr/>
          <a:lstStyle/>
          <a:p>
            <a:pPr algn="just"/>
            <a:r>
              <a:rPr lang="en-IN" sz="2400" dirty="0" smtClean="0"/>
              <a:t>The </a:t>
            </a:r>
            <a:r>
              <a:rPr lang="en-IN" sz="2400" dirty="0"/>
              <a:t>data definition language (DDL), </a:t>
            </a:r>
            <a:r>
              <a:rPr lang="en-IN" sz="2400" dirty="0" smtClean="0"/>
              <a:t>is used </a:t>
            </a:r>
            <a:r>
              <a:rPr lang="en-IN" sz="2400" dirty="0"/>
              <a:t>by the DBA and by database designers to define both </a:t>
            </a:r>
            <a:r>
              <a:rPr lang="en-IN" sz="2400" dirty="0" smtClean="0"/>
              <a:t>schemas.</a:t>
            </a:r>
          </a:p>
          <a:p>
            <a:pPr algn="just"/>
            <a:r>
              <a:rPr lang="en-IN" sz="2400" dirty="0"/>
              <a:t>Another </a:t>
            </a:r>
            <a:r>
              <a:rPr lang="en-IN" sz="2400" dirty="0" smtClean="0"/>
              <a:t>language, the </a:t>
            </a:r>
            <a:r>
              <a:rPr lang="en-IN" sz="2400" dirty="0"/>
              <a:t>storage definition language (SDL), is used to specify the internal schema</a:t>
            </a:r>
            <a:r>
              <a:rPr lang="en-IN" sz="2400" dirty="0" smtClean="0"/>
              <a:t>.</a:t>
            </a:r>
          </a:p>
          <a:p>
            <a:pPr algn="just"/>
            <a:r>
              <a:rPr lang="en-IN" sz="2400" dirty="0"/>
              <a:t>T</a:t>
            </a:r>
            <a:r>
              <a:rPr lang="en-IN" sz="2400" dirty="0" smtClean="0"/>
              <a:t>he </a:t>
            </a:r>
            <a:r>
              <a:rPr lang="en-IN" sz="2400" dirty="0"/>
              <a:t>view definition language (VDL</a:t>
            </a:r>
            <a:r>
              <a:rPr lang="en-IN" sz="2400" dirty="0" smtClean="0"/>
              <a:t>), to </a:t>
            </a:r>
            <a:r>
              <a:rPr lang="en-IN" sz="2400" dirty="0"/>
              <a:t>specify user views and their mappings to the conceptual </a:t>
            </a:r>
            <a:r>
              <a:rPr lang="en-IN" sz="2400" dirty="0" smtClean="0"/>
              <a:t>schema.</a:t>
            </a:r>
          </a:p>
          <a:p>
            <a:pPr algn="just"/>
            <a:r>
              <a:rPr lang="en-IN" sz="2400" dirty="0"/>
              <a:t>The DBMS </a:t>
            </a:r>
            <a:r>
              <a:rPr lang="en-IN" sz="2400" dirty="0" smtClean="0"/>
              <a:t>provides a </a:t>
            </a:r>
            <a:r>
              <a:rPr lang="en-IN" sz="2400" dirty="0"/>
              <a:t>set of operations or a language called the data manipulation </a:t>
            </a:r>
            <a:r>
              <a:rPr lang="en-IN" sz="2400" dirty="0" smtClean="0"/>
              <a:t>language (DML) for manipulation. 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26843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47651"/>
          </a:xfrm>
        </p:spPr>
        <p:txBody>
          <a:bodyPr/>
          <a:lstStyle/>
          <a:p>
            <a:r>
              <a:rPr lang="en-IN" u="sng" dirty="0"/>
              <a:t>DBMS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454727"/>
            <a:ext cx="10178322" cy="4424865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Menu-Based Interfaces for Web Clients or </a:t>
            </a:r>
            <a:r>
              <a:rPr lang="en-IN" sz="2400" dirty="0" smtClean="0"/>
              <a:t>Browsing</a:t>
            </a:r>
          </a:p>
          <a:p>
            <a:pPr algn="just"/>
            <a:r>
              <a:rPr lang="en-IN" sz="2400" dirty="0"/>
              <a:t>Forms-Based </a:t>
            </a:r>
            <a:r>
              <a:rPr lang="en-IN" sz="2400" dirty="0" smtClean="0"/>
              <a:t>Interfaces</a:t>
            </a:r>
          </a:p>
          <a:p>
            <a:pPr algn="just"/>
            <a:r>
              <a:rPr lang="en-IN" sz="2400" dirty="0"/>
              <a:t>Graphical User </a:t>
            </a:r>
            <a:r>
              <a:rPr lang="en-IN" sz="2400" dirty="0" smtClean="0"/>
              <a:t>Interfaces</a:t>
            </a:r>
          </a:p>
          <a:p>
            <a:pPr algn="just"/>
            <a:r>
              <a:rPr lang="en-IN" sz="2400" dirty="0"/>
              <a:t>Natural Language </a:t>
            </a:r>
            <a:r>
              <a:rPr lang="en-IN" sz="2400" dirty="0" smtClean="0"/>
              <a:t>Interfaces</a:t>
            </a:r>
          </a:p>
          <a:p>
            <a:pPr algn="just"/>
            <a:r>
              <a:rPr lang="en-IN" sz="2400" dirty="0"/>
              <a:t>Speech Input and </a:t>
            </a:r>
            <a:r>
              <a:rPr lang="en-IN" sz="2400" dirty="0" smtClean="0"/>
              <a:t>Output</a:t>
            </a:r>
          </a:p>
          <a:p>
            <a:pPr algn="just"/>
            <a:r>
              <a:rPr lang="en-IN" sz="2400" dirty="0"/>
              <a:t>Interfaces for Parametric </a:t>
            </a:r>
            <a:r>
              <a:rPr lang="en-IN" sz="2400" dirty="0" smtClean="0"/>
              <a:t>User</a:t>
            </a:r>
          </a:p>
          <a:p>
            <a:pPr algn="just"/>
            <a:r>
              <a:rPr lang="en-IN" sz="2400" dirty="0"/>
              <a:t>Interfaces for the </a:t>
            </a:r>
            <a:r>
              <a:rPr lang="en-IN" sz="2400" dirty="0" smtClean="0"/>
              <a:t>DBA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700918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92233"/>
          </a:xfrm>
        </p:spPr>
        <p:txBody>
          <a:bodyPr/>
          <a:lstStyle/>
          <a:p>
            <a:pPr algn="ctr"/>
            <a:r>
              <a:rPr lang="en-IN" u="sng" dirty="0"/>
              <a:t>Classification </a:t>
            </a:r>
            <a:r>
              <a:rPr lang="en-IN" u="sng" dirty="0" smtClean="0"/>
              <a:t>of DBMS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274618"/>
            <a:ext cx="10178322" cy="5389417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The first is the </a:t>
            </a:r>
            <a:r>
              <a:rPr lang="en-IN" b="1" dirty="0"/>
              <a:t>data model </a:t>
            </a:r>
            <a:r>
              <a:rPr lang="en-IN" dirty="0" smtClean="0"/>
              <a:t>on which </a:t>
            </a:r>
            <a:r>
              <a:rPr lang="en-IN" dirty="0"/>
              <a:t>the DBMS is based</a:t>
            </a:r>
            <a:r>
              <a:rPr lang="en-IN" dirty="0" smtClean="0"/>
              <a:t>.</a:t>
            </a:r>
          </a:p>
          <a:p>
            <a:pPr lvl="1" algn="just"/>
            <a:r>
              <a:rPr lang="en-IN" sz="2000" dirty="0"/>
              <a:t>relational data </a:t>
            </a:r>
            <a:r>
              <a:rPr lang="en-IN" sz="2000" dirty="0" smtClean="0"/>
              <a:t>model</a:t>
            </a:r>
          </a:p>
          <a:p>
            <a:pPr lvl="1" algn="just"/>
            <a:r>
              <a:rPr lang="en-IN" sz="2000" dirty="0"/>
              <a:t>object data </a:t>
            </a:r>
            <a:r>
              <a:rPr lang="en-IN" sz="2000" dirty="0" smtClean="0"/>
              <a:t>model</a:t>
            </a:r>
          </a:p>
          <a:p>
            <a:pPr lvl="1" algn="just"/>
            <a:r>
              <a:rPr lang="en-IN" sz="2000" dirty="0"/>
              <a:t>hierarchical and network </a:t>
            </a:r>
            <a:r>
              <a:rPr lang="en-IN" sz="2000" dirty="0" smtClean="0"/>
              <a:t>data model</a:t>
            </a:r>
          </a:p>
          <a:p>
            <a:pPr algn="just"/>
            <a:r>
              <a:rPr lang="en-IN" dirty="0"/>
              <a:t>The second criterion used to classify DBMSs is the number of users supported </a:t>
            </a:r>
            <a:r>
              <a:rPr lang="en-IN" dirty="0" smtClean="0"/>
              <a:t>by the </a:t>
            </a:r>
            <a:r>
              <a:rPr lang="en-IN" dirty="0"/>
              <a:t>system</a:t>
            </a:r>
            <a:r>
              <a:rPr lang="en-IN" dirty="0" smtClean="0"/>
              <a:t>.</a:t>
            </a:r>
          </a:p>
          <a:p>
            <a:pPr lvl="1" algn="just"/>
            <a:r>
              <a:rPr lang="en-IN" sz="2000" dirty="0"/>
              <a:t>Single-user </a:t>
            </a:r>
            <a:r>
              <a:rPr lang="en-IN" sz="2000" dirty="0" smtClean="0"/>
              <a:t>systems</a:t>
            </a:r>
          </a:p>
          <a:p>
            <a:pPr lvl="1" algn="just"/>
            <a:r>
              <a:rPr lang="en-IN" sz="2000" dirty="0"/>
              <a:t>Multiuser </a:t>
            </a:r>
            <a:r>
              <a:rPr lang="en-IN" sz="2000" dirty="0" smtClean="0"/>
              <a:t>systems</a:t>
            </a:r>
          </a:p>
          <a:p>
            <a:pPr algn="just"/>
            <a:r>
              <a:rPr lang="en-IN" dirty="0"/>
              <a:t>The third criterion is the number of sites over which the database is distributed</a:t>
            </a:r>
            <a:r>
              <a:rPr lang="en-IN" dirty="0" smtClean="0"/>
              <a:t>.</a:t>
            </a:r>
          </a:p>
          <a:p>
            <a:pPr lvl="1" algn="just"/>
            <a:r>
              <a:rPr lang="en-IN" sz="2000" dirty="0" smtClean="0"/>
              <a:t>Centralized</a:t>
            </a:r>
          </a:p>
          <a:p>
            <a:pPr lvl="1" algn="just"/>
            <a:r>
              <a:rPr lang="en-IN" sz="2000" dirty="0" smtClean="0"/>
              <a:t>Distributed</a:t>
            </a:r>
          </a:p>
          <a:p>
            <a:pPr lvl="2" algn="just"/>
            <a:r>
              <a:rPr lang="en-IN" sz="2000" dirty="0"/>
              <a:t>Homogeneous </a:t>
            </a:r>
            <a:r>
              <a:rPr lang="en-IN" sz="2000" dirty="0" smtClean="0"/>
              <a:t>DDBMS</a:t>
            </a:r>
          </a:p>
          <a:p>
            <a:pPr lvl="2" algn="just"/>
            <a:r>
              <a:rPr lang="en-IN" sz="2000" dirty="0"/>
              <a:t>heterogeneous </a:t>
            </a:r>
            <a:r>
              <a:rPr lang="en-IN" sz="2000" dirty="0" smtClean="0"/>
              <a:t>DDBMS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82010828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274619"/>
            <a:ext cx="10178322" cy="4604974"/>
          </a:xfrm>
        </p:spPr>
        <p:txBody>
          <a:bodyPr>
            <a:normAutofit/>
          </a:bodyPr>
          <a:lstStyle/>
          <a:p>
            <a:pPr algn="just"/>
            <a:r>
              <a:rPr lang="en-IN" sz="2200" dirty="0"/>
              <a:t>The fourth criterion is </a:t>
            </a:r>
            <a:r>
              <a:rPr lang="en-IN" sz="2200" dirty="0" smtClean="0"/>
              <a:t>cost</a:t>
            </a:r>
          </a:p>
          <a:p>
            <a:pPr lvl="1" algn="just"/>
            <a:r>
              <a:rPr lang="en-IN" sz="2200" dirty="0" smtClean="0"/>
              <a:t>Open </a:t>
            </a:r>
            <a:r>
              <a:rPr lang="en-IN" sz="2200" dirty="0"/>
              <a:t>source (free</a:t>
            </a:r>
            <a:r>
              <a:rPr lang="en-IN" sz="2200" dirty="0" smtClean="0"/>
              <a:t>)</a:t>
            </a:r>
          </a:p>
          <a:p>
            <a:pPr lvl="1" algn="just"/>
            <a:r>
              <a:rPr lang="en-IN" sz="2200" dirty="0" smtClean="0"/>
              <a:t>Paid version</a:t>
            </a:r>
          </a:p>
          <a:p>
            <a:pPr algn="just"/>
            <a:r>
              <a:rPr lang="en-IN" sz="2200" dirty="0"/>
              <a:t>We can also classify a DBMS on the basis of the types of access path options </a:t>
            </a:r>
            <a:r>
              <a:rPr lang="en-IN" sz="2200" dirty="0" smtClean="0"/>
              <a:t>for storing </a:t>
            </a:r>
            <a:r>
              <a:rPr lang="en-IN" sz="2200" dirty="0"/>
              <a:t>files</a:t>
            </a:r>
            <a:r>
              <a:rPr lang="en-IN" sz="2200" dirty="0" smtClean="0"/>
              <a:t>.</a:t>
            </a:r>
          </a:p>
          <a:p>
            <a:pPr algn="just"/>
            <a:r>
              <a:rPr lang="en-IN" sz="2200" dirty="0"/>
              <a:t>A</a:t>
            </a:r>
            <a:r>
              <a:rPr lang="en-IN" sz="2200" dirty="0" smtClean="0"/>
              <a:t> </a:t>
            </a:r>
            <a:r>
              <a:rPr lang="en-IN" sz="2200" dirty="0"/>
              <a:t>DBMS can be </a:t>
            </a:r>
            <a:r>
              <a:rPr lang="en-IN" sz="2200" b="1" dirty="0"/>
              <a:t>general purpose </a:t>
            </a:r>
            <a:r>
              <a:rPr lang="en-IN" sz="2200" dirty="0"/>
              <a:t>or </a:t>
            </a:r>
            <a:r>
              <a:rPr lang="en-IN" sz="2200" b="1" dirty="0"/>
              <a:t>special purpose</a:t>
            </a:r>
            <a:r>
              <a:rPr lang="en-IN" sz="2200" dirty="0"/>
              <a:t>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51124252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CB7F9B39126B44B7BD3B2FD680B58E" ma:contentTypeVersion="4" ma:contentTypeDescription="Create a new document." ma:contentTypeScope="" ma:versionID="cfb71a4ed6cb5697a229207ca667f33f">
  <xsd:schema xmlns:xsd="http://www.w3.org/2001/XMLSchema" xmlns:xs="http://www.w3.org/2001/XMLSchema" xmlns:p="http://schemas.microsoft.com/office/2006/metadata/properties" xmlns:ns2="a8a1418d-81b5-43f6-8c3e-510d562b22b4" targetNamespace="http://schemas.microsoft.com/office/2006/metadata/properties" ma:root="true" ma:fieldsID="9af2dc051158e4d48de8ec3ed50b4e4f" ns2:_="">
    <xsd:import namespace="a8a1418d-81b5-43f6-8c3e-510d562b22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1418d-81b5-43f6-8c3e-510d562b2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B1567A-13F2-4465-9379-0325D06CF413}"/>
</file>

<file path=customXml/itemProps2.xml><?xml version="1.0" encoding="utf-8"?>
<ds:datastoreItem xmlns:ds="http://schemas.openxmlformats.org/officeDocument/2006/customXml" ds:itemID="{8ED02EB0-DA83-4334-BA60-9D2757F08854}"/>
</file>

<file path=customXml/itemProps3.xml><?xml version="1.0" encoding="utf-8"?>
<ds:datastoreItem xmlns:ds="http://schemas.openxmlformats.org/officeDocument/2006/customXml" ds:itemID="{81F1158A-447F-41CF-8D94-638B6E73527A}"/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100</TotalTime>
  <Words>540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Impact</vt:lpstr>
      <vt:lpstr>Badge</vt:lpstr>
      <vt:lpstr>dbms architecture</vt:lpstr>
      <vt:lpstr>PowerPoint Presentation</vt:lpstr>
      <vt:lpstr>The Three-Schema Architecture</vt:lpstr>
      <vt:lpstr>PowerPoint Presentation</vt:lpstr>
      <vt:lpstr>Data Independence</vt:lpstr>
      <vt:lpstr>Database Languages and Interfaces</vt:lpstr>
      <vt:lpstr>DBMS Interfaces</vt:lpstr>
      <vt:lpstr>Classification of DBMS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architecture</dc:title>
  <dc:creator>JOY KEREN</dc:creator>
  <cp:lastModifiedBy>JOY KEREN</cp:lastModifiedBy>
  <cp:revision>5</cp:revision>
  <dcterms:created xsi:type="dcterms:W3CDTF">2020-06-23T18:32:23Z</dcterms:created>
  <dcterms:modified xsi:type="dcterms:W3CDTF">2020-06-24T07:41:34Z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0x01010061CB7F9B39126B44B7BD3B2FD680B58E</vt:lpwstr>
  </property>
</Properties>
</file>