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79" r:id="rId26"/>
    <p:sldId id="280" r:id="rId27"/>
    <p:sldId id="281" r:id="rId28"/>
    <p:sldId id="284" r:id="rId29"/>
    <p:sldId id="285" r:id="rId30"/>
    <p:sldId id="283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2336" autoAdjust="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-18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E35D3-2526-44E9-A083-3812160EF230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DD50A-375D-47F1-82FF-0BCD141B1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55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FD1</a:t>
            </a:r>
            <a:r>
              <a:rPr lang="en-IN" baseline="0" dirty="0" smtClean="0"/>
              <a:t>   </a:t>
            </a:r>
            <a:r>
              <a:rPr lang="en-IN" baseline="0" dirty="0" err="1" smtClean="0"/>
              <a:t>Student_ID</a:t>
            </a:r>
            <a:r>
              <a:rPr lang="en-IN" baseline="0" dirty="0" smtClean="0"/>
              <a:t> </a:t>
            </a:r>
            <a:r>
              <a:rPr lang="en-IN" baseline="0" dirty="0" smtClean="0">
                <a:sym typeface="Wingdings" panose="05000000000000000000" pitchFamily="2" charset="2"/>
              </a:rPr>
              <a:t></a:t>
            </a:r>
            <a:r>
              <a:rPr lang="en-IN" baseline="0" dirty="0" smtClean="0"/>
              <a:t> </a:t>
            </a:r>
            <a:r>
              <a:rPr lang="en-IN" baseline="0" dirty="0" err="1" smtClean="0"/>
              <a:t>Student_Name</a:t>
            </a:r>
            <a:r>
              <a:rPr lang="en-IN" baseline="0" dirty="0" smtClean="0"/>
              <a:t> </a:t>
            </a:r>
          </a:p>
          <a:p>
            <a:r>
              <a:rPr lang="en-IN" baseline="0" dirty="0" smtClean="0"/>
              <a:t>FD2   </a:t>
            </a:r>
            <a:r>
              <a:rPr lang="en-IN" baseline="0" dirty="0" err="1" smtClean="0"/>
              <a:t>Project_ID</a:t>
            </a:r>
            <a:r>
              <a:rPr lang="en-IN" baseline="0" dirty="0" smtClean="0"/>
              <a:t> </a:t>
            </a:r>
            <a:r>
              <a:rPr lang="en-IN" baseline="0" dirty="0" smtClean="0">
                <a:sym typeface="Wingdings" panose="05000000000000000000" pitchFamily="2" charset="2"/>
              </a:rPr>
              <a:t></a:t>
            </a:r>
            <a:r>
              <a:rPr lang="en-IN" baseline="0" dirty="0" smtClean="0"/>
              <a:t> </a:t>
            </a:r>
            <a:r>
              <a:rPr lang="en-IN" baseline="0" dirty="0" err="1" smtClean="0"/>
              <a:t>Project_Name</a:t>
            </a:r>
            <a:r>
              <a:rPr lang="en-IN" baseline="0" dirty="0" smtClean="0"/>
              <a:t> </a:t>
            </a:r>
          </a:p>
          <a:p>
            <a:r>
              <a:rPr lang="en-IN" baseline="0" dirty="0" smtClean="0"/>
              <a:t>FD3   </a:t>
            </a:r>
            <a:r>
              <a:rPr lang="en-IN" baseline="0" dirty="0" err="1" smtClean="0"/>
              <a:t>Course_ID</a:t>
            </a:r>
            <a:r>
              <a:rPr lang="en-IN" baseline="0" dirty="0" smtClean="0"/>
              <a:t> </a:t>
            </a:r>
            <a:r>
              <a:rPr lang="en-IN" baseline="0" dirty="0" smtClean="0">
                <a:sym typeface="Wingdings" panose="05000000000000000000" pitchFamily="2" charset="2"/>
              </a:rPr>
              <a:t></a:t>
            </a:r>
            <a:r>
              <a:rPr lang="en-IN" baseline="0" dirty="0" smtClean="0"/>
              <a:t> </a:t>
            </a:r>
            <a:r>
              <a:rPr lang="en-IN" baseline="0" dirty="0" err="1" smtClean="0"/>
              <a:t>Course_Name</a:t>
            </a:r>
            <a:r>
              <a:rPr lang="en-IN" baseline="0" dirty="0" smtClean="0"/>
              <a:t> </a:t>
            </a:r>
          </a:p>
          <a:p>
            <a:r>
              <a:rPr lang="en-IN" baseline="0" dirty="0" smtClean="0"/>
              <a:t>FD4   </a:t>
            </a:r>
            <a:r>
              <a:rPr lang="en-IN" baseline="0" dirty="0" err="1" smtClean="0"/>
              <a:t>Student_ID</a:t>
            </a:r>
            <a:r>
              <a:rPr lang="en-IN" baseline="0" dirty="0" smtClean="0"/>
              <a:t> </a:t>
            </a:r>
            <a:r>
              <a:rPr lang="en-IN" baseline="0" dirty="0" smtClean="0">
                <a:sym typeface="Wingdings" panose="05000000000000000000" pitchFamily="2" charset="2"/>
              </a:rPr>
              <a:t> </a:t>
            </a:r>
            <a:r>
              <a:rPr lang="en-IN" baseline="0" dirty="0" err="1" smtClean="0">
                <a:sym typeface="Wingdings" panose="05000000000000000000" pitchFamily="2" charset="2"/>
              </a:rPr>
              <a:t>Project_Name,Course_Name</a:t>
            </a:r>
            <a:endParaRPr lang="en-IN" baseline="0" dirty="0" smtClean="0"/>
          </a:p>
          <a:p>
            <a:r>
              <a:rPr lang="en-IN" baseline="0" dirty="0" smtClean="0"/>
              <a:t>FD5   </a:t>
            </a:r>
            <a:r>
              <a:rPr lang="en-IN" baseline="0" dirty="0" err="1" smtClean="0"/>
              <a:t>Student_ID</a:t>
            </a:r>
            <a:r>
              <a:rPr lang="en-IN" baseline="0" dirty="0" smtClean="0"/>
              <a:t> </a:t>
            </a:r>
            <a:r>
              <a:rPr lang="en-IN" baseline="0" dirty="0" smtClean="0">
                <a:sym typeface="Wingdings" panose="05000000000000000000" pitchFamily="2" charset="2"/>
              </a:rPr>
              <a:t> Address  where Address City and City  Zip Code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DD50A-375D-47F1-82FF-0BCD141B12CE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2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17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22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41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77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72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04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84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44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68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713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0260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292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606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09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683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7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5597A24-98EB-4C3E-9694-8C104161B572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A94F09D-37FF-43C7-B3C8-E253938CD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734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182" y="1620983"/>
            <a:ext cx="9656618" cy="3200400"/>
          </a:xfrm>
        </p:spPr>
        <p:txBody>
          <a:bodyPr>
            <a:noAutofit/>
          </a:bodyPr>
          <a:lstStyle/>
          <a:p>
            <a:r>
              <a:rPr lang="en-IN" sz="7200" b="1" dirty="0" smtClean="0"/>
              <a:t>Functional</a:t>
            </a:r>
            <a:r>
              <a:rPr lang="en-IN" sz="7200" b="1" dirty="0"/>
              <a:t/>
            </a:r>
            <a:br>
              <a:rPr lang="en-IN" sz="7200" b="1" dirty="0"/>
            </a:br>
            <a:r>
              <a:rPr lang="en-IN" sz="7200" b="1" dirty="0"/>
              <a:t>Dependencies and </a:t>
            </a:r>
            <a:r>
              <a:rPr lang="en-IN" sz="7200" b="1" dirty="0" smtClean="0"/>
              <a:t>Normalization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32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845127"/>
          </a:xfrm>
        </p:spPr>
        <p:txBody>
          <a:bodyPr>
            <a:normAutofit/>
          </a:bodyPr>
          <a:lstStyle/>
          <a:p>
            <a:r>
              <a:rPr lang="en-IN" sz="4800" b="1" u="sng" dirty="0" smtClean="0"/>
              <a:t>Introduction</a:t>
            </a:r>
            <a:endParaRPr lang="en-IN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018" y="1634835"/>
            <a:ext cx="10875817" cy="4156365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Each relation schema consists of a number of attributes, and the </a:t>
            </a:r>
            <a:r>
              <a:rPr lang="en-IN" sz="2400" dirty="0" smtClean="0"/>
              <a:t>relational database </a:t>
            </a:r>
            <a:r>
              <a:rPr lang="en-IN" sz="2400" dirty="0"/>
              <a:t>schema consists of a number of relation schemas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Used to measure </a:t>
            </a:r>
            <a:r>
              <a:rPr lang="en-IN" sz="2400" dirty="0"/>
              <a:t>the quality of the </a:t>
            </a:r>
            <a:r>
              <a:rPr lang="en-IN" sz="2400" dirty="0" smtClean="0"/>
              <a:t>design</a:t>
            </a:r>
          </a:p>
          <a:p>
            <a:pPr algn="just"/>
            <a:r>
              <a:rPr lang="en-IN" sz="2400" dirty="0" smtClean="0"/>
              <a:t>To </a:t>
            </a:r>
            <a:r>
              <a:rPr lang="en-IN" sz="2400" dirty="0"/>
              <a:t>measure </a:t>
            </a:r>
            <a:r>
              <a:rPr lang="en-IN" sz="2400" dirty="0" smtClean="0"/>
              <a:t>formally why </a:t>
            </a:r>
            <a:r>
              <a:rPr lang="en-IN" sz="2400" dirty="0"/>
              <a:t>one set of groupings of attributes into relation schemas is better </a:t>
            </a:r>
            <a:r>
              <a:rPr lang="en-IN" sz="2400" dirty="0" smtClean="0"/>
              <a:t>than another.</a:t>
            </a:r>
          </a:p>
          <a:p>
            <a:pPr algn="just"/>
            <a:r>
              <a:rPr lang="en-IN" sz="2400" dirty="0"/>
              <a:t>There are two levels at which we can discuss the </a:t>
            </a:r>
            <a:r>
              <a:rPr lang="en-IN" sz="2400" i="1" dirty="0">
                <a:solidFill>
                  <a:srgbClr val="FFFF00"/>
                </a:solidFill>
              </a:rPr>
              <a:t>goodness</a:t>
            </a:r>
            <a:r>
              <a:rPr lang="en-IN" sz="2400" i="1" dirty="0"/>
              <a:t> </a:t>
            </a:r>
            <a:r>
              <a:rPr lang="en-IN" sz="2400" dirty="0"/>
              <a:t>of relation </a:t>
            </a:r>
            <a:r>
              <a:rPr lang="en-IN" sz="2400" dirty="0" smtClean="0"/>
              <a:t>schemas</a:t>
            </a:r>
          </a:p>
          <a:p>
            <a:pPr lvl="1" algn="just"/>
            <a:r>
              <a:rPr lang="en-IN" sz="2400" dirty="0" smtClean="0"/>
              <a:t>Logical level</a:t>
            </a:r>
          </a:p>
          <a:p>
            <a:pPr lvl="1" algn="just"/>
            <a:r>
              <a:rPr lang="en-IN" sz="2400" dirty="0" smtClean="0"/>
              <a:t>Physical level</a:t>
            </a:r>
          </a:p>
          <a:p>
            <a:pPr algn="just"/>
            <a:endParaRPr lang="en-IN" sz="2400" dirty="0" smtClean="0"/>
          </a:p>
        </p:txBody>
      </p:sp>
    </p:spTree>
    <p:extLst>
      <p:ext uri="{BB962C8B-B14F-4D97-AF65-F5344CB8AC3E}">
        <p14:creationId xmlns:p14="http://schemas.microsoft.com/office/powerpoint/2010/main" val="249531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236" y="609600"/>
            <a:ext cx="11651673" cy="970450"/>
          </a:xfrm>
        </p:spPr>
        <p:txBody>
          <a:bodyPr>
            <a:noAutofit/>
          </a:bodyPr>
          <a:lstStyle/>
          <a:p>
            <a:r>
              <a:rPr lang="en-IN" b="1" u="sng" dirty="0"/>
              <a:t>Informal Design </a:t>
            </a:r>
            <a:r>
              <a:rPr lang="en-IN" b="1" u="sng" dirty="0" smtClean="0"/>
              <a:t>Guidelines for </a:t>
            </a:r>
            <a:r>
              <a:rPr lang="en-IN" b="1" u="sng" dirty="0"/>
              <a:t>Relation Schemas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291" y="1732449"/>
            <a:ext cx="10654145" cy="4058751"/>
          </a:xfrm>
        </p:spPr>
        <p:txBody>
          <a:bodyPr>
            <a:normAutofit/>
          </a:bodyPr>
          <a:lstStyle/>
          <a:p>
            <a:pPr algn="just"/>
            <a:r>
              <a:rPr lang="en-IN" sz="2600" dirty="0"/>
              <a:t>Making sure that the semantics of the attributes is clear in the schema</a:t>
            </a:r>
          </a:p>
          <a:p>
            <a:pPr algn="just"/>
            <a:r>
              <a:rPr lang="en-IN" sz="2600" dirty="0" smtClean="0"/>
              <a:t>Reducing </a:t>
            </a:r>
            <a:r>
              <a:rPr lang="en-IN" sz="2600" dirty="0"/>
              <a:t>the redundant information in tuples</a:t>
            </a:r>
          </a:p>
          <a:p>
            <a:pPr algn="just"/>
            <a:r>
              <a:rPr lang="en-IN" sz="2600" dirty="0" smtClean="0"/>
              <a:t>Reducing </a:t>
            </a:r>
            <a:r>
              <a:rPr lang="en-IN" sz="2600" dirty="0"/>
              <a:t>the NULL values in tuples</a:t>
            </a:r>
          </a:p>
          <a:p>
            <a:pPr algn="just"/>
            <a:r>
              <a:rPr lang="en-IN" sz="2600" dirty="0" smtClean="0"/>
              <a:t>Disallowing </a:t>
            </a:r>
            <a:r>
              <a:rPr lang="en-IN" sz="2600" dirty="0"/>
              <a:t>the possibility of generating spurious tuples</a:t>
            </a:r>
          </a:p>
        </p:txBody>
      </p:sp>
    </p:spTree>
    <p:extLst>
      <p:ext uri="{BB962C8B-B14F-4D97-AF65-F5344CB8AC3E}">
        <p14:creationId xmlns:p14="http://schemas.microsoft.com/office/powerpoint/2010/main" val="424793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945" y="609600"/>
            <a:ext cx="11623964" cy="970450"/>
          </a:xfrm>
        </p:spPr>
        <p:txBody>
          <a:bodyPr>
            <a:noAutofit/>
          </a:bodyPr>
          <a:lstStyle/>
          <a:p>
            <a:r>
              <a:rPr lang="en-IN" sz="3800" b="1" u="sng" dirty="0"/>
              <a:t>Imparting Clear Semantics to Attributes in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164" y="1580051"/>
            <a:ext cx="11263745" cy="4211150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/>
              <a:t>Guideline 1:</a:t>
            </a:r>
          </a:p>
          <a:p>
            <a:pPr lvl="1" algn="just"/>
            <a:r>
              <a:rPr lang="en-IN" sz="2400" dirty="0"/>
              <a:t>Design a relation schema so that it is easy to explain its meaning. Do not </a:t>
            </a:r>
            <a:r>
              <a:rPr lang="en-IN" sz="2400" dirty="0" smtClean="0"/>
              <a:t>combine attributes </a:t>
            </a:r>
            <a:r>
              <a:rPr lang="en-IN" sz="2400" dirty="0"/>
              <a:t>from multiple entity types and relationship types into a single </a:t>
            </a:r>
            <a:r>
              <a:rPr lang="en-IN" sz="2400" dirty="0" smtClean="0"/>
              <a:t>relation. Intuitively</a:t>
            </a:r>
            <a:r>
              <a:rPr lang="en-IN" sz="2400" dirty="0"/>
              <a:t>, if a relation schema corresponds to one entity type or one </a:t>
            </a:r>
            <a:r>
              <a:rPr lang="en-IN" sz="2400" dirty="0" smtClean="0"/>
              <a:t>relationship type</a:t>
            </a:r>
            <a:r>
              <a:rPr lang="en-IN" sz="2400" dirty="0"/>
              <a:t>, it is straightforward to interpret and to explain its meaning. Otherwise, if </a:t>
            </a:r>
            <a:r>
              <a:rPr lang="en-IN" sz="2400" dirty="0" smtClean="0"/>
              <a:t>the relation </a:t>
            </a:r>
            <a:r>
              <a:rPr lang="en-IN" sz="2400" dirty="0"/>
              <a:t>corresponds to a mixture of multiple entities and relationships, </a:t>
            </a:r>
            <a:r>
              <a:rPr lang="en-IN" sz="2400" dirty="0" smtClean="0"/>
              <a:t>semantic ambiguities </a:t>
            </a:r>
            <a:r>
              <a:rPr lang="en-IN" sz="2400" dirty="0"/>
              <a:t>will result and the relation cannot be easily explained.</a:t>
            </a:r>
          </a:p>
        </p:txBody>
      </p:sp>
    </p:spTree>
    <p:extLst>
      <p:ext uri="{BB962C8B-B14F-4D97-AF65-F5344CB8AC3E}">
        <p14:creationId xmlns:p14="http://schemas.microsoft.com/office/powerpoint/2010/main" val="287281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7328" t="43466" r="31792" b="32103"/>
          <a:stretch/>
        </p:blipFill>
        <p:spPr>
          <a:xfrm>
            <a:off x="2576946" y="2426265"/>
            <a:ext cx="6580909" cy="29273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5828" t="42140" r="28171" b="41572"/>
          <a:stretch/>
        </p:blipFill>
        <p:spPr>
          <a:xfrm>
            <a:off x="1411552" y="277090"/>
            <a:ext cx="9673697" cy="19257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1781" y="5577029"/>
            <a:ext cx="114438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Although there is nothing wrong logically with these two relations, they </a:t>
            </a:r>
            <a:r>
              <a:rPr lang="en-IN" sz="2400" dirty="0" smtClean="0"/>
              <a:t>violate Guideline </a:t>
            </a:r>
            <a:r>
              <a:rPr lang="en-IN" sz="2400" dirty="0"/>
              <a:t>1 by mixing attributes from distinct real-world </a:t>
            </a:r>
            <a:r>
              <a:rPr lang="en-IN" sz="2400" dirty="0" smtClean="0"/>
              <a:t>entities.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712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Redundant Information in </a:t>
            </a:r>
            <a:r>
              <a:rPr lang="en-IN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Tuples and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One goal of schema design is to minimize the storage space used by the base </a:t>
            </a:r>
            <a:r>
              <a:rPr lang="en-IN" sz="2400" dirty="0" smtClean="0"/>
              <a:t>relations (and </a:t>
            </a:r>
            <a:r>
              <a:rPr lang="en-IN" sz="2400" dirty="0"/>
              <a:t>hence the corresponding files). Grouping attributes into </a:t>
            </a:r>
            <a:r>
              <a:rPr lang="en-IN" sz="2400" dirty="0" smtClean="0"/>
              <a:t>relation schemas </a:t>
            </a:r>
            <a:r>
              <a:rPr lang="en-IN" sz="2400" dirty="0"/>
              <a:t>has a significant effect on storage space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/>
              <a:t>Storing natural joins of base relations leads to an additional problem referred to </a:t>
            </a:r>
            <a:r>
              <a:rPr lang="en-IN" sz="2400" dirty="0" smtClean="0"/>
              <a:t>as update </a:t>
            </a:r>
            <a:r>
              <a:rPr lang="en-IN" sz="2400" dirty="0"/>
              <a:t>anomalies. These can be classified into insertion anomalies, deletion </a:t>
            </a:r>
            <a:r>
              <a:rPr lang="en-IN" sz="2400" dirty="0" smtClean="0"/>
              <a:t>anomalies, and </a:t>
            </a:r>
            <a:r>
              <a:rPr lang="en-IN" sz="2400" dirty="0"/>
              <a:t>modification </a:t>
            </a:r>
            <a:r>
              <a:rPr lang="en-IN" sz="2400" dirty="0" smtClean="0"/>
              <a:t>anomalies.</a:t>
            </a:r>
          </a:p>
          <a:p>
            <a:pPr lvl="1" algn="just"/>
            <a:r>
              <a:rPr lang="en-IN" sz="2400" dirty="0" smtClean="0"/>
              <a:t>Insertion Anomalies</a:t>
            </a:r>
          </a:p>
          <a:p>
            <a:pPr lvl="1" algn="just"/>
            <a:r>
              <a:rPr lang="en-IN" sz="2400" dirty="0" smtClean="0"/>
              <a:t>Deletion Anomalies</a:t>
            </a:r>
          </a:p>
          <a:p>
            <a:pPr lvl="1" algn="just"/>
            <a:r>
              <a:rPr lang="en-IN" sz="2400" dirty="0" smtClean="0"/>
              <a:t>Modification Anomalies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3107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Guideline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Design the base relation schemas so that no insertion, deletion, or </a:t>
            </a:r>
            <a:r>
              <a:rPr lang="en-IN" sz="2400" dirty="0" smtClean="0"/>
              <a:t>modification anomalies </a:t>
            </a:r>
            <a:r>
              <a:rPr lang="en-IN" sz="2400" dirty="0"/>
              <a:t>are present in the relations. If any anomalies are present</a:t>
            </a:r>
            <a:r>
              <a:rPr lang="en-IN" sz="2400" dirty="0" smtClean="0"/>
              <a:t>, </a:t>
            </a:r>
            <a:r>
              <a:rPr lang="en-IN" sz="2400" dirty="0"/>
              <a:t>note </a:t>
            </a:r>
            <a:r>
              <a:rPr lang="en-IN" sz="2400" dirty="0" smtClean="0"/>
              <a:t>them clearly </a:t>
            </a:r>
            <a:r>
              <a:rPr lang="en-IN" sz="2400" dirty="0"/>
              <a:t>and make sure that the programs that update the database will </a:t>
            </a:r>
            <a:r>
              <a:rPr lang="en-IN" sz="2400" dirty="0" smtClean="0"/>
              <a:t>operate correctly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02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NULL Values in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 smtClean="0"/>
              <a:t>Guideline 3:</a:t>
            </a:r>
          </a:p>
          <a:p>
            <a:pPr lvl="1" algn="just"/>
            <a:r>
              <a:rPr lang="en-IN" sz="2400" dirty="0"/>
              <a:t>As far as possible, avoid placing attributes in a base relation whose values may </a:t>
            </a:r>
            <a:r>
              <a:rPr lang="en-IN" sz="2400" dirty="0" smtClean="0"/>
              <a:t>frequently be </a:t>
            </a:r>
            <a:r>
              <a:rPr lang="en-IN" sz="2400" dirty="0"/>
              <a:t>NULL. If NULLs are unavoidable, make sure that they apply in </a:t>
            </a:r>
            <a:r>
              <a:rPr lang="en-IN" sz="2400" dirty="0" smtClean="0"/>
              <a:t>exceptional cases </a:t>
            </a:r>
            <a:r>
              <a:rPr lang="en-IN" sz="2400" dirty="0"/>
              <a:t>only and do not apply to a majority of tuples in the relation.</a:t>
            </a:r>
          </a:p>
        </p:txBody>
      </p:sp>
    </p:spTree>
    <p:extLst>
      <p:ext uri="{BB962C8B-B14F-4D97-AF65-F5344CB8AC3E}">
        <p14:creationId xmlns:p14="http://schemas.microsoft.com/office/powerpoint/2010/main" val="194155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Generation of Spurious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840" y="1580050"/>
            <a:ext cx="11651672" cy="5014715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/>
              <a:t>A tuple is a record in a database</a:t>
            </a:r>
          </a:p>
          <a:p>
            <a:pPr algn="just"/>
            <a:r>
              <a:rPr lang="en-IN" sz="2400" dirty="0" smtClean="0"/>
              <a:t>A spurious tuple is a record in a database that gets created when two tables are joined badly, that is join is performed on an attribute that is neither a primary key or a foreign key.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 smtClean="0"/>
              <a:t>Guideline 4:</a:t>
            </a:r>
          </a:p>
          <a:p>
            <a:pPr lvl="1" algn="just"/>
            <a:r>
              <a:rPr lang="en-IN" sz="2400" dirty="0"/>
              <a:t>Design relation schemas so that they can be joined with equality conditions </a:t>
            </a:r>
            <a:r>
              <a:rPr lang="en-IN" sz="2400" dirty="0" smtClean="0"/>
              <a:t>on attributes </a:t>
            </a:r>
            <a:r>
              <a:rPr lang="en-IN" sz="2400" dirty="0"/>
              <a:t>that are appropriately related (primary key, foreign key) pairs in a </a:t>
            </a:r>
            <a:r>
              <a:rPr lang="en-IN" sz="2400" dirty="0" smtClean="0"/>
              <a:t>way that </a:t>
            </a:r>
            <a:r>
              <a:rPr lang="en-IN" sz="2400" dirty="0"/>
              <a:t>guarantees that no spurious tuples are generated. Avoid relations that contain matching attributes that are not (foreign key, primary key) combinations </a:t>
            </a:r>
            <a:r>
              <a:rPr lang="en-IN" sz="2400" dirty="0" smtClean="0"/>
              <a:t>because joining </a:t>
            </a:r>
            <a:r>
              <a:rPr lang="en-IN" sz="2400" dirty="0"/>
              <a:t>on such attributes may produce spurious tuples.</a:t>
            </a:r>
            <a:endParaRPr lang="en-IN" sz="2400" dirty="0" smtClean="0"/>
          </a:p>
        </p:txBody>
      </p:sp>
    </p:spTree>
    <p:extLst>
      <p:ext uri="{BB962C8B-B14F-4D97-AF65-F5344CB8AC3E}">
        <p14:creationId xmlns:p14="http://schemas.microsoft.com/office/powerpoint/2010/main" val="65471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u="sng" dirty="0" smtClean="0"/>
              <a:t>Summarization</a:t>
            </a:r>
            <a:endParaRPr lang="en-IN" sz="44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Anomalies that cause redundant work to be done during insertion into </a:t>
            </a:r>
            <a:r>
              <a:rPr lang="en-IN" sz="2400" dirty="0" smtClean="0"/>
              <a:t>and modification </a:t>
            </a:r>
            <a:r>
              <a:rPr lang="en-IN" sz="2400" dirty="0"/>
              <a:t>of a relation, and that may cause accidental loss of </a:t>
            </a:r>
            <a:r>
              <a:rPr lang="en-IN" sz="2400" dirty="0" smtClean="0"/>
              <a:t>information during </a:t>
            </a:r>
            <a:r>
              <a:rPr lang="en-IN" sz="2400" dirty="0"/>
              <a:t>a deletion from a </a:t>
            </a:r>
            <a:r>
              <a:rPr lang="en-IN" sz="2400" dirty="0" smtClean="0"/>
              <a:t>relation.</a:t>
            </a:r>
          </a:p>
          <a:p>
            <a:pPr algn="just"/>
            <a:r>
              <a:rPr lang="en-IN" sz="2400" dirty="0" smtClean="0"/>
              <a:t>Waste </a:t>
            </a:r>
            <a:r>
              <a:rPr lang="en-IN" sz="2400" dirty="0"/>
              <a:t>of storage space due to NULLs and the difficulty of performing </a:t>
            </a:r>
            <a:r>
              <a:rPr lang="en-IN" sz="2400" dirty="0" smtClean="0"/>
              <a:t>selections, aggregation </a:t>
            </a:r>
            <a:r>
              <a:rPr lang="en-IN" sz="2400" dirty="0"/>
              <a:t>operations, and joins due to NULL values</a:t>
            </a:r>
          </a:p>
          <a:p>
            <a:pPr algn="just"/>
            <a:r>
              <a:rPr lang="en-IN" sz="2400" dirty="0"/>
              <a:t>Generation of invalid and spurious data during joins on base relations </a:t>
            </a:r>
            <a:r>
              <a:rPr lang="en-IN" sz="2400" dirty="0" smtClean="0"/>
              <a:t>with matched </a:t>
            </a:r>
            <a:r>
              <a:rPr lang="en-IN" sz="2400" dirty="0"/>
              <a:t>attributes that may not represent a proper (foreign key, </a:t>
            </a:r>
            <a:r>
              <a:rPr lang="en-IN" sz="2400" dirty="0" smtClean="0"/>
              <a:t>primary key</a:t>
            </a:r>
            <a:r>
              <a:rPr lang="en-IN" sz="2400" dirty="0"/>
              <a:t>) relationship</a:t>
            </a:r>
          </a:p>
        </p:txBody>
      </p:sp>
    </p:spTree>
    <p:extLst>
      <p:ext uri="{BB962C8B-B14F-4D97-AF65-F5344CB8AC3E}">
        <p14:creationId xmlns:p14="http://schemas.microsoft.com/office/powerpoint/2010/main" val="369383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Functional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690255"/>
            <a:ext cx="11263746" cy="4641272"/>
          </a:xfrm>
        </p:spPr>
        <p:txBody>
          <a:bodyPr>
            <a:noAutofit/>
          </a:bodyPr>
          <a:lstStyle/>
          <a:p>
            <a:pPr algn="just"/>
            <a:r>
              <a:rPr lang="en-IN" sz="2300" dirty="0" smtClean="0"/>
              <a:t>A formal </a:t>
            </a:r>
            <a:r>
              <a:rPr lang="en-IN" sz="2300" dirty="0"/>
              <a:t>tool for analysis of relational schemas that enables us to detect </a:t>
            </a:r>
            <a:r>
              <a:rPr lang="en-IN" sz="2300" dirty="0" smtClean="0"/>
              <a:t>and describe </a:t>
            </a:r>
            <a:r>
              <a:rPr lang="en-IN" sz="2300" dirty="0"/>
              <a:t>some of the above-mentioned problems in precise terms</a:t>
            </a:r>
            <a:r>
              <a:rPr lang="en-IN" sz="2300" dirty="0" smtClean="0"/>
              <a:t>.</a:t>
            </a:r>
          </a:p>
          <a:p>
            <a:pPr algn="just"/>
            <a:r>
              <a:rPr lang="en-IN" sz="2300" dirty="0"/>
              <a:t>A functional dependency is a constraint between two sets of attributes from </a:t>
            </a:r>
            <a:r>
              <a:rPr lang="en-IN" sz="2300" dirty="0" smtClean="0"/>
              <a:t>the database.</a:t>
            </a:r>
          </a:p>
          <a:p>
            <a:pPr algn="just"/>
            <a:r>
              <a:rPr lang="en-IN" sz="2300" dirty="0"/>
              <a:t>Suppose that our relational database schema has </a:t>
            </a:r>
            <a:r>
              <a:rPr lang="en-IN" sz="2300" i="1" dirty="0"/>
              <a:t>n </a:t>
            </a:r>
            <a:r>
              <a:rPr lang="en-IN" sz="2300" dirty="0"/>
              <a:t>attributes </a:t>
            </a:r>
            <a:r>
              <a:rPr lang="en-IN" sz="2300" i="1" dirty="0"/>
              <a:t>A</a:t>
            </a:r>
            <a:r>
              <a:rPr lang="en-IN" sz="2300" dirty="0"/>
              <a:t>1, </a:t>
            </a:r>
            <a:r>
              <a:rPr lang="en-IN" sz="2300" i="1" dirty="0"/>
              <a:t>A</a:t>
            </a:r>
            <a:r>
              <a:rPr lang="en-IN" sz="2300" dirty="0"/>
              <a:t>2, </a:t>
            </a:r>
            <a:r>
              <a:rPr lang="en-IN" sz="2300" dirty="0" smtClean="0"/>
              <a:t>...,</a:t>
            </a:r>
            <a:r>
              <a:rPr lang="en-IN" sz="2300" i="1" dirty="0" smtClean="0"/>
              <a:t>An</a:t>
            </a:r>
            <a:r>
              <a:rPr lang="en-IN" sz="2300" dirty="0"/>
              <a:t>; let us think of the whole database as being described by a single </a:t>
            </a:r>
            <a:r>
              <a:rPr lang="en-IN" sz="2300" b="1" dirty="0" smtClean="0"/>
              <a:t>universal </a:t>
            </a:r>
            <a:r>
              <a:rPr lang="en-IN" sz="2300" dirty="0"/>
              <a:t>relation schema </a:t>
            </a:r>
            <a:r>
              <a:rPr lang="en-IN" sz="2300" i="1" dirty="0"/>
              <a:t>R </a:t>
            </a:r>
            <a:r>
              <a:rPr lang="en-IN" sz="2300" dirty="0"/>
              <a:t>= {</a:t>
            </a:r>
            <a:r>
              <a:rPr lang="en-IN" sz="2300" i="1" dirty="0"/>
              <a:t>A</a:t>
            </a:r>
            <a:r>
              <a:rPr lang="en-IN" sz="2300" dirty="0"/>
              <a:t>1, </a:t>
            </a:r>
            <a:r>
              <a:rPr lang="en-IN" sz="2300" i="1" dirty="0"/>
              <a:t>A</a:t>
            </a:r>
            <a:r>
              <a:rPr lang="en-IN" sz="2300" dirty="0"/>
              <a:t>2, ... , </a:t>
            </a:r>
            <a:r>
              <a:rPr lang="en-IN" sz="2300" i="1" dirty="0"/>
              <a:t>An</a:t>
            </a:r>
            <a:r>
              <a:rPr lang="en-IN" sz="2300" dirty="0" smtClean="0"/>
              <a:t>}.</a:t>
            </a:r>
          </a:p>
          <a:p>
            <a:pPr algn="just"/>
            <a:r>
              <a:rPr lang="en-IN" sz="2300" dirty="0" smtClean="0"/>
              <a:t>A </a:t>
            </a:r>
            <a:r>
              <a:rPr lang="en-IN" sz="2300" dirty="0"/>
              <a:t>functional dependency, denoted by </a:t>
            </a:r>
            <a:r>
              <a:rPr lang="en-IN" sz="2300" dirty="0" smtClean="0">
                <a:solidFill>
                  <a:srgbClr val="FFFF00"/>
                </a:solidFill>
              </a:rPr>
              <a:t>X</a:t>
            </a:r>
            <a:r>
              <a:rPr lang="en-IN" sz="2300" dirty="0" smtClean="0">
                <a:solidFill>
                  <a:srgbClr val="FFFF00"/>
                </a:solidFill>
                <a:sym typeface="Wingdings" panose="05000000000000000000" pitchFamily="2" charset="2"/>
              </a:rPr>
              <a:t></a:t>
            </a:r>
            <a:r>
              <a:rPr lang="en-IN" sz="2300" dirty="0" smtClean="0">
                <a:solidFill>
                  <a:srgbClr val="FFFF00"/>
                </a:solidFill>
              </a:rPr>
              <a:t>Y</a:t>
            </a:r>
            <a:r>
              <a:rPr lang="en-IN" sz="2300" dirty="0"/>
              <a:t>, between two sets </a:t>
            </a:r>
            <a:r>
              <a:rPr lang="en-IN" sz="2300" dirty="0" smtClean="0"/>
              <a:t>of attributes </a:t>
            </a:r>
            <a:r>
              <a:rPr lang="en-IN" sz="2300" dirty="0"/>
              <a:t>X and Y that are subsets of R specifies a constraint on the </a:t>
            </a:r>
            <a:r>
              <a:rPr lang="en-IN" sz="2300" dirty="0" smtClean="0"/>
              <a:t>possible tuples </a:t>
            </a:r>
            <a:r>
              <a:rPr lang="en-IN" sz="2300" dirty="0"/>
              <a:t>that can form a relation state r of R</a:t>
            </a:r>
            <a:r>
              <a:rPr lang="en-IN" sz="2300" dirty="0" smtClean="0"/>
              <a:t>. </a:t>
            </a:r>
            <a:r>
              <a:rPr lang="en-IN" sz="2300" dirty="0"/>
              <a:t>The constraint is that, for any </a:t>
            </a:r>
            <a:r>
              <a:rPr lang="en-IN" sz="2300" dirty="0" smtClean="0"/>
              <a:t>two tuples </a:t>
            </a:r>
            <a:r>
              <a:rPr lang="en-IN" sz="2300" i="1" dirty="0"/>
              <a:t>t</a:t>
            </a:r>
            <a:r>
              <a:rPr lang="en-IN" sz="2300" dirty="0"/>
              <a:t>1 and </a:t>
            </a:r>
            <a:r>
              <a:rPr lang="en-IN" sz="2300" i="1" dirty="0"/>
              <a:t>t</a:t>
            </a:r>
            <a:r>
              <a:rPr lang="en-IN" sz="2300" dirty="0"/>
              <a:t>2 in </a:t>
            </a:r>
            <a:r>
              <a:rPr lang="en-IN" sz="2300" i="1" dirty="0"/>
              <a:t>r </a:t>
            </a:r>
            <a:r>
              <a:rPr lang="en-IN" sz="2300" dirty="0"/>
              <a:t>that have </a:t>
            </a:r>
            <a:r>
              <a:rPr lang="en-IN" sz="2300" i="1" dirty="0"/>
              <a:t>t</a:t>
            </a:r>
            <a:r>
              <a:rPr lang="en-IN" sz="2300" dirty="0"/>
              <a:t>1[</a:t>
            </a:r>
            <a:r>
              <a:rPr lang="en-IN" sz="2300" i="1" dirty="0"/>
              <a:t>X</a:t>
            </a:r>
            <a:r>
              <a:rPr lang="en-IN" sz="2300" dirty="0"/>
              <a:t>] = </a:t>
            </a:r>
            <a:r>
              <a:rPr lang="en-IN" sz="2300" i="1" dirty="0"/>
              <a:t>t</a:t>
            </a:r>
            <a:r>
              <a:rPr lang="en-IN" sz="2300" dirty="0"/>
              <a:t>2[</a:t>
            </a:r>
            <a:r>
              <a:rPr lang="en-IN" sz="2300" i="1" dirty="0"/>
              <a:t>X</a:t>
            </a:r>
            <a:r>
              <a:rPr lang="en-IN" sz="2300" dirty="0"/>
              <a:t>], they must also have </a:t>
            </a:r>
            <a:r>
              <a:rPr lang="en-IN" sz="2300" i="1" dirty="0"/>
              <a:t>t</a:t>
            </a:r>
            <a:r>
              <a:rPr lang="en-IN" sz="2300" dirty="0"/>
              <a:t>1[</a:t>
            </a:r>
            <a:r>
              <a:rPr lang="en-IN" sz="2300" i="1" dirty="0"/>
              <a:t>Y</a:t>
            </a:r>
            <a:r>
              <a:rPr lang="en-IN" sz="2300" dirty="0"/>
              <a:t>] = </a:t>
            </a:r>
            <a:r>
              <a:rPr lang="en-IN" sz="2300" i="1" dirty="0"/>
              <a:t>t</a:t>
            </a:r>
            <a:r>
              <a:rPr lang="en-IN" sz="2300" dirty="0"/>
              <a:t>2[</a:t>
            </a:r>
            <a:r>
              <a:rPr lang="en-IN" sz="2300" i="1" dirty="0"/>
              <a:t>Y</a:t>
            </a:r>
            <a:r>
              <a:rPr lang="en-IN" sz="2300" dirty="0"/>
              <a:t>].</a:t>
            </a:r>
          </a:p>
        </p:txBody>
      </p:sp>
    </p:spTree>
    <p:extLst>
      <p:ext uri="{BB962C8B-B14F-4D97-AF65-F5344CB8AC3E}">
        <p14:creationId xmlns:p14="http://schemas.microsoft.com/office/powerpoint/2010/main" val="409309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5855"/>
            <a:ext cx="11291455" cy="5015345"/>
          </a:xfrm>
        </p:spPr>
        <p:txBody>
          <a:bodyPr>
            <a:noAutofit/>
          </a:bodyPr>
          <a:lstStyle/>
          <a:p>
            <a:pPr algn="just"/>
            <a:r>
              <a:rPr lang="en-IN" sz="2400" dirty="0"/>
              <a:t>This means that the values of the Y component of a tuple in r depend on, or </a:t>
            </a:r>
            <a:r>
              <a:rPr lang="en-IN" sz="2400" dirty="0" smtClean="0"/>
              <a:t>are determined </a:t>
            </a:r>
            <a:r>
              <a:rPr lang="en-IN" sz="2400" dirty="0"/>
              <a:t>by, the values of the X component; alternatively, the values of the X </a:t>
            </a:r>
            <a:r>
              <a:rPr lang="en-IN" sz="2400" dirty="0" smtClean="0"/>
              <a:t>component of </a:t>
            </a:r>
            <a:r>
              <a:rPr lang="en-IN" sz="2400" dirty="0"/>
              <a:t>a tuple uniquely (or functionally) determine the values of the Y </a:t>
            </a:r>
            <a:r>
              <a:rPr lang="en-IN" sz="2400" dirty="0" smtClean="0"/>
              <a:t>component.</a:t>
            </a:r>
          </a:p>
          <a:p>
            <a:pPr algn="just"/>
            <a:r>
              <a:rPr lang="en-IN" sz="2400" dirty="0"/>
              <a:t>T</a:t>
            </a:r>
            <a:r>
              <a:rPr lang="en-IN" sz="2400" dirty="0" smtClean="0"/>
              <a:t>here </a:t>
            </a:r>
            <a:r>
              <a:rPr lang="en-IN" sz="2400" dirty="0"/>
              <a:t>is a functional dependency from </a:t>
            </a:r>
            <a:r>
              <a:rPr lang="en-IN" sz="2400" i="1" dirty="0"/>
              <a:t>X </a:t>
            </a:r>
            <a:r>
              <a:rPr lang="en-IN" sz="2400" dirty="0"/>
              <a:t>to </a:t>
            </a:r>
            <a:r>
              <a:rPr lang="en-IN" sz="2400" i="1" dirty="0"/>
              <a:t>Y</a:t>
            </a:r>
            <a:r>
              <a:rPr lang="en-IN" sz="2400" dirty="0"/>
              <a:t>, or that Y </a:t>
            </a:r>
            <a:r>
              <a:rPr lang="en-IN" sz="2400" dirty="0" smtClean="0"/>
              <a:t>is functionally </a:t>
            </a:r>
            <a:r>
              <a:rPr lang="en-IN" sz="2400" dirty="0"/>
              <a:t>dependent on </a:t>
            </a:r>
            <a:r>
              <a:rPr lang="en-IN" sz="2400" dirty="0" smtClean="0"/>
              <a:t>X.</a:t>
            </a:r>
          </a:p>
          <a:p>
            <a:pPr algn="just"/>
            <a:r>
              <a:rPr lang="en-IN" sz="2400" dirty="0"/>
              <a:t>X functionally determines Y in a relation schema R if, and only if, </a:t>
            </a:r>
            <a:r>
              <a:rPr lang="en-IN" sz="2400" dirty="0" smtClean="0"/>
              <a:t>whenever two </a:t>
            </a:r>
            <a:r>
              <a:rPr lang="en-IN" sz="2400" dirty="0"/>
              <a:t>tuples of r(R) agree on their X-value, they must necessarily agree on their </a:t>
            </a:r>
            <a:r>
              <a:rPr lang="en-IN" sz="2400" dirty="0" smtClean="0"/>
              <a:t>Y value.</a:t>
            </a:r>
          </a:p>
          <a:p>
            <a:pPr algn="just"/>
            <a:r>
              <a:rPr lang="en-IN" sz="2400" dirty="0"/>
              <a:t>A functional dependency is a property of the semantics or meaning of the </a:t>
            </a:r>
            <a:r>
              <a:rPr lang="en-IN" sz="2400" dirty="0" smtClean="0"/>
              <a:t>attributes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564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042" t="48958" r="38286" b="26421"/>
          <a:stretch/>
        </p:blipFill>
        <p:spPr>
          <a:xfrm>
            <a:off x="1668941" y="443345"/>
            <a:ext cx="9104034" cy="35329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81745" y="4491335"/>
            <a:ext cx="69272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 smtClean="0"/>
              <a:t>1. </a:t>
            </a:r>
            <a:r>
              <a:rPr lang="en-IN" sz="3600" dirty="0" err="1" smtClean="0"/>
              <a:t>Ssn</a:t>
            </a:r>
            <a:r>
              <a:rPr lang="en-IN" sz="3600" dirty="0" err="1"/>
              <a:t>→Ename</a:t>
            </a:r>
            <a:endParaRPr lang="en-IN" sz="3600" dirty="0"/>
          </a:p>
          <a:p>
            <a:r>
              <a:rPr lang="en-IN" sz="3600" dirty="0" smtClean="0"/>
              <a:t>2. </a:t>
            </a:r>
            <a:r>
              <a:rPr lang="en-IN" sz="3600" dirty="0" err="1" smtClean="0"/>
              <a:t>Pnumber</a:t>
            </a:r>
            <a:r>
              <a:rPr lang="en-IN" sz="3600" dirty="0" smtClean="0"/>
              <a:t> </a:t>
            </a:r>
            <a:r>
              <a:rPr lang="en-IN" sz="3600" dirty="0"/>
              <a:t>→{</a:t>
            </a:r>
            <a:r>
              <a:rPr lang="en-IN" sz="3600" dirty="0" err="1"/>
              <a:t>Pname</a:t>
            </a:r>
            <a:r>
              <a:rPr lang="en-IN" sz="3600" dirty="0"/>
              <a:t>, </a:t>
            </a:r>
            <a:r>
              <a:rPr lang="en-IN" sz="3600" dirty="0" err="1"/>
              <a:t>Plocation</a:t>
            </a:r>
            <a:r>
              <a:rPr lang="en-IN" sz="3600" dirty="0"/>
              <a:t>}</a:t>
            </a:r>
          </a:p>
          <a:p>
            <a:r>
              <a:rPr lang="en-IN" sz="3600" dirty="0" smtClean="0"/>
              <a:t>3.{</a:t>
            </a:r>
            <a:r>
              <a:rPr lang="en-IN" sz="3600" dirty="0" err="1" smtClean="0"/>
              <a:t>Ssn</a:t>
            </a:r>
            <a:r>
              <a:rPr lang="en-IN" sz="3600" dirty="0"/>
              <a:t>, </a:t>
            </a:r>
            <a:r>
              <a:rPr lang="en-IN" sz="3600" dirty="0" err="1"/>
              <a:t>Pnumber</a:t>
            </a:r>
            <a:r>
              <a:rPr lang="en-IN" sz="3600" dirty="0"/>
              <a:t>}→Hours</a:t>
            </a:r>
          </a:p>
        </p:txBody>
      </p:sp>
    </p:spTree>
    <p:extLst>
      <p:ext uri="{BB962C8B-B14F-4D97-AF65-F5344CB8AC3E}">
        <p14:creationId xmlns:p14="http://schemas.microsoft.com/office/powerpoint/2010/main" val="346767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1570" t="55208" r="49148" b="21307"/>
          <a:stretch/>
        </p:blipFill>
        <p:spPr>
          <a:xfrm>
            <a:off x="2438399" y="318654"/>
            <a:ext cx="7273638" cy="32797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8654" y="4103500"/>
            <a:ext cx="115131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A relation state of TEACH with </a:t>
            </a:r>
            <a:r>
              <a:rPr lang="en-IN" sz="2400" dirty="0" smtClean="0"/>
              <a:t>a possible </a:t>
            </a:r>
            <a:r>
              <a:rPr lang="en-IN" sz="2400" dirty="0"/>
              <a:t>functional </a:t>
            </a:r>
            <a:r>
              <a:rPr lang="en-IN" sz="2400" dirty="0" smtClean="0"/>
              <a:t>dependency TEXT </a:t>
            </a:r>
            <a:r>
              <a:rPr lang="en-IN" sz="2400" dirty="0"/>
              <a:t>→ COURSE. </a:t>
            </a:r>
            <a:endParaRPr lang="en-IN" sz="2400" dirty="0" smtClean="0"/>
          </a:p>
          <a:p>
            <a:pPr algn="ctr"/>
            <a:r>
              <a:rPr lang="en-IN" sz="2400" dirty="0" smtClean="0"/>
              <a:t>However, TEACHER </a:t>
            </a:r>
            <a:r>
              <a:rPr lang="en-IN" sz="2400" dirty="0"/>
              <a:t>→ COURSE is </a:t>
            </a:r>
            <a:r>
              <a:rPr lang="en-IN" sz="2400" dirty="0" smtClean="0"/>
              <a:t>ruled out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985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Normalization of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first proposed by </a:t>
            </a:r>
            <a:r>
              <a:rPr lang="en-IN" sz="2400" dirty="0" err="1"/>
              <a:t>Codd</a:t>
            </a:r>
            <a:r>
              <a:rPr lang="en-IN" sz="2400" dirty="0"/>
              <a:t> (</a:t>
            </a:r>
            <a:r>
              <a:rPr lang="en-IN" sz="2400" dirty="0" smtClean="0"/>
              <a:t>1972)</a:t>
            </a:r>
          </a:p>
          <a:p>
            <a:pPr algn="just"/>
            <a:r>
              <a:rPr lang="en-IN" sz="2400" dirty="0" smtClean="0"/>
              <a:t>Takes </a:t>
            </a:r>
            <a:r>
              <a:rPr lang="en-IN" sz="2400" dirty="0"/>
              <a:t>a </a:t>
            </a:r>
            <a:r>
              <a:rPr lang="en-IN" sz="2400" dirty="0" smtClean="0"/>
              <a:t>relation schema </a:t>
            </a:r>
            <a:r>
              <a:rPr lang="en-IN" sz="2400" dirty="0"/>
              <a:t>through a series of tests to certify whether it satisfies a certain normal </a:t>
            </a:r>
            <a:r>
              <a:rPr lang="en-IN" sz="2400" dirty="0" smtClean="0"/>
              <a:t>form</a:t>
            </a:r>
          </a:p>
          <a:p>
            <a:pPr algn="just"/>
            <a:r>
              <a:rPr lang="en-IN" sz="2400" dirty="0" smtClean="0"/>
              <a:t>considered </a:t>
            </a:r>
            <a:r>
              <a:rPr lang="en-IN" sz="2400" dirty="0"/>
              <a:t>as relational design by </a:t>
            </a:r>
            <a:r>
              <a:rPr lang="en-IN" sz="2400" dirty="0" smtClean="0"/>
              <a:t>analysis</a:t>
            </a:r>
          </a:p>
          <a:p>
            <a:pPr algn="just"/>
            <a:r>
              <a:rPr lang="en-IN" sz="2400" dirty="0" smtClean="0"/>
              <a:t>1NF, 2NF, 3NF and BCNF are </a:t>
            </a:r>
            <a:r>
              <a:rPr lang="en-IN" sz="2400" dirty="0"/>
              <a:t>based on a single analytical </a:t>
            </a:r>
            <a:r>
              <a:rPr lang="en-IN" sz="2400" dirty="0" smtClean="0"/>
              <a:t>tool.</a:t>
            </a:r>
          </a:p>
          <a:p>
            <a:pPr algn="just"/>
            <a:r>
              <a:rPr lang="en-IN" sz="2400" dirty="0" smtClean="0"/>
              <a:t>5NF and 6NF are </a:t>
            </a:r>
            <a:r>
              <a:rPr lang="en-IN" sz="2400" dirty="0"/>
              <a:t>based on the concepts </a:t>
            </a:r>
            <a:r>
              <a:rPr lang="en-IN" sz="2400" dirty="0" smtClean="0"/>
              <a:t>of multivalued </a:t>
            </a:r>
            <a:r>
              <a:rPr lang="en-IN" sz="2400" dirty="0"/>
              <a:t>dependencies and join dependencies</a:t>
            </a:r>
          </a:p>
        </p:txBody>
      </p:sp>
    </p:spTree>
    <p:extLst>
      <p:ext uri="{BB962C8B-B14F-4D97-AF65-F5344CB8AC3E}">
        <p14:creationId xmlns:p14="http://schemas.microsoft.com/office/powerpoint/2010/main" val="209658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Normalization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732449"/>
            <a:ext cx="11125200" cy="4765333"/>
          </a:xfrm>
        </p:spPr>
        <p:txBody>
          <a:bodyPr>
            <a:noAutofit/>
          </a:bodyPr>
          <a:lstStyle/>
          <a:p>
            <a:pPr algn="just"/>
            <a:r>
              <a:rPr lang="en-IN" sz="2400" dirty="0"/>
              <a:t>Normalization of data can be considered a process of </a:t>
            </a:r>
            <a:r>
              <a:rPr lang="en-IN" sz="2400" dirty="0" smtClean="0"/>
              <a:t>analysing </a:t>
            </a:r>
            <a:r>
              <a:rPr lang="en-IN" sz="2400" dirty="0"/>
              <a:t>the given </a:t>
            </a:r>
            <a:r>
              <a:rPr lang="en-IN" sz="2400" dirty="0" smtClean="0"/>
              <a:t>relation schemas </a:t>
            </a:r>
            <a:r>
              <a:rPr lang="en-IN" sz="2400" dirty="0"/>
              <a:t>based on their FDs and primary keys to achieve the desirable properties of</a:t>
            </a:r>
          </a:p>
          <a:p>
            <a:pPr marL="494100" indent="-457200" algn="just">
              <a:buAutoNum type="arabicParenBoth"/>
            </a:pPr>
            <a:r>
              <a:rPr lang="en-IN" sz="2400" dirty="0" smtClean="0"/>
              <a:t>minimizing </a:t>
            </a:r>
            <a:r>
              <a:rPr lang="en-IN" sz="2400" dirty="0"/>
              <a:t>redundancy and </a:t>
            </a:r>
          </a:p>
          <a:p>
            <a:pPr marL="494100" indent="-457200" algn="just">
              <a:buAutoNum type="arabicParenBoth"/>
            </a:pPr>
            <a:r>
              <a:rPr lang="en-IN" sz="2400" dirty="0" smtClean="0"/>
              <a:t>minimizing </a:t>
            </a:r>
            <a:r>
              <a:rPr lang="en-IN" sz="2400" dirty="0"/>
              <a:t>the insertion, deletion, and </a:t>
            </a:r>
            <a:r>
              <a:rPr lang="en-IN" sz="2400" dirty="0" smtClean="0"/>
              <a:t>update anomalies</a:t>
            </a:r>
          </a:p>
          <a:p>
            <a:pPr algn="just"/>
            <a:r>
              <a:rPr lang="en-IN" sz="2400" dirty="0"/>
              <a:t>It can be considered as a “filtering” or “</a:t>
            </a:r>
            <a:r>
              <a:rPr lang="en-IN" sz="2400" dirty="0" smtClean="0"/>
              <a:t>purification” process </a:t>
            </a:r>
            <a:r>
              <a:rPr lang="en-IN" sz="2400" dirty="0"/>
              <a:t>to make the design have successively better quality. </a:t>
            </a:r>
            <a:endParaRPr lang="en-IN" sz="2400" dirty="0" smtClean="0"/>
          </a:p>
          <a:p>
            <a:pPr algn="just"/>
            <a:r>
              <a:rPr lang="en-IN" sz="2400" dirty="0" smtClean="0"/>
              <a:t>Unsatisfactory relation </a:t>
            </a:r>
            <a:r>
              <a:rPr lang="en-IN" sz="2400" dirty="0"/>
              <a:t>schemas that do not meet certain </a:t>
            </a:r>
            <a:r>
              <a:rPr lang="en-IN" sz="2400" dirty="0" smtClean="0"/>
              <a:t>conditions i.e. the </a:t>
            </a:r>
            <a:r>
              <a:rPr lang="en-IN" sz="2400" b="1" dirty="0"/>
              <a:t>normal form </a:t>
            </a:r>
            <a:r>
              <a:rPr lang="en-IN" sz="2400" b="1" dirty="0" smtClean="0"/>
              <a:t>tests</a:t>
            </a:r>
            <a:r>
              <a:rPr lang="en-IN" sz="2400" dirty="0" smtClean="0"/>
              <a:t>, are decomposed </a:t>
            </a:r>
            <a:r>
              <a:rPr lang="en-IN" sz="2400" dirty="0"/>
              <a:t>into smaller relation schemas that meet the tests and hence possess </a:t>
            </a:r>
            <a:r>
              <a:rPr lang="en-IN" sz="2400" dirty="0" smtClean="0"/>
              <a:t>the desirable </a:t>
            </a:r>
            <a:r>
              <a:rPr lang="en-IN" sz="2400" dirty="0"/>
              <a:t>properties.</a:t>
            </a:r>
            <a:endParaRPr lang="en-IN" sz="2400" dirty="0" smtClean="0"/>
          </a:p>
        </p:txBody>
      </p:sp>
    </p:spTree>
    <p:extLst>
      <p:ext uri="{BB962C8B-B14F-4D97-AF65-F5344CB8AC3E}">
        <p14:creationId xmlns:p14="http://schemas.microsoft.com/office/powerpoint/2010/main" val="871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164" y="609601"/>
            <a:ext cx="10917381" cy="5555672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The normal form of a relation refers to the highest normal </a:t>
            </a:r>
            <a:r>
              <a:rPr lang="en-IN" sz="2400" dirty="0" smtClean="0"/>
              <a:t>form condition </a:t>
            </a:r>
            <a:r>
              <a:rPr lang="en-IN" sz="2400" dirty="0"/>
              <a:t>that it meets, and hence indicates the degree to which it has been </a:t>
            </a:r>
            <a:r>
              <a:rPr lang="en-IN" sz="2400" dirty="0" smtClean="0"/>
              <a:t>normalized.</a:t>
            </a:r>
          </a:p>
          <a:p>
            <a:pPr algn="just"/>
            <a:r>
              <a:rPr lang="en-IN" sz="2400" dirty="0" err="1"/>
              <a:t>Denormalization</a:t>
            </a:r>
            <a:r>
              <a:rPr lang="en-IN" sz="2400" dirty="0"/>
              <a:t> is the process of storing the join of higher </a:t>
            </a:r>
            <a:r>
              <a:rPr lang="en-IN" sz="2400" dirty="0" smtClean="0"/>
              <a:t>normal form </a:t>
            </a:r>
            <a:r>
              <a:rPr lang="en-IN" sz="2400" dirty="0"/>
              <a:t>relations as a base relation, which is in a lower normal form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/>
              <a:t>An attribute of relation schema R is called a prime attribute of R </a:t>
            </a:r>
            <a:r>
              <a:rPr lang="en-IN" sz="2400" dirty="0" smtClean="0"/>
              <a:t>if it </a:t>
            </a:r>
            <a:r>
              <a:rPr lang="en-IN" sz="2400" dirty="0"/>
              <a:t>is a member of some candidate key of R. An attribute is called nonprime if </a:t>
            </a:r>
            <a:r>
              <a:rPr lang="en-IN" sz="2400" dirty="0" smtClean="0"/>
              <a:t>it is </a:t>
            </a:r>
            <a:r>
              <a:rPr lang="en-IN" sz="2400" dirty="0"/>
              <a:t>not a prime </a:t>
            </a:r>
            <a:r>
              <a:rPr lang="en-IN" sz="2400" dirty="0" smtClean="0"/>
              <a:t>attribute that </a:t>
            </a:r>
            <a:r>
              <a:rPr lang="en-IN" sz="2400" dirty="0"/>
              <a:t>is, if it is not a member of any candidate key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For instance </a:t>
            </a:r>
            <a:r>
              <a:rPr lang="en-IN" sz="2400" dirty="0"/>
              <a:t>a 3NF </a:t>
            </a:r>
            <a:r>
              <a:rPr lang="en-IN" sz="2400" dirty="0" smtClean="0"/>
              <a:t>relation </a:t>
            </a:r>
            <a:r>
              <a:rPr lang="en-IN" sz="2400" i="1" dirty="0" smtClean="0"/>
              <a:t>already </a:t>
            </a:r>
            <a:r>
              <a:rPr lang="en-IN" sz="2400" i="1" dirty="0"/>
              <a:t>satisfies </a:t>
            </a:r>
            <a:r>
              <a:rPr lang="en-IN" sz="2400" dirty="0" smtClean="0"/>
              <a:t>2NF and 1NF.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9726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u="sng" dirty="0"/>
              <a:t>First Normal Form (1NF)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A relation will be 1NF if it contains an atomic value.</a:t>
            </a:r>
          </a:p>
          <a:p>
            <a:pPr algn="just"/>
            <a:r>
              <a:rPr lang="en-IN" sz="2400" dirty="0"/>
              <a:t>It states that an attribute of a table cannot hold multiple values. It must hold only single-valued attribute.</a:t>
            </a:r>
          </a:p>
          <a:p>
            <a:pPr algn="just"/>
            <a:r>
              <a:rPr lang="en-IN" sz="2400" dirty="0"/>
              <a:t>First normal form disallows the multi-valued attribute, composite attribute, and their combinations.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3249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0833" t="40057" r="27106" b="41583"/>
          <a:stretch/>
        </p:blipFill>
        <p:spPr>
          <a:xfrm>
            <a:off x="1523729" y="441614"/>
            <a:ext cx="9261642" cy="22730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0833" t="67809" r="36579" b="6723"/>
          <a:stretch/>
        </p:blipFill>
        <p:spPr>
          <a:xfrm>
            <a:off x="2593905" y="2928937"/>
            <a:ext cx="7121290" cy="312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8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Second Normal </a:t>
            </a:r>
            <a:r>
              <a:rPr lang="en-IN" dirty="0" smtClean="0"/>
              <a:t>Form(2NF)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In the 2NF, relational must be in 1NF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Second </a:t>
            </a:r>
            <a:r>
              <a:rPr lang="en-IN" sz="2400" dirty="0"/>
              <a:t>normal form (2NF) is based on the concept of full functional dependency. </a:t>
            </a:r>
            <a:endParaRPr lang="en-IN" sz="2400" dirty="0" smtClean="0"/>
          </a:p>
          <a:p>
            <a:pPr algn="just"/>
            <a:r>
              <a:rPr lang="en-IN" sz="2400" dirty="0" smtClean="0"/>
              <a:t>A functional </a:t>
            </a:r>
            <a:r>
              <a:rPr lang="en-IN" sz="2400" dirty="0"/>
              <a:t>dependency </a:t>
            </a:r>
            <a:r>
              <a:rPr lang="en-IN" sz="2400" dirty="0" smtClean="0"/>
              <a:t>X </a:t>
            </a:r>
            <a:r>
              <a:rPr lang="en-IN" sz="2400" dirty="0" smtClean="0">
                <a:sym typeface="Wingdings" panose="05000000000000000000" pitchFamily="2" charset="2"/>
              </a:rPr>
              <a:t> </a:t>
            </a:r>
            <a:r>
              <a:rPr lang="en-IN" sz="2400" dirty="0" smtClean="0"/>
              <a:t>Y </a:t>
            </a:r>
            <a:r>
              <a:rPr lang="en-IN" sz="2400" dirty="0"/>
              <a:t>is a full functional dependency if removal of </a:t>
            </a:r>
            <a:r>
              <a:rPr lang="en-IN" sz="2400" dirty="0" smtClean="0"/>
              <a:t>any attribute </a:t>
            </a:r>
            <a:r>
              <a:rPr lang="en-IN" sz="2400" dirty="0"/>
              <a:t>A from X means that the dependency does not hold any </a:t>
            </a:r>
            <a:r>
              <a:rPr lang="en-IN" sz="2400" dirty="0" smtClean="0"/>
              <a:t>more.</a:t>
            </a:r>
          </a:p>
          <a:p>
            <a:pPr algn="just"/>
            <a:r>
              <a:rPr lang="en-IN" sz="2400" dirty="0"/>
              <a:t>A relation schema R is in 2NF if every nonprime attribute A in R </a:t>
            </a:r>
            <a:r>
              <a:rPr lang="en-IN" sz="2400" dirty="0" smtClean="0"/>
              <a:t>is fully </a:t>
            </a:r>
            <a:r>
              <a:rPr lang="en-IN" sz="2400" dirty="0"/>
              <a:t>functionally dependent on the primary key of R.</a:t>
            </a:r>
          </a:p>
        </p:txBody>
      </p:sp>
    </p:spTree>
    <p:extLst>
      <p:ext uri="{BB962C8B-B14F-4D97-AF65-F5344CB8AC3E}">
        <p14:creationId xmlns:p14="http://schemas.microsoft.com/office/powerpoint/2010/main" val="156648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893" t="46307" r="39352" b="30777"/>
          <a:stretch/>
        </p:blipFill>
        <p:spPr>
          <a:xfrm>
            <a:off x="1699071" y="609599"/>
            <a:ext cx="8856375" cy="33805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9071" y="4616486"/>
            <a:ext cx="88563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500" dirty="0" smtClean="0"/>
              <a:t>{</a:t>
            </a:r>
            <a:r>
              <a:rPr lang="en-IN" sz="2500" dirty="0" err="1"/>
              <a:t>Ssn</a:t>
            </a:r>
            <a:r>
              <a:rPr lang="en-IN" sz="2500" dirty="0"/>
              <a:t>, </a:t>
            </a:r>
            <a:r>
              <a:rPr lang="en-IN" sz="2500" dirty="0" err="1" smtClean="0"/>
              <a:t>Pnumber</a:t>
            </a:r>
            <a:r>
              <a:rPr lang="en-IN" sz="2500" dirty="0" smtClean="0"/>
              <a:t>} </a:t>
            </a:r>
            <a:r>
              <a:rPr lang="en-IN" sz="2500" dirty="0" smtClean="0">
                <a:sym typeface="Wingdings" panose="05000000000000000000" pitchFamily="2" charset="2"/>
              </a:rPr>
              <a:t></a:t>
            </a:r>
            <a:r>
              <a:rPr lang="en-IN" sz="2500" dirty="0" smtClean="0"/>
              <a:t> Hours </a:t>
            </a:r>
            <a:r>
              <a:rPr lang="en-IN" sz="2500" dirty="0"/>
              <a:t>is a full dependency </a:t>
            </a:r>
            <a:endParaRPr lang="en-IN" sz="2500" dirty="0" smtClean="0"/>
          </a:p>
          <a:p>
            <a:pPr algn="just"/>
            <a:r>
              <a:rPr lang="en-IN" sz="2500" dirty="0" smtClean="0"/>
              <a:t>(</a:t>
            </a:r>
            <a:r>
              <a:rPr lang="en-IN" sz="2500" dirty="0"/>
              <a:t>neither </a:t>
            </a:r>
            <a:r>
              <a:rPr lang="en-IN" sz="2500" dirty="0" err="1" smtClean="0"/>
              <a:t>Ssn</a:t>
            </a:r>
            <a:r>
              <a:rPr lang="en-IN" sz="2500" dirty="0"/>
              <a:t> </a:t>
            </a:r>
            <a:r>
              <a:rPr lang="en-IN" sz="2500" dirty="0" smtClean="0">
                <a:sym typeface="Wingdings" panose="05000000000000000000" pitchFamily="2" charset="2"/>
              </a:rPr>
              <a:t> </a:t>
            </a:r>
            <a:r>
              <a:rPr lang="en-IN" sz="2500" dirty="0" smtClean="0"/>
              <a:t>Hours nor </a:t>
            </a:r>
            <a:r>
              <a:rPr lang="en-IN" sz="2500" dirty="0" err="1" smtClean="0"/>
              <a:t>Pnumber</a:t>
            </a:r>
            <a:r>
              <a:rPr lang="en-IN" sz="2500" dirty="0" smtClean="0"/>
              <a:t> </a:t>
            </a:r>
            <a:r>
              <a:rPr lang="en-IN" sz="2500" dirty="0" smtClean="0">
                <a:sym typeface="Wingdings" panose="05000000000000000000" pitchFamily="2" charset="2"/>
              </a:rPr>
              <a:t></a:t>
            </a:r>
            <a:r>
              <a:rPr lang="en-IN" sz="2500" dirty="0" smtClean="0"/>
              <a:t> Hours </a:t>
            </a:r>
            <a:r>
              <a:rPr lang="en-IN" sz="2500" dirty="0"/>
              <a:t>holds). </a:t>
            </a:r>
            <a:endParaRPr lang="en-IN" sz="2500" dirty="0" smtClean="0"/>
          </a:p>
          <a:p>
            <a:pPr algn="just"/>
            <a:r>
              <a:rPr lang="en-IN" sz="2500" dirty="0" smtClean="0"/>
              <a:t>However</a:t>
            </a:r>
            <a:r>
              <a:rPr lang="en-IN" sz="2500" dirty="0"/>
              <a:t>, the dependency {</a:t>
            </a:r>
            <a:r>
              <a:rPr lang="en-IN" sz="2500" dirty="0" err="1" smtClean="0"/>
              <a:t>Ssn</a:t>
            </a:r>
            <a:r>
              <a:rPr lang="en-IN" sz="2500" dirty="0" smtClean="0"/>
              <a:t>, </a:t>
            </a:r>
            <a:r>
              <a:rPr lang="en-IN" sz="2500" dirty="0" err="1" smtClean="0"/>
              <a:t>Ename</a:t>
            </a:r>
            <a:r>
              <a:rPr lang="en-IN" sz="2500" dirty="0" smtClean="0"/>
              <a:t>}</a:t>
            </a:r>
            <a:r>
              <a:rPr lang="en-IN" sz="2500" dirty="0" smtClean="0">
                <a:sym typeface="Wingdings" panose="05000000000000000000" pitchFamily="2" charset="2"/>
              </a:rPr>
              <a:t> </a:t>
            </a:r>
            <a:r>
              <a:rPr lang="en-IN" sz="2500" dirty="0" err="1" smtClean="0">
                <a:sym typeface="Wingdings" panose="05000000000000000000" pitchFamily="2" charset="2"/>
              </a:rPr>
              <a:t>Ename</a:t>
            </a:r>
            <a:r>
              <a:rPr lang="en-IN" sz="2500" dirty="0" smtClean="0"/>
              <a:t> is partial </a:t>
            </a:r>
          </a:p>
          <a:p>
            <a:pPr algn="just"/>
            <a:r>
              <a:rPr lang="en-IN" sz="2500" dirty="0" smtClean="0"/>
              <a:t>because </a:t>
            </a:r>
            <a:r>
              <a:rPr lang="en-IN" sz="2500" dirty="0" err="1" smtClean="0"/>
              <a:t>Ssn</a:t>
            </a:r>
            <a:r>
              <a:rPr lang="en-IN" sz="2500" dirty="0" smtClean="0">
                <a:sym typeface="Wingdings" panose="05000000000000000000" pitchFamily="2" charset="2"/>
              </a:rPr>
              <a:t></a:t>
            </a:r>
            <a:r>
              <a:rPr lang="en-IN" sz="2500" dirty="0" smtClean="0"/>
              <a:t> </a:t>
            </a:r>
            <a:r>
              <a:rPr lang="en-IN" sz="2500" dirty="0" err="1" smtClean="0"/>
              <a:t>Ename</a:t>
            </a:r>
            <a:r>
              <a:rPr lang="en-IN" sz="2500" dirty="0" smtClean="0"/>
              <a:t> </a:t>
            </a:r>
            <a:r>
              <a:rPr lang="en-IN" sz="2500" dirty="0"/>
              <a:t>holds.</a:t>
            </a:r>
          </a:p>
        </p:txBody>
      </p:sp>
    </p:spTree>
    <p:extLst>
      <p:ext uri="{BB962C8B-B14F-4D97-AF65-F5344CB8AC3E}">
        <p14:creationId xmlns:p14="http://schemas.microsoft.com/office/powerpoint/2010/main" val="139521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9972" t="28314" r="26787" b="30209"/>
          <a:stretch/>
        </p:blipFill>
        <p:spPr>
          <a:xfrm>
            <a:off x="939863" y="1170612"/>
            <a:ext cx="10312274" cy="451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6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 smtClean="0"/>
              <a:t>Third Normal Form(3NF)</a:t>
            </a:r>
            <a:endParaRPr lang="en-IN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Third normal form (3NF) is based on the concept of transitive dependency. </a:t>
            </a:r>
            <a:r>
              <a:rPr lang="en-IN" sz="2400" dirty="0" smtClean="0"/>
              <a:t>A functional </a:t>
            </a:r>
            <a:r>
              <a:rPr lang="en-IN" sz="2400" dirty="0"/>
              <a:t>dependency X→Y in a relation schema R is a transitive dependency </a:t>
            </a:r>
            <a:r>
              <a:rPr lang="en-IN" sz="2400" dirty="0" smtClean="0"/>
              <a:t>if there </a:t>
            </a:r>
            <a:r>
              <a:rPr lang="en-IN" sz="2400" dirty="0"/>
              <a:t>exists a set of attributes Z in R that is neither a candidate key nor a subset </a:t>
            </a:r>
            <a:r>
              <a:rPr lang="en-IN" sz="2400" dirty="0" smtClean="0"/>
              <a:t>of any </a:t>
            </a:r>
            <a:r>
              <a:rPr lang="en-IN" sz="2400" dirty="0"/>
              <a:t>key of </a:t>
            </a:r>
            <a:r>
              <a:rPr lang="en-IN" sz="2400" dirty="0" smtClean="0"/>
              <a:t>R </a:t>
            </a:r>
            <a:r>
              <a:rPr lang="en-IN" sz="2400" dirty="0"/>
              <a:t>and both X→Z and Z→Y hold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/>
              <a:t>According to </a:t>
            </a:r>
            <a:r>
              <a:rPr lang="en-IN" sz="2400" dirty="0" err="1"/>
              <a:t>Codd’s</a:t>
            </a:r>
            <a:r>
              <a:rPr lang="en-IN" sz="2400" dirty="0"/>
              <a:t> original definition, a relation schema </a:t>
            </a:r>
            <a:r>
              <a:rPr lang="en-IN" sz="2400" i="1" dirty="0"/>
              <a:t>R </a:t>
            </a:r>
            <a:r>
              <a:rPr lang="en-IN" sz="2400" dirty="0"/>
              <a:t>is </a:t>
            </a:r>
            <a:r>
              <a:rPr lang="en-IN" sz="2400" dirty="0" smtClean="0"/>
              <a:t>in </a:t>
            </a:r>
            <a:r>
              <a:rPr lang="en-IN" sz="2400" b="1" dirty="0" smtClean="0"/>
              <a:t>3NF </a:t>
            </a:r>
            <a:r>
              <a:rPr lang="en-IN" sz="2400" dirty="0"/>
              <a:t>if it satisfies 2NF </a:t>
            </a:r>
            <a:r>
              <a:rPr lang="en-IN" sz="2400" i="1" dirty="0"/>
              <a:t>and </a:t>
            </a:r>
            <a:r>
              <a:rPr lang="en-IN" sz="2400" dirty="0"/>
              <a:t>no nonprime attribute of </a:t>
            </a:r>
            <a:r>
              <a:rPr lang="en-IN" sz="2400" i="1" dirty="0"/>
              <a:t>R </a:t>
            </a:r>
            <a:r>
              <a:rPr lang="en-IN" sz="2400" dirty="0"/>
              <a:t>is transitively </a:t>
            </a:r>
            <a:r>
              <a:rPr lang="en-IN" sz="2400" dirty="0" smtClean="0"/>
              <a:t>dependent on </a:t>
            </a:r>
            <a:r>
              <a:rPr lang="en-IN" sz="2400" dirty="0"/>
              <a:t>the primary key.</a:t>
            </a:r>
          </a:p>
        </p:txBody>
      </p:sp>
    </p:spTree>
    <p:extLst>
      <p:ext uri="{BB962C8B-B14F-4D97-AF65-F5344CB8AC3E}">
        <p14:creationId xmlns:p14="http://schemas.microsoft.com/office/powerpoint/2010/main" val="342671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6" y="1124240"/>
            <a:ext cx="11946868" cy="460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5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0078" t="27935" r="26893" b="39299"/>
          <a:stretch/>
        </p:blipFill>
        <p:spPr>
          <a:xfrm>
            <a:off x="372957" y="1440873"/>
            <a:ext cx="11446087" cy="397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9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1773" t="32292" r="26681" b="22253"/>
          <a:stretch/>
        </p:blipFill>
        <p:spPr>
          <a:xfrm>
            <a:off x="210185" y="985063"/>
            <a:ext cx="11771631" cy="488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Boyce-</a:t>
            </a:r>
            <a:r>
              <a:rPr lang="en-IN" sz="4800" b="1" u="sng" dirty="0" err="1"/>
              <a:t>Codd</a:t>
            </a:r>
            <a:r>
              <a:rPr lang="en-IN" sz="4800" b="1" u="sng" dirty="0"/>
              <a:t> normal form (BCNF)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 smtClean="0"/>
              <a:t>BCNF </a:t>
            </a:r>
            <a:r>
              <a:rPr lang="en-IN" sz="2400" dirty="0"/>
              <a:t>was proposed as a simpler form of 3NF, but </a:t>
            </a:r>
            <a:r>
              <a:rPr lang="en-IN" sz="2400" dirty="0" smtClean="0"/>
              <a:t>it was </a:t>
            </a:r>
            <a:r>
              <a:rPr lang="en-IN" sz="2400" dirty="0"/>
              <a:t>found to be stricter than 3NF. That is, every relation in BCNF is also in </a:t>
            </a:r>
            <a:r>
              <a:rPr lang="en-IN" sz="2400" dirty="0" smtClean="0"/>
              <a:t>3NF;however</a:t>
            </a:r>
            <a:r>
              <a:rPr lang="en-IN" sz="2400" dirty="0"/>
              <a:t>, a relation in 3NF is not necessarily in BCNF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/>
              <a:t>A relation schema R is in BCNF if whenever a nontrivial </a:t>
            </a:r>
            <a:r>
              <a:rPr lang="en-IN" sz="2400" dirty="0" smtClean="0"/>
              <a:t>functional dependency X </a:t>
            </a:r>
            <a:r>
              <a:rPr lang="en-IN" sz="2400" dirty="0" smtClean="0">
                <a:sym typeface="Wingdings" panose="05000000000000000000" pitchFamily="2" charset="2"/>
              </a:rPr>
              <a:t></a:t>
            </a:r>
            <a:r>
              <a:rPr lang="en-IN" sz="2400" dirty="0" smtClean="0"/>
              <a:t>A </a:t>
            </a:r>
            <a:r>
              <a:rPr lang="en-IN" sz="2400" dirty="0"/>
              <a:t>holds in R, then X is a </a:t>
            </a:r>
            <a:r>
              <a:rPr lang="en-IN" sz="2400" dirty="0" smtClean="0"/>
              <a:t>super key </a:t>
            </a:r>
            <a:r>
              <a:rPr lang="en-IN" sz="2400" dirty="0"/>
              <a:t>of R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/>
              <a:t>For BCNF, the table should be in 3NF, and for every FD, LHS is super key.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4745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2708" t="17899" r="38513" b="45035"/>
          <a:stretch/>
        </p:blipFill>
        <p:spPr>
          <a:xfrm>
            <a:off x="2060862" y="443346"/>
            <a:ext cx="7973292" cy="3406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2980" t="63058" r="22315" b="10133"/>
          <a:stretch/>
        </p:blipFill>
        <p:spPr>
          <a:xfrm>
            <a:off x="997527" y="4003964"/>
            <a:ext cx="10321637" cy="240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6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2944" t="30777" r="30408" b="49074"/>
          <a:stretch/>
        </p:blipFill>
        <p:spPr>
          <a:xfrm>
            <a:off x="1316181" y="554183"/>
            <a:ext cx="9803167" cy="19604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6897" t="60031" r="41740" b="11837"/>
          <a:stretch/>
        </p:blipFill>
        <p:spPr>
          <a:xfrm>
            <a:off x="1841648" y="2887806"/>
            <a:ext cx="8752232" cy="334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5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8269" t="41763" r="53657" b="26600"/>
          <a:stretch/>
        </p:blipFill>
        <p:spPr>
          <a:xfrm>
            <a:off x="2121242" y="290945"/>
            <a:ext cx="8020286" cy="50815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8976" t="73401" r="44945" b="19736"/>
          <a:stretch/>
        </p:blipFill>
        <p:spPr>
          <a:xfrm>
            <a:off x="824491" y="5261968"/>
            <a:ext cx="10841037" cy="115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0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u="sng" dirty="0"/>
              <a:t>Fourth normal form (4NF)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400" dirty="0" smtClean="0"/>
              <a:t>For </a:t>
            </a:r>
            <a:r>
              <a:rPr lang="en-IN" sz="2400" dirty="0"/>
              <a:t>a dependency A → B, if for a single value of A, multiple values of B exists, then the relation will be a multi-valued dependency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/>
              <a:t>A relation will be in 4NF if it is in Boyce </a:t>
            </a:r>
            <a:r>
              <a:rPr lang="en-IN" sz="2400" dirty="0" err="1"/>
              <a:t>Codd</a:t>
            </a:r>
            <a:r>
              <a:rPr lang="en-IN" sz="2400" dirty="0"/>
              <a:t> normal form and has no multi-valued dependency.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45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u="sng" dirty="0"/>
              <a:t>Fifth normal form (5NF)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400" dirty="0"/>
              <a:t>A relation is in 5NF if it is in 4NF and not contains any join dependency and joining should be lossless.</a:t>
            </a:r>
          </a:p>
          <a:p>
            <a:pPr algn="just"/>
            <a:r>
              <a:rPr lang="en-IN" sz="2400" dirty="0"/>
              <a:t>5NF is satisfied when all the tables are broken into as many tables as possible in order to avoid redundancy.</a:t>
            </a:r>
          </a:p>
          <a:p>
            <a:pPr algn="just"/>
            <a:r>
              <a:rPr lang="en-IN" sz="2400" dirty="0"/>
              <a:t>5NF is also known as Project-join normal form (PJ/NF).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85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25889"/>
              </p:ext>
            </p:extLst>
          </p:nvPr>
        </p:nvGraphicFramePr>
        <p:xfrm>
          <a:off x="290944" y="941338"/>
          <a:ext cx="11457710" cy="12837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45771">
                  <a:extLst>
                    <a:ext uri="{9D8B030D-6E8A-4147-A177-3AD203B41FA5}">
                      <a16:colId xmlns:a16="http://schemas.microsoft.com/office/drawing/2014/main" val="4151470642"/>
                    </a:ext>
                  </a:extLst>
                </a:gridCol>
                <a:gridCol w="1145771">
                  <a:extLst>
                    <a:ext uri="{9D8B030D-6E8A-4147-A177-3AD203B41FA5}">
                      <a16:colId xmlns:a16="http://schemas.microsoft.com/office/drawing/2014/main" val="4240522398"/>
                    </a:ext>
                  </a:extLst>
                </a:gridCol>
                <a:gridCol w="1145771">
                  <a:extLst>
                    <a:ext uri="{9D8B030D-6E8A-4147-A177-3AD203B41FA5}">
                      <a16:colId xmlns:a16="http://schemas.microsoft.com/office/drawing/2014/main" val="4287173625"/>
                    </a:ext>
                  </a:extLst>
                </a:gridCol>
                <a:gridCol w="1145771">
                  <a:extLst>
                    <a:ext uri="{9D8B030D-6E8A-4147-A177-3AD203B41FA5}">
                      <a16:colId xmlns:a16="http://schemas.microsoft.com/office/drawing/2014/main" val="3139114511"/>
                    </a:ext>
                  </a:extLst>
                </a:gridCol>
                <a:gridCol w="1145771">
                  <a:extLst>
                    <a:ext uri="{9D8B030D-6E8A-4147-A177-3AD203B41FA5}">
                      <a16:colId xmlns:a16="http://schemas.microsoft.com/office/drawing/2014/main" val="1053887038"/>
                    </a:ext>
                  </a:extLst>
                </a:gridCol>
                <a:gridCol w="1639860">
                  <a:extLst>
                    <a:ext uri="{9D8B030D-6E8A-4147-A177-3AD203B41FA5}">
                      <a16:colId xmlns:a16="http://schemas.microsoft.com/office/drawing/2014/main" val="1569325358"/>
                    </a:ext>
                  </a:extLst>
                </a:gridCol>
                <a:gridCol w="1235217">
                  <a:extLst>
                    <a:ext uri="{9D8B030D-6E8A-4147-A177-3AD203B41FA5}">
                      <a16:colId xmlns:a16="http://schemas.microsoft.com/office/drawing/2014/main" val="3872626201"/>
                    </a:ext>
                  </a:extLst>
                </a:gridCol>
                <a:gridCol w="927997">
                  <a:extLst>
                    <a:ext uri="{9D8B030D-6E8A-4147-A177-3AD203B41FA5}">
                      <a16:colId xmlns:a16="http://schemas.microsoft.com/office/drawing/2014/main" val="2147657216"/>
                    </a:ext>
                  </a:extLst>
                </a:gridCol>
                <a:gridCol w="1011382">
                  <a:extLst>
                    <a:ext uri="{9D8B030D-6E8A-4147-A177-3AD203B41FA5}">
                      <a16:colId xmlns:a16="http://schemas.microsoft.com/office/drawing/2014/main" val="1670072845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744095131"/>
                    </a:ext>
                  </a:extLst>
                </a:gridCol>
              </a:tblGrid>
              <a:tr h="887461">
                <a:tc>
                  <a:txBody>
                    <a:bodyPr/>
                    <a:lstStyle/>
                    <a:p>
                      <a:r>
                        <a:rPr lang="en-IN" sz="2000" u="sng" dirty="0" smtClean="0"/>
                        <a:t>Student ID</a:t>
                      </a:r>
                      <a:endParaRPr lang="en-IN" sz="20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Student Name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Course</a:t>
                      </a:r>
                      <a:r>
                        <a:rPr lang="en-IN" sz="2000" baseline="0" dirty="0" smtClean="0"/>
                        <a:t> </a:t>
                      </a:r>
                      <a:r>
                        <a:rPr lang="en-IN" sz="2000" dirty="0" smtClean="0"/>
                        <a:t>ID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Course Name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err="1" smtClean="0"/>
                        <a:t>Proj_ID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err="1" smtClean="0"/>
                        <a:t>Proj_Name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Address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City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Zip Code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u="none" dirty="0" smtClean="0"/>
                        <a:t>Phone No</a:t>
                      </a:r>
                      <a:endParaRPr lang="en-IN" sz="20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82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482019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012875" y="2602857"/>
            <a:ext cx="97286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Primary Key : </a:t>
            </a:r>
            <a:r>
              <a:rPr lang="en-IN" sz="2800"/>
              <a:t>Student </a:t>
            </a:r>
            <a:r>
              <a:rPr lang="en-IN" sz="2800" smtClean="0"/>
              <a:t>ID</a:t>
            </a:r>
            <a:endParaRPr lang="en-IN" sz="28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1308296" y="3703773"/>
            <a:ext cx="101990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FD1   </a:t>
            </a:r>
            <a:r>
              <a:rPr lang="en-IN" sz="2400" dirty="0" err="1"/>
              <a:t>Student_ID</a:t>
            </a:r>
            <a:r>
              <a:rPr lang="en-IN" sz="2400" dirty="0"/>
              <a:t> </a:t>
            </a:r>
            <a:r>
              <a:rPr lang="en-IN" sz="2400" dirty="0" smtClean="0">
                <a:sym typeface="Wingdings" panose="05000000000000000000" pitchFamily="2" charset="2"/>
              </a:rPr>
              <a:t></a:t>
            </a:r>
            <a:r>
              <a:rPr lang="en-IN" sz="2400" dirty="0" smtClean="0"/>
              <a:t> </a:t>
            </a:r>
            <a:r>
              <a:rPr lang="en-IN" sz="2400" dirty="0" err="1"/>
              <a:t>Student_Name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/>
              <a:t>FD2   </a:t>
            </a:r>
            <a:r>
              <a:rPr lang="en-IN" sz="2400" dirty="0" err="1"/>
              <a:t>Project_ID</a:t>
            </a:r>
            <a:r>
              <a:rPr lang="en-IN" sz="2400" dirty="0"/>
              <a:t> </a:t>
            </a:r>
            <a:r>
              <a:rPr lang="en-IN" sz="2400" dirty="0" smtClean="0">
                <a:sym typeface="Wingdings" panose="05000000000000000000" pitchFamily="2" charset="2"/>
              </a:rPr>
              <a:t></a:t>
            </a:r>
            <a:r>
              <a:rPr lang="en-IN" sz="2400" dirty="0" smtClean="0"/>
              <a:t> </a:t>
            </a:r>
            <a:r>
              <a:rPr lang="en-IN" sz="2400" dirty="0" err="1"/>
              <a:t>Project_Name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/>
              <a:t>FD3   </a:t>
            </a:r>
            <a:r>
              <a:rPr lang="en-IN" sz="2400" dirty="0" err="1"/>
              <a:t>Course_ID</a:t>
            </a:r>
            <a:r>
              <a:rPr lang="en-IN" sz="2400" dirty="0"/>
              <a:t> </a:t>
            </a:r>
            <a:r>
              <a:rPr lang="en-IN" sz="2400" dirty="0" smtClean="0">
                <a:sym typeface="Wingdings" panose="05000000000000000000" pitchFamily="2" charset="2"/>
              </a:rPr>
              <a:t></a:t>
            </a:r>
            <a:r>
              <a:rPr lang="en-IN" sz="2400" dirty="0" smtClean="0"/>
              <a:t> </a:t>
            </a:r>
            <a:r>
              <a:rPr lang="en-IN" sz="2400" dirty="0" err="1"/>
              <a:t>Course_Name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/>
              <a:t>FD4   </a:t>
            </a:r>
            <a:r>
              <a:rPr lang="en-IN" sz="2400" dirty="0" err="1"/>
              <a:t>Student_ID</a:t>
            </a:r>
            <a:r>
              <a:rPr lang="en-IN" sz="2400" dirty="0"/>
              <a:t> </a:t>
            </a:r>
            <a:r>
              <a:rPr lang="en-IN" sz="2400" dirty="0" smtClean="0">
                <a:sym typeface="Wingdings" panose="05000000000000000000" pitchFamily="2" charset="2"/>
              </a:rPr>
              <a:t></a:t>
            </a:r>
            <a:r>
              <a:rPr lang="en-IN" sz="2400" dirty="0" smtClean="0"/>
              <a:t> </a:t>
            </a:r>
            <a:r>
              <a:rPr lang="en-IN" sz="2400" dirty="0" err="1"/>
              <a:t>Project_Name,Course_Name</a:t>
            </a:r>
            <a:endParaRPr lang="en-IN" sz="2400" dirty="0"/>
          </a:p>
          <a:p>
            <a:pPr algn="just"/>
            <a:r>
              <a:rPr lang="en-IN" sz="2400" dirty="0"/>
              <a:t>FD5   </a:t>
            </a:r>
            <a:r>
              <a:rPr lang="en-IN" sz="2400" dirty="0" err="1" smtClean="0"/>
              <a:t>Student_ID</a:t>
            </a:r>
            <a:r>
              <a:rPr lang="en-IN" sz="2400" dirty="0" smtClean="0">
                <a:sym typeface="Wingdings" panose="05000000000000000000" pitchFamily="2" charset="2"/>
              </a:rPr>
              <a:t></a:t>
            </a:r>
            <a:r>
              <a:rPr lang="en-IN" sz="2400" dirty="0" smtClean="0"/>
              <a:t> </a:t>
            </a:r>
            <a:r>
              <a:rPr lang="en-IN" sz="2400" dirty="0"/>
              <a:t>Address  where Address </a:t>
            </a:r>
            <a:r>
              <a:rPr lang="en-IN" sz="2400" dirty="0" smtClean="0">
                <a:sym typeface="Wingdings" panose="05000000000000000000" pitchFamily="2" charset="2"/>
              </a:rPr>
              <a:t> </a:t>
            </a:r>
            <a:r>
              <a:rPr lang="en-IN" sz="2400" dirty="0" smtClean="0"/>
              <a:t>City </a:t>
            </a:r>
            <a:r>
              <a:rPr lang="en-IN" sz="2400" dirty="0"/>
              <a:t>and City </a:t>
            </a:r>
            <a:r>
              <a:rPr lang="en-IN" sz="2400" dirty="0" smtClean="0">
                <a:sym typeface="Wingdings" panose="05000000000000000000" pitchFamily="2" charset="2"/>
              </a:rPr>
              <a:t></a:t>
            </a:r>
            <a:r>
              <a:rPr lang="en-IN" sz="2400" dirty="0" smtClean="0"/>
              <a:t> </a:t>
            </a:r>
            <a:r>
              <a:rPr lang="en-IN" sz="2400" dirty="0"/>
              <a:t>Zip Code</a:t>
            </a:r>
          </a:p>
        </p:txBody>
      </p:sp>
    </p:spTree>
    <p:extLst>
      <p:ext uri="{BB962C8B-B14F-4D97-AF65-F5344CB8AC3E}">
        <p14:creationId xmlns:p14="http://schemas.microsoft.com/office/powerpoint/2010/main" val="278749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E8B826"/>
      </a:accent1>
      <a:accent2>
        <a:srgbClr val="E2CA72"/>
      </a:accent2>
      <a:accent3>
        <a:srgbClr val="BD723B"/>
      </a:accent3>
      <a:accent4>
        <a:srgbClr val="AE9376"/>
      </a:accent4>
      <a:accent5>
        <a:srgbClr val="A77F41"/>
      </a:accent5>
      <a:accent6>
        <a:srgbClr val="A1AE79"/>
      </a:accent6>
      <a:hlink>
        <a:srgbClr val="F1D06A"/>
      </a:hlink>
      <a:folHlink>
        <a:srgbClr val="EDDCA8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D5CBAF11-69B7-47EA-BC01-41F77058C2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9" ma:contentTypeDescription="Create a new document." ma:contentTypeScope="" ma:versionID="695fcc8670f16edd2d6e06ac62cfa7aa">
  <xsd:schema xmlns:xsd="http://www.w3.org/2001/XMLSchema" xmlns:xs="http://www.w3.org/2001/XMLSchema" xmlns:p="http://schemas.microsoft.com/office/2006/metadata/properties" xmlns:ns2="a8a1418d-81b5-43f6-8c3e-510d562b22b4" targetNamespace="http://schemas.microsoft.com/office/2006/metadata/properties" ma:root="true" ma:fieldsID="0b8bb81026c94debfa35635f867341d7" ns2:_="">
    <xsd:import namespace="a8a1418d-81b5-43f6-8c3e-510d562b2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1418d-81b5-43f6-8c3e-510d562b2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7908CC-8F10-49B0-A9A7-EB72790F322D}"/>
</file>

<file path=customXml/itemProps2.xml><?xml version="1.0" encoding="utf-8"?>
<ds:datastoreItem xmlns:ds="http://schemas.openxmlformats.org/officeDocument/2006/customXml" ds:itemID="{1A390C46-4AE9-4A87-9447-24455016E12A}"/>
</file>

<file path=customXml/itemProps3.xml><?xml version="1.0" encoding="utf-8"?>
<ds:datastoreItem xmlns:ds="http://schemas.openxmlformats.org/officeDocument/2006/customXml" ds:itemID="{5EFB4E8E-E74B-49A9-9D9B-325842629FD8}"/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2774</TotalTime>
  <Words>1780</Words>
  <Application>Microsoft Office PowerPoint</Application>
  <PresentationFormat>Widescreen</PresentationFormat>
  <Paragraphs>117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Calibri</vt:lpstr>
      <vt:lpstr>Calisto MT</vt:lpstr>
      <vt:lpstr>Trebuchet MS</vt:lpstr>
      <vt:lpstr>Wingdings</vt:lpstr>
      <vt:lpstr>Wingdings 2</vt:lpstr>
      <vt:lpstr>Slate</vt:lpstr>
      <vt:lpstr>Functional Dependencies and Normalization</vt:lpstr>
      <vt:lpstr>Introduction</vt:lpstr>
      <vt:lpstr>Informal Design Guidelines for Relation Schemas</vt:lpstr>
      <vt:lpstr>Imparting Clear Semantics to Attributes in Relations</vt:lpstr>
      <vt:lpstr>PowerPoint Presentation</vt:lpstr>
      <vt:lpstr>Redundant Information in Tuples and Update Anomalies</vt:lpstr>
      <vt:lpstr>Guideline 2</vt:lpstr>
      <vt:lpstr>NULL Values in Tuples</vt:lpstr>
      <vt:lpstr>Generation of Spurious Tuples</vt:lpstr>
      <vt:lpstr>Summarization</vt:lpstr>
      <vt:lpstr>Functional Dependencies</vt:lpstr>
      <vt:lpstr>PowerPoint Presentation</vt:lpstr>
      <vt:lpstr>PowerPoint Presentation</vt:lpstr>
      <vt:lpstr>PowerPoint Presentation</vt:lpstr>
      <vt:lpstr>Normalization of Relations</vt:lpstr>
      <vt:lpstr>Normalization of data</vt:lpstr>
      <vt:lpstr>PowerPoint Presentation</vt:lpstr>
      <vt:lpstr>First Normal Form (1NF)</vt:lpstr>
      <vt:lpstr>PowerPoint Presentation</vt:lpstr>
      <vt:lpstr>Second Normal Form(2NF)</vt:lpstr>
      <vt:lpstr>PowerPoint Presentation</vt:lpstr>
      <vt:lpstr>PowerPoint Presentation</vt:lpstr>
      <vt:lpstr>Third Normal Form(3NF)</vt:lpstr>
      <vt:lpstr>PowerPoint Presentation</vt:lpstr>
      <vt:lpstr>PowerPoint Presentation</vt:lpstr>
      <vt:lpstr>PowerPoint Presentation</vt:lpstr>
      <vt:lpstr>Boyce-Codd normal form (BCNF)</vt:lpstr>
      <vt:lpstr>PowerPoint Presentation</vt:lpstr>
      <vt:lpstr>PowerPoint Presentation</vt:lpstr>
      <vt:lpstr>PowerPoint Presentation</vt:lpstr>
      <vt:lpstr>Fourth normal form (4NF)</vt:lpstr>
      <vt:lpstr>Fifth normal form (5NF)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 KEREN</dc:creator>
  <cp:lastModifiedBy>JOY KEREN</cp:lastModifiedBy>
  <cp:revision>47</cp:revision>
  <dcterms:created xsi:type="dcterms:W3CDTF">2020-08-10T15:24:40Z</dcterms:created>
  <dcterms:modified xsi:type="dcterms:W3CDTF">2020-08-19T06:42:27Z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